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not with the theory. This is a live production failure in the single most widely deployed speech model in the world. Whisper large-v3, given 42 clips of pure room tone — no speech at all — writes actual words on 61.9 percent of them, and produces some output on every single one. That paper is four days old. The problem is current, it is expensive, and it is unsolved.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our whole proposal hangs off. In 2024 a Meta and Inria team showed that large vision transformers silently repurpose about two percent of their tokens as scratch space. Those tokens develop norms roughly ten times everything else, and they sit on the boring parts of the image — sky, walls, uniform background. The model is using low-information tokens as a place to park global information. The fix they proposed is a register: give the model a spare token to write to, and the artifacts disappear. That paper won an outstanding paper award, and it started a whole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ethos argument. This is not a fringe topic. The original paper has over a thousand citing papers. The follow-up we would build on was a NeurIPS spotlight this year. Fifteen new papers with registers in the title have appeared in computer vision since April alone. The reviewer pool exists and it is engaged. And yet, across every one of those citation graphs, the number of studies that characterise this phenomenon in a pretrained audio encoder is zero. Hot adjacent field, untouched modality.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scientific problem. There are three live explanations and they are not compatible. H-A says registers follow content: they go where the input is uninformative. H-B says they follow position: they anchor to a reliable index, like the first token, and content is irrelevant. H-C says they are not really about tokens at all — they are a fixed direction baked into the weights that regulates gradient flow. Each of these has serious papers behind it, at ICLR, ICML and NeurIPS. Nobody has been able to decide between them, and the next slide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crux. To test whether registers follow content or position, you need to vary one while holding the other fixed. In images you cannot: even a blank patch of sky has texture and gradient, so you never get a truly null region, and you certainly cannot slide it around on demand. In text it is worse — the empty token, BOS, is also always the first token. Emptiness and position are literally the same variable. That is why three explanations have coexisted for two years without resolution. It is not that nobody tried. It is that the two modalities everyone works in cannot run the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like you to remember. Whisper's encoder always takes exactly thirty seconds. Feed it a five-second clip and twenty-five seconds of the input are zero — genuinely constant, genuinely information-free — and we control both how much of it there is and where it sits. Pad at the end, pad at the start, pad split around the speech. Now the two hypotheses make opposite predictions that we can just look at. If registers follow content, they move with the pad. If they follow position, they sit at the same frame index every time. This is a clean, causal, gradable experiment, and it is the experiment that vision and language cannot run. That asymmetry is our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take the gap on faith. I pulled the full citation graphs of six anchor papers through the Semantic Scholar API — sixteen hundred and sixty-one citing papers, fully paginated, not truncated — and ran thirty-four arXiv queries crossing the register vocabulary against the audio categories. Nine papers mention both audio and the phenomenon. Every one of them is about an LLM decoder, or uses registers as a design device. Zero characterise artifacts in a pretrained audio encoder. And the individual queries are stark: high-norm in the speech categories, zero. Outlier tokens, zero. Attention artifacts,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be scrupulous with you, because a reviewer will be. There is exactly one prior measurement in audio, and I found it — not through the citation graph, which cannot see it, but through a plain web search. It is a single-author Zenodo preprint on one checkpoint, one dataset, sixty-four clips, and it reports that AST is outlier-free. If you read only the abstract you would think we had been scooped. But read the method section: they compute token norms after the terminal LayerNorm. LayerNorm rescales every token toward a common norm, so a ratio near one is what you get whether or not artifacts exist. Their own number, 1.23, is exactly what the measurement guarantees. I will cite them, reproduce them under both conventions, and say so plainly. The question is not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the timing is good. Four papers in the last three months attack Whisper's silence hallucination. Every one of them works on the decoder, or on the training data: logit shifts, projections of decoder states, synthetic fine-tuning, or just cutting the silence out with a voice activity detector before the model sees it. Not one asks what the encoder did with the silence in the first place. The closest paper in spirit is The Null Token Knows, and it neither cites Darcet nor measures a single token norm. If our hypothesis is right, the mechanism is sitting in fifteen hundred encoder frames that nobody has instrumented, and the fix needs no training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experiments, and notice the structure: every row is a place where the three accounts disagree, so whatever we observe, we learn something. E1 through E3 use the padding. E4 uses the Whisper family as a scale ladder at fixed data and fixed objective — vision has nothing like that, because DINOv2 and OpenCLIP and DeiT differ in everything at once. E5 is my favourite: one Whisper checkpoint contains a bidirectional encoder and a causal decoder trained together, so we can test the gradient-sink account, which requires causal masking, inside a single set of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biggest risk, because it is not the one you might expect. It is not being scooped. It is that the phenomenon simply is not there — the audio models people actually use may sit below the scale at which it emerges. So the very first thing we run is the experiment that could kill the project, and the decision rule is written down before we look. Green, we go. Amber, the paper gets smaller and goes to Interspeech or a workshop. Red, we stop and pivot, and I have already planned what the pivot is. The cost of finding out is two days and a handful of GPU-hours.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five things. Green light on the gated plan. Authority to execute the red pivot on the gate's evidence, without coming back to renegotiate scope — that is the clause that saves eight weeks if the phenomenon is not there. About forty A100 hours for the one optional training phase, and three hundred gigabytes of storage. A decision from you on venue, because the A-star mechanism paper and the Interspeech census are genuinely different papers and I would rather commit now. And thirty minutes a week. Everything else runs on free Kaggle GPU — this is an inference-bound project, not a training-bound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citation counts on slide four come from the Semantic Scholar Graph API with full pagination, run on the thirtieth of September 2026. The arXiv queries on slide eight are reproducible and written out in the evidence document. Every number on these slides traces to one of these papers or to that sweep — nothing is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609.32560"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309.16588"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506.08010" TargetMode="External"/><Relationship Id="rId2" Type="http://schemas.openxmlformats.org/officeDocument/2006/relationships/hyperlink" Target="https://arxiv.org/abs/2505.21501"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309.16588" TargetMode="External"/><Relationship Id="rId2" Type="http://schemas.openxmlformats.org/officeDocument/2006/relationships/hyperlink" Target="https://arxiv.org/abs/2602.22394" TargetMode="External"/><Relationship Id="rId3" Type="http://schemas.openxmlformats.org/officeDocument/2006/relationships/hyperlink" Target="https://arxiv.org/abs/2309.17453" TargetMode="External"/><Relationship Id="rId4" Type="http://schemas.openxmlformats.org/officeDocument/2006/relationships/hyperlink" Target="https://arxiv.org/abs/2410.10781" TargetMode="External"/><Relationship Id="rId5" Type="http://schemas.openxmlformats.org/officeDocument/2006/relationships/hyperlink" Target="https://arxiv.org/abs/2502.07004" TargetMode="External"/><Relationship Id="rId6" Type="http://schemas.openxmlformats.org/officeDocument/2006/relationships/hyperlink" Target="https://arxiv.org/abs/2603.17771"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212.04356"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i.org/10.5281/zenodo.20710635" TargetMode="External"/><Relationship Id="rId2" Type="http://schemas.openxmlformats.org/officeDocument/2006/relationships/hyperlink" Target="https://arxiv.org/abs/2603.25803"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arxiv.org/abs/2609.32560" TargetMode="External"/><Relationship Id="rId3" Type="http://schemas.openxmlformats.org/officeDocument/2006/relationships/hyperlink" Target="https://arxiv.org/abs/2609.04561" TargetMode="External"/><Relationship Id="rId4" Type="http://schemas.openxmlformats.org/officeDocument/2006/relationships/hyperlink" Target="https://arxiv.org/abs/2608.15940" TargetMode="External"/><Relationship Id="rId5" Type="http://schemas.openxmlformats.org/officeDocument/2006/relationships/hyperlink" Target="https://arxiv.org/abs/2607.01108" TargetMode="External"/><Relationship Id="rId1" Type="http://schemas.openxmlformats.org/officeDocument/2006/relationships/image" Target="../media/image-10-1.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309.16588" TargetMode="External"/><Relationship Id="rId2" Type="http://schemas.openxmlformats.org/officeDocument/2006/relationships/hyperlink" Target="https://arxiv.org/abs/2506.08010" TargetMode="External"/><Relationship Id="rId3" Type="http://schemas.openxmlformats.org/officeDocument/2006/relationships/hyperlink" Target="https://arxiv.org/abs/2505.21501" TargetMode="External"/><Relationship Id="rId4" Type="http://schemas.openxmlformats.org/officeDocument/2006/relationships/hyperlink" Target="https://arxiv.org/abs/2603.25803" TargetMode="External"/><Relationship Id="rId5" Type="http://schemas.openxmlformats.org/officeDocument/2006/relationships/hyperlink" Target="https://arxiv.org/abs/2602.22394" TargetMode="External"/><Relationship Id="rId6" Type="http://schemas.openxmlformats.org/officeDocument/2006/relationships/hyperlink" Target="https://arxiv.org/abs/2309.17453" TargetMode="External"/><Relationship Id="rId7" Type="http://schemas.openxmlformats.org/officeDocument/2006/relationships/hyperlink" Target="https://arxiv.org/abs/2410.10781" TargetMode="External"/><Relationship Id="rId8" Type="http://schemas.openxmlformats.org/officeDocument/2006/relationships/hyperlink" Target="https://arxiv.org/abs/2402.17762" TargetMode="External"/><Relationship Id="rId9" Type="http://schemas.openxmlformats.org/officeDocument/2006/relationships/hyperlink" Target="https://arxiv.org/abs/2502.07004" TargetMode="External"/><Relationship Id="rId10" Type="http://schemas.openxmlformats.org/officeDocument/2006/relationships/hyperlink" Target="https://arxiv.org/abs/2603.17771" TargetMode="External"/><Relationship Id="rId11" Type="http://schemas.openxmlformats.org/officeDocument/2006/relationships/hyperlink" Target="https://arxiv.org/abs/2104.01778" TargetMode="External"/><Relationship Id="rId12" Type="http://schemas.openxmlformats.org/officeDocument/2006/relationships/hyperlink" Target="https://arxiv.org/abs/2212.04356" TargetMode="External"/><Relationship Id="rId13" Type="http://schemas.openxmlformats.org/officeDocument/2006/relationships/hyperlink" Target="https://doi.org/10.5281/zenodo.20710635" TargetMode="External"/><Relationship Id="rId14" Type="http://schemas.openxmlformats.org/officeDocument/2006/relationships/hyperlink" Target="https://arxiv.org/abs/2504.01690" TargetMode="External"/><Relationship Id="rId15" Type="http://schemas.openxmlformats.org/officeDocument/2006/relationships/hyperlink" Target="https://arxiv.org/abs/2507.02666" TargetMode="External"/><Relationship Id="rId16" Type="http://schemas.openxmlformats.org/officeDocument/2006/relationships/hyperlink" Target="https://arxiv.org/abs/2510.22603" TargetMode="External"/><Relationship Id="rId17" Type="http://schemas.openxmlformats.org/officeDocument/2006/relationships/hyperlink" Target="https://arxiv.org/abs/2609.32560" TargetMode="External"/><Relationship Id="rId18" Type="http://schemas.openxmlformats.org/officeDocument/2006/relationships/hyperlink" Target="https://arxiv.org/abs/2608.15940" TargetMode="External"/><Relationship Id="rId19" Type="http://schemas.openxmlformats.org/officeDocument/2006/relationships/hyperlink" Target="https://arxiv.org/abs/2609.04561" TargetMode="External"/><Relationship Id="rId20" Type="http://schemas.openxmlformats.org/officeDocument/2006/relationships/hyperlink" Target="https://arxiv.org/abs/2406.11022" TargetMode="External"/><Relationship Id="rId21" Type="http://schemas.openxmlformats.org/officeDocument/2006/relationships/slideLayout" Target="../slideLayouts/slideLayout1.xml"/><Relationship Id="rId2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B3C0"/>
                </a:solidFill>
                <a:latin typeface="IBM Plex Sans" pitchFamily="34" charset="0"/>
                <a:ea typeface="IBM Plex Sans" pitchFamily="34" charset="-122"/>
                <a:cs typeface="IBM Plex Sans" pitchFamily="34" charset="-120"/>
              </a:rPr>
              <a:t>RESEARCH PROPOSAL · SUPERVISOR REVIEW</a:t>
            </a:r>
            <a:endParaRPr lang="en-US" sz="1200" dirty="0"/>
          </a:p>
        </p:txBody>
      </p:sp>
      <p:sp>
        <p:nvSpPr>
          <p:cNvPr id="3" name="Text 1"/>
          <p:cNvSpPr/>
          <p:nvPr/>
        </p:nvSpPr>
        <p:spPr>
          <a:xfrm>
            <a:off x="812800" y="1216660"/>
            <a:ext cx="9810750" cy="1451769"/>
          </a:xfrm>
          <a:prstGeom prst="rect">
            <a:avLst/>
          </a:prstGeom>
          <a:noFill/>
          <a:ln/>
        </p:spPr>
        <p:txBody>
          <a:bodyPr wrap="square" lIns="0" tIns="0" rIns="0" bIns="0" rtlCol="0" anchor="t">
            <a:normAutofit/>
          </a:bodyPr>
          <a:lstStyle/>
          <a:p>
            <a:pPr algn="l" indent="0" marL="0">
              <a:lnSpc>
                <a:spcPts val="5616"/>
              </a:lnSpc>
              <a:buNone/>
            </a:pPr>
            <a:r>
              <a:rPr lang="en-US" sz="5200" b="1" dirty="0">
                <a:solidFill>
                  <a:srgbClr val="FAF8F4"/>
                </a:solidFill>
                <a:latin typeface="Source Serif 4" pitchFamily="34" charset="0"/>
                <a:ea typeface="Source Serif 4" pitchFamily="34" charset="-122"/>
                <a:cs typeface="Source Serif 4" pitchFamily="34" charset="-120"/>
              </a:rPr>
              <a:t>Do Audio Transformers Need Registers?</a:t>
            </a:r>
            <a:endParaRPr lang="en-US" sz="5200" dirty="0"/>
          </a:p>
        </p:txBody>
      </p:sp>
      <p:sp>
        <p:nvSpPr>
          <p:cNvPr id="4" name="Shape 2"/>
          <p:cNvSpPr/>
          <p:nvPr/>
        </p:nvSpPr>
        <p:spPr>
          <a:xfrm>
            <a:off x="812800" y="2846229"/>
            <a:ext cx="1397000" cy="0"/>
          </a:xfrm>
          <a:prstGeom prst="line">
            <a:avLst/>
          </a:prstGeom>
          <a:noFill/>
          <a:ln w="25400">
            <a:solidFill>
              <a:srgbClr val="C2601C"/>
            </a:solidFill>
            <a:prstDash val="solid"/>
          </a:ln>
        </p:spPr>
      </p:sp>
      <p:sp>
        <p:nvSpPr>
          <p:cNvPr id="5" name="Text 3"/>
          <p:cNvSpPr/>
          <p:nvPr/>
        </p:nvSpPr>
        <p:spPr>
          <a:xfrm>
            <a:off x="812800" y="3049429"/>
            <a:ext cx="7979410" cy="964565"/>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A9C2C8"/>
                </a:solidFill>
                <a:latin typeface="IBM Plex Sans" pitchFamily="34" charset="0"/>
                <a:ea typeface="IBM Plex Sans" pitchFamily="34" charset="-122"/>
                <a:cs typeface="IBM Plex Sans" pitchFamily="34" charset="-120"/>
              </a:rPr>
              <a:t>Using pretrained audio encoders as the apparatus to decide </a:t>
            </a:r>
            <a:r>
              <a:rPr lang="en-US" sz="1700" i="1" dirty="0">
                <a:solidFill>
                  <a:srgbClr val="A9C2C8"/>
                </a:solidFill>
                <a:latin typeface="IBM Plex Sans" pitchFamily="34" charset="0"/>
                <a:ea typeface="IBM Plex Sans" pitchFamily="34" charset="-122"/>
                <a:cs typeface="IBM Plex Sans" pitchFamily="34" charset="-120"/>
              </a:rPr>
              <a:t>why</a:t>
            </a:r>
            <a:r>
              <a:rPr lang="en-US" sz="1700" dirty="0">
                <a:solidFill>
                  <a:srgbClr val="A9C2C8"/>
                </a:solidFill>
                <a:latin typeface="IBM Plex Sans" pitchFamily="34" charset="0"/>
                <a:ea typeface="IBM Plex Sans" pitchFamily="34" charset="-122"/>
                <a:cs typeface="IBM Plex Sans" pitchFamily="34" charset="-120"/>
              </a:rPr>
              <a:t> transformers grow high-norm tokens — and what that explains about Whisper's hallucination on silence.</a:t>
            </a:r>
            <a:endParaRPr lang="en-US" sz="1700" dirty="0"/>
          </a:p>
        </p:txBody>
      </p:sp>
      <p:sp>
        <p:nvSpPr>
          <p:cNvPr id="6" name="Text 4"/>
          <p:cNvSpPr/>
          <p:nvPr/>
        </p:nvSpPr>
        <p:spPr>
          <a:xfrm>
            <a:off x="812800" y="5544820"/>
            <a:ext cx="22491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A5AC"/>
                </a:solidFill>
                <a:latin typeface="IBM Plex Sans" pitchFamily="34" charset="0"/>
                <a:ea typeface="IBM Plex Sans" pitchFamily="34" charset="-122"/>
                <a:cs typeface="IBM Plex Sans" pitchFamily="34" charset="-120"/>
              </a:rPr>
              <a:t>Presenter</a:t>
            </a:r>
            <a:endParaRPr lang="en-US" sz="1200" dirty="0"/>
          </a:p>
        </p:txBody>
      </p:sp>
      <p:sp>
        <p:nvSpPr>
          <p:cNvPr id="7" name="Text 5"/>
          <p:cNvSpPr/>
          <p:nvPr/>
        </p:nvSpPr>
        <p:spPr>
          <a:xfrm>
            <a:off x="812800" y="5796280"/>
            <a:ext cx="224911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8F4"/>
                </a:solidFill>
                <a:latin typeface="IBM Plex Sans" pitchFamily="34" charset="0"/>
                <a:ea typeface="IBM Plex Sans" pitchFamily="34" charset="-122"/>
                <a:cs typeface="IBM Plex Sans" pitchFamily="34" charset="-120"/>
              </a:rPr>
              <a:t>[Your name] · [Department]</a:t>
            </a:r>
            <a:endParaRPr lang="en-US" sz="1400" dirty="0"/>
          </a:p>
        </p:txBody>
      </p:sp>
      <p:sp>
        <p:nvSpPr>
          <p:cNvPr id="8" name="Text 6"/>
          <p:cNvSpPr/>
          <p:nvPr/>
        </p:nvSpPr>
        <p:spPr>
          <a:xfrm>
            <a:off x="3453606" y="5544820"/>
            <a:ext cx="16583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A5AC"/>
                </a:solidFill>
                <a:latin typeface="IBM Plex Sans" pitchFamily="34" charset="0"/>
                <a:ea typeface="IBM Plex Sans" pitchFamily="34" charset="-122"/>
                <a:cs typeface="IBM Plex Sans" pitchFamily="34" charset="-120"/>
              </a:rPr>
              <a:t>Date</a:t>
            </a:r>
            <a:endParaRPr lang="en-US" sz="1200" dirty="0"/>
          </a:p>
        </p:txBody>
      </p:sp>
      <p:sp>
        <p:nvSpPr>
          <p:cNvPr id="9" name="Text 7"/>
          <p:cNvSpPr/>
          <p:nvPr/>
        </p:nvSpPr>
        <p:spPr>
          <a:xfrm>
            <a:off x="3453606" y="5796280"/>
            <a:ext cx="165830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8F4"/>
                </a:solidFill>
                <a:latin typeface="IBM Plex Sans" pitchFamily="34" charset="0"/>
                <a:ea typeface="IBM Plex Sans" pitchFamily="34" charset="-122"/>
                <a:cs typeface="IBM Plex Sans" pitchFamily="34" charset="-120"/>
              </a:rPr>
              <a:t>30 September 2026</a:t>
            </a:r>
            <a:endParaRPr lang="en-US" sz="1400" dirty="0"/>
          </a:p>
        </p:txBody>
      </p:sp>
      <p:sp>
        <p:nvSpPr>
          <p:cNvPr id="10" name="Text 8"/>
          <p:cNvSpPr/>
          <p:nvPr/>
        </p:nvSpPr>
        <p:spPr>
          <a:xfrm>
            <a:off x="8566785" y="5405120"/>
            <a:ext cx="2812415" cy="66548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A5AC"/>
                </a:solidFill>
                <a:latin typeface="IBM Plex Sans" pitchFamily="34" charset="0"/>
                <a:ea typeface="IBM Plex Sans" pitchFamily="34" charset="-122"/>
                <a:cs typeface="IBM Plex Sans" pitchFamily="34" charset="-120"/>
              </a:rPr>
              <a:t>Full plan: ResearchPlan_v2.md</a:t>
            </a:r>
            <a:endParaRPr lang="en-US" sz="1200" dirty="0"/>
          </a:p>
          <a:p>
            <a:pPr algn="r" indent="0" marL="0">
              <a:lnSpc>
                <a:spcPts val="1680"/>
              </a:lnSpc>
              <a:buNone/>
            </a:pPr>
            <a:r>
              <a:rPr lang="en-US" sz="1200" dirty="0">
                <a:solidFill>
                  <a:srgbClr val="8AA5AC"/>
                </a:solidFill>
                <a:latin typeface="IBM Plex Sans" pitchFamily="34" charset="0"/>
                <a:ea typeface="IBM Plex Sans" pitchFamily="34" charset="-122"/>
                <a:cs typeface="IBM Plex Sans" pitchFamily="34" charset="-120"/>
              </a:rPr>
              <a:t>Evidence: GapVerification_2026-09-30.md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B3C0"/>
                </a:solidFill>
                <a:latin typeface="IBM Plex Sans" pitchFamily="34" charset="0"/>
                <a:ea typeface="IBM Plex Sans" pitchFamily="34" charset="-122"/>
                <a:cs typeface="IBM Plex Sans" pitchFamily="34" charset="-120"/>
              </a:rPr>
              <a:t>THE PROBLEM IN PRODUCTION</a:t>
            </a:r>
            <a:endParaRPr lang="en-US" sz="1200" dirty="0"/>
          </a:p>
        </p:txBody>
      </p:sp>
      <p:sp>
        <p:nvSpPr>
          <p:cNvPr id="3" name="Text 1"/>
          <p:cNvSpPr/>
          <p:nvPr/>
        </p:nvSpPr>
        <p:spPr>
          <a:xfrm>
            <a:off x="812800" y="1127760"/>
            <a:ext cx="10883392" cy="537448"/>
          </a:xfrm>
          <a:prstGeom prst="rect">
            <a:avLst/>
          </a:prstGeom>
          <a:noFill/>
          <a:ln/>
        </p:spPr>
        <p:txBody>
          <a:bodyPr wrap="square" lIns="0" tIns="0" rIns="0" bIns="0" rtlCol="0" anchor="t">
            <a:normAutofit/>
          </a:bodyPr>
          <a:lstStyle/>
          <a:p>
            <a:pPr algn="l" indent="0" marL="0">
              <a:lnSpc>
                <a:spcPts val="4032"/>
              </a:lnSpc>
              <a:buNone/>
            </a:pPr>
            <a:r>
              <a:rPr lang="en-US" sz="3600" b="1" dirty="0">
                <a:solidFill>
                  <a:srgbClr val="FAF8F4"/>
                </a:solidFill>
                <a:latin typeface="Source Serif 4" pitchFamily="34" charset="0"/>
                <a:ea typeface="Source Serif 4" pitchFamily="34" charset="-122"/>
                <a:cs typeface="Source Serif 4" pitchFamily="34" charset="-120"/>
              </a:rPr>
              <a:t>Whisper writes sentences nobody said</a:t>
            </a:r>
            <a:endParaRPr lang="en-US" sz="3600" dirty="0"/>
          </a:p>
        </p:txBody>
      </p:sp>
      <p:sp>
        <p:nvSpPr>
          <p:cNvPr id="4" name="Text 2"/>
          <p:cNvSpPr/>
          <p:nvPr/>
        </p:nvSpPr>
        <p:spPr>
          <a:xfrm>
            <a:off x="812800" y="2465150"/>
            <a:ext cx="8502650" cy="402590"/>
          </a:xfrm>
          <a:prstGeom prst="rect">
            <a:avLst/>
          </a:prstGeom>
          <a:noFill/>
          <a:ln/>
        </p:spPr>
        <p:txBody>
          <a:bodyPr wrap="square" lIns="0" tIns="0" rIns="0" bIns="0" rtlCol="0" anchor="t">
            <a:normAutofit/>
          </a:bodyPr>
          <a:lstStyle/>
          <a:p>
            <a:pPr algn="l" indent="0" marL="0">
              <a:lnSpc>
                <a:spcPts val="2970"/>
              </a:lnSpc>
              <a:buNone/>
            </a:pPr>
            <a:r>
              <a:rPr lang="en-US" sz="2200" i="1" dirty="0">
                <a:solidFill>
                  <a:srgbClr val="A9C2C8"/>
                </a:solidFill>
                <a:latin typeface="Source Serif 4" pitchFamily="34" charset="0"/>
                <a:ea typeface="Source Serif 4" pitchFamily="34" charset="-122"/>
                <a:cs typeface="Source Serif 4" pitchFamily="34" charset="-120"/>
              </a:rPr>
              <a:t>“But it writes sentences nobody said.”</a:t>
            </a:r>
            <a:endParaRPr lang="en-US" sz="2200" dirty="0"/>
          </a:p>
        </p:txBody>
      </p:sp>
      <p:sp>
        <p:nvSpPr>
          <p:cNvPr id="5" name="Text 3"/>
          <p:cNvSpPr/>
          <p:nvPr/>
        </p:nvSpPr>
        <p:spPr>
          <a:xfrm>
            <a:off x="812800" y="294394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A5AC"/>
                </a:solidFill>
                <a:latin typeface="IBM Plex Sans" pitchFamily="34" charset="0"/>
                <a:ea typeface="IBM Plex Sans" pitchFamily="34" charset="-122"/>
                <a:cs typeface="IBM Plex Sans" pitchFamily="34" charset="-120"/>
              </a:rPr>
              <a:t>— opening line of </a:t>
            </a:r>
            <a:r>
              <a:rPr lang="en-US" sz="1300" i="1" dirty="0">
                <a:solidFill>
                  <a:srgbClr val="8AA5AC"/>
                </a:solidFill>
                <a:latin typeface="IBM Plex Sans" pitchFamily="34" charset="0"/>
                <a:ea typeface="IBM Plex Sans" pitchFamily="34" charset="-122"/>
                <a:cs typeface="IBM Plex Sans" pitchFamily="34" charset="-120"/>
              </a:rPr>
              <a:t>How to Reduce Whisper Hallucination</a:t>
            </a:r>
            <a:r>
              <a:rPr lang="en-US" sz="1300" dirty="0">
                <a:solidFill>
                  <a:srgbClr val="8AA5AC"/>
                </a:solidFill>
                <a:latin typeface="IBM Plex Sans" pitchFamily="34" charset="0"/>
                <a:ea typeface="IBM Plex Sans" pitchFamily="34" charset="-122"/>
                <a:cs typeface="IBM Plex Sans" pitchFamily="34" charset="-120"/>
              </a:rPr>
              <a:t>, 26 September 2026</a:t>
            </a:r>
            <a:endParaRPr lang="en-US" sz="1300" dirty="0"/>
          </a:p>
        </p:txBody>
      </p:sp>
      <p:sp>
        <p:nvSpPr>
          <p:cNvPr id="6" name="Shape 4"/>
          <p:cNvSpPr/>
          <p:nvPr/>
        </p:nvSpPr>
        <p:spPr>
          <a:xfrm>
            <a:off x="815975" y="4003675"/>
            <a:ext cx="3380264" cy="1835150"/>
          </a:xfrm>
          <a:prstGeom prst="roundRect">
            <a:avLst>
              <a:gd name="adj" fmla="val 4671"/>
            </a:avLst>
          </a:prstGeom>
          <a:solidFill>
            <a:srgbClr val="1B303A"/>
          </a:solidFill>
          <a:ln w="6350">
            <a:solidFill>
              <a:srgbClr val="2C454F"/>
            </a:solidFill>
            <a:prstDash val="solid"/>
          </a:ln>
        </p:spPr>
      </p:sp>
      <p:sp>
        <p:nvSpPr>
          <p:cNvPr id="7" name="Text 5"/>
          <p:cNvSpPr/>
          <p:nvPr/>
        </p:nvSpPr>
        <p:spPr>
          <a:xfrm>
            <a:off x="1071880" y="4259580"/>
            <a:ext cx="295450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E8944A"/>
                </a:solidFill>
                <a:latin typeface="IBM Plex Sans" pitchFamily="34" charset="0"/>
                <a:ea typeface="IBM Plex Sans" pitchFamily="34" charset="-122"/>
                <a:cs typeface="IBM Plex Sans" pitchFamily="34" charset="-120"/>
              </a:rPr>
              <a:t>61.9%</a:t>
            </a:r>
            <a:endParaRPr lang="en-US" sz="6000" dirty="0"/>
          </a:p>
        </p:txBody>
      </p:sp>
      <p:sp>
        <p:nvSpPr>
          <p:cNvPr id="8" name="Text 6"/>
          <p:cNvSpPr/>
          <p:nvPr/>
        </p:nvSpPr>
        <p:spPr>
          <a:xfrm>
            <a:off x="1071880" y="5085080"/>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2C8"/>
                </a:solidFill>
                <a:latin typeface="IBM Plex Sans" pitchFamily="34" charset="0"/>
                <a:ea typeface="IBM Plex Sans" pitchFamily="34" charset="-122"/>
                <a:cs typeface="IBM Plex Sans" pitchFamily="34" charset="-120"/>
              </a:rPr>
              <a:t>of 42 pure room-tone clips, whisper-large-v3 emits words</a:t>
            </a:r>
            <a:endParaRPr lang="en-US" sz="1400" dirty="0"/>
          </a:p>
        </p:txBody>
      </p:sp>
      <p:sp>
        <p:nvSpPr>
          <p:cNvPr id="9" name="Shape 7"/>
          <p:cNvSpPr/>
          <p:nvPr/>
        </p:nvSpPr>
        <p:spPr>
          <a:xfrm>
            <a:off x="4405789" y="4003675"/>
            <a:ext cx="3380343" cy="1835150"/>
          </a:xfrm>
          <a:prstGeom prst="roundRect">
            <a:avLst>
              <a:gd name="adj" fmla="val 4671"/>
            </a:avLst>
          </a:prstGeom>
          <a:solidFill>
            <a:srgbClr val="1B303A"/>
          </a:solidFill>
          <a:ln w="6350">
            <a:solidFill>
              <a:srgbClr val="2C454F"/>
            </a:solidFill>
            <a:prstDash val="solid"/>
          </a:ln>
        </p:spPr>
      </p:sp>
      <p:sp>
        <p:nvSpPr>
          <p:cNvPr id="10" name="Text 8"/>
          <p:cNvSpPr/>
          <p:nvPr/>
        </p:nvSpPr>
        <p:spPr>
          <a:xfrm>
            <a:off x="4661694" y="4259580"/>
            <a:ext cx="295458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E8944A"/>
                </a:solidFill>
                <a:latin typeface="IBM Plex Sans" pitchFamily="34" charset="0"/>
                <a:ea typeface="IBM Plex Sans" pitchFamily="34" charset="-122"/>
                <a:cs typeface="IBM Plex Sans" pitchFamily="34" charset="-120"/>
              </a:rPr>
              <a:t>100%</a:t>
            </a:r>
            <a:endParaRPr lang="en-US" sz="6000" dirty="0"/>
          </a:p>
        </p:txBody>
      </p:sp>
      <p:sp>
        <p:nvSpPr>
          <p:cNvPr id="11" name="Text 9"/>
          <p:cNvSpPr/>
          <p:nvPr/>
        </p:nvSpPr>
        <p:spPr>
          <a:xfrm>
            <a:off x="4661694" y="5085080"/>
            <a:ext cx="295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2C8"/>
                </a:solidFill>
                <a:latin typeface="IBM Plex Sans" pitchFamily="34" charset="0"/>
                <a:ea typeface="IBM Plex Sans" pitchFamily="34" charset="-122"/>
                <a:cs typeface="IBM Plex Sans" pitchFamily="34" charset="-120"/>
              </a:rPr>
              <a:t>of those clips produce some output</a:t>
            </a:r>
            <a:endParaRPr lang="en-US" sz="1400" dirty="0"/>
          </a:p>
        </p:txBody>
      </p:sp>
      <p:sp>
        <p:nvSpPr>
          <p:cNvPr id="12" name="Shape 10"/>
          <p:cNvSpPr/>
          <p:nvPr/>
        </p:nvSpPr>
        <p:spPr>
          <a:xfrm>
            <a:off x="7995682" y="4003675"/>
            <a:ext cx="3380343" cy="1835150"/>
          </a:xfrm>
          <a:prstGeom prst="roundRect">
            <a:avLst>
              <a:gd name="adj" fmla="val 4671"/>
            </a:avLst>
          </a:prstGeom>
          <a:solidFill>
            <a:srgbClr val="1B303A"/>
          </a:solidFill>
          <a:ln w="6350">
            <a:solidFill>
              <a:srgbClr val="2C454F"/>
            </a:solidFill>
            <a:prstDash val="solid"/>
          </a:ln>
        </p:spPr>
      </p:sp>
      <p:sp>
        <p:nvSpPr>
          <p:cNvPr id="13" name="Text 11"/>
          <p:cNvSpPr/>
          <p:nvPr/>
        </p:nvSpPr>
        <p:spPr>
          <a:xfrm>
            <a:off x="8251587" y="4259580"/>
            <a:ext cx="295458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E8944A"/>
                </a:solidFill>
                <a:latin typeface="IBM Plex Sans" pitchFamily="34" charset="0"/>
                <a:ea typeface="IBM Plex Sans" pitchFamily="34" charset="-122"/>
                <a:cs typeface="IBM Plex Sans" pitchFamily="34" charset="-120"/>
              </a:rPr>
              <a:t>40,891</a:t>
            </a:r>
            <a:endParaRPr lang="en-US" sz="6000" dirty="0"/>
          </a:p>
        </p:txBody>
      </p:sp>
      <p:sp>
        <p:nvSpPr>
          <p:cNvPr id="14" name="Text 12"/>
          <p:cNvSpPr/>
          <p:nvPr/>
        </p:nvSpPr>
        <p:spPr>
          <a:xfrm>
            <a:off x="8251587" y="50850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2C8"/>
                </a:solidFill>
                <a:latin typeface="IBM Plex Sans" pitchFamily="34" charset="0"/>
                <a:ea typeface="IBM Plex Sans" pitchFamily="34" charset="-122"/>
                <a:cs typeface="IBM Plex Sans" pitchFamily="34" charset="-120"/>
              </a:rPr>
              <a:t>hallucination phrases collected, across 100 languages</a:t>
            </a:r>
            <a:endParaRPr lang="en-US" sz="1400" dirty="0"/>
          </a:p>
        </p:txBody>
      </p:sp>
      <p:sp>
        <p:nvSpPr>
          <p:cNvPr id="15" name="Text 13"/>
          <p:cNvSpPr/>
          <p:nvPr/>
        </p:nvSpPr>
        <p:spPr>
          <a:xfrm>
            <a:off x="812800" y="6238241"/>
            <a:ext cx="50578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A5AC"/>
                </a:solidFill>
                <a:latin typeface="IBM Plex Sans" pitchFamily="34" charset="0"/>
                <a:ea typeface="IBM Plex Sans" pitchFamily="34" charset="-122"/>
                <a:cs typeface="IBM Plex Sans" pitchFamily="34" charset="-120"/>
              </a:rPr>
              <a:t>Source: </a:t>
            </a:r>
            <a:r>
              <a:rPr lang="en-US" sz="1200" i="1" dirty="0">
                <a:solidFill>
                  <a:srgbClr val="8AA5AC"/>
                </a:solidFill>
                <a:latin typeface="IBM Plex Sans" pitchFamily="34" charset="0"/>
                <a:ea typeface="IBM Plex Sans" pitchFamily="34" charset="-122"/>
                <a:cs typeface="IBM Plex Sans" pitchFamily="34" charset="-120"/>
              </a:rPr>
              <a:t>How to Reduce Whisper Hallucination</a:t>
            </a:r>
            <a:r>
              <a:rPr lang="en-US" sz="1200" dirty="0">
                <a:solidFill>
                  <a:srgbClr val="8AA5AC"/>
                </a:solidFill>
                <a:latin typeface="IBM Plex Sans" pitchFamily="34" charset="0"/>
                <a:ea typeface="IBM Plex Sans" pitchFamily="34" charset="-122"/>
                <a:cs typeface="IBM Plex Sans" pitchFamily="34" charset="-120"/>
              </a:rPr>
              <a:t>, </a:t>
            </a:r>
            <a:r>
              <a:rPr lang="en-US" sz="1200" u="sng" dirty="0">
                <a:solidFill>
                  <a:srgbClr val="8AA5AC"/>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arXiv:2609.32560</a:t>
            </a:r>
            <a:r>
              <a:rPr lang="en-US" sz="1200" dirty="0">
                <a:solidFill>
                  <a:srgbClr val="8AA5AC"/>
                </a:solidFill>
                <a:latin typeface="IBM Plex Sans" pitchFamily="34" charset="0"/>
                <a:ea typeface="IBM Plex Sans" pitchFamily="34" charset="-122"/>
                <a:cs typeface="IBM Plex Sans" pitchFamily="34" charset="-120"/>
              </a:rPr>
              <a:t>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E7A"/>
                </a:solidFill>
                <a:latin typeface="IBM Plex Sans" pitchFamily="34" charset="0"/>
                <a:ea typeface="IBM Plex Sans" pitchFamily="34" charset="-122"/>
                <a:cs typeface="IBM Plex Sans" pitchFamily="34" charset="-120"/>
              </a:rPr>
              <a:t>THE PHENOMENON</a:t>
            </a:r>
            <a:endParaRPr lang="en-US" sz="1200" dirty="0"/>
          </a:p>
        </p:txBody>
      </p:sp>
      <p:sp>
        <p:nvSpPr>
          <p:cNvPr id="3" name="Text 1"/>
          <p:cNvSpPr/>
          <p:nvPr/>
        </p:nvSpPr>
        <p:spPr>
          <a:xfrm>
            <a:off x="812800" y="1127761"/>
            <a:ext cx="10883392" cy="537448"/>
          </a:xfrm>
          <a:prstGeom prst="rect">
            <a:avLst/>
          </a:prstGeom>
          <a:noFill/>
          <a:ln/>
        </p:spPr>
        <p:txBody>
          <a:bodyPr wrap="square" lIns="0" tIns="0" rIns="0" bIns="0" rtlCol="0" anchor="t">
            <a:normAutofit/>
          </a:bodyPr>
          <a:lstStyle/>
          <a:p>
            <a:pPr algn="l" indent="0" marL="0">
              <a:lnSpc>
                <a:spcPts val="4032"/>
              </a:lnSpc>
              <a:buNone/>
            </a:pPr>
            <a:r>
              <a:rPr lang="en-US" sz="3600" b="1" dirty="0">
                <a:solidFill>
                  <a:srgbClr val="12232B"/>
                </a:solidFill>
                <a:latin typeface="Source Serif 4" pitchFamily="34" charset="0"/>
                <a:ea typeface="Source Serif 4" pitchFamily="34" charset="-122"/>
                <a:cs typeface="Source Serif 4" pitchFamily="34" charset="-120"/>
              </a:rPr>
              <a:t>In vision, this pathology has a name</a:t>
            </a:r>
            <a:endParaRPr lang="en-US" sz="3600" dirty="0"/>
          </a:p>
        </p:txBody>
      </p:sp>
      <p:sp>
        <p:nvSpPr>
          <p:cNvPr id="4" name="Shape 2"/>
          <p:cNvSpPr/>
          <p:nvPr/>
        </p:nvSpPr>
        <p:spPr>
          <a:xfrm>
            <a:off x="812800" y="4767580"/>
            <a:ext cx="228600" cy="152400"/>
          </a:xfrm>
          <a:prstGeom prst="roundRect">
            <a:avLst>
              <a:gd name="adj" fmla="val 12500"/>
            </a:avLst>
          </a:prstGeom>
          <a:solidFill>
            <a:srgbClr val="0F6E7A"/>
          </a:solidFill>
          <a:ln/>
        </p:spPr>
      </p:sp>
      <p:sp>
        <p:nvSpPr>
          <p:cNvPr id="5" name="Shape 3"/>
          <p:cNvSpPr/>
          <p:nvPr/>
        </p:nvSpPr>
        <p:spPr>
          <a:xfrm>
            <a:off x="1092200" y="4526280"/>
            <a:ext cx="228600" cy="393700"/>
          </a:xfrm>
          <a:prstGeom prst="roundRect">
            <a:avLst>
              <a:gd name="adj" fmla="val 8333"/>
            </a:avLst>
          </a:prstGeom>
          <a:solidFill>
            <a:srgbClr val="0F6E7A"/>
          </a:solidFill>
          <a:ln/>
        </p:spPr>
      </p:sp>
      <p:sp>
        <p:nvSpPr>
          <p:cNvPr id="6" name="Shape 4"/>
          <p:cNvSpPr/>
          <p:nvPr/>
        </p:nvSpPr>
        <p:spPr>
          <a:xfrm>
            <a:off x="1371600" y="4094480"/>
            <a:ext cx="228600" cy="825500"/>
          </a:xfrm>
          <a:prstGeom prst="roundRect">
            <a:avLst>
              <a:gd name="adj" fmla="val 8333"/>
            </a:avLst>
          </a:prstGeom>
          <a:solidFill>
            <a:srgbClr val="0F6E7A"/>
          </a:solidFill>
          <a:ln/>
        </p:spPr>
      </p:sp>
      <p:sp>
        <p:nvSpPr>
          <p:cNvPr id="7" name="Shape 5"/>
          <p:cNvSpPr/>
          <p:nvPr/>
        </p:nvSpPr>
        <p:spPr>
          <a:xfrm>
            <a:off x="1651000" y="3586480"/>
            <a:ext cx="228600" cy="1333500"/>
          </a:xfrm>
          <a:prstGeom prst="roundRect">
            <a:avLst>
              <a:gd name="adj" fmla="val 8333"/>
            </a:avLst>
          </a:prstGeom>
          <a:solidFill>
            <a:srgbClr val="0F6E7A"/>
          </a:solidFill>
          <a:ln/>
        </p:spPr>
      </p:sp>
      <p:sp>
        <p:nvSpPr>
          <p:cNvPr id="8" name="Shape 6"/>
          <p:cNvSpPr/>
          <p:nvPr/>
        </p:nvSpPr>
        <p:spPr>
          <a:xfrm>
            <a:off x="1930400" y="3218180"/>
            <a:ext cx="228600" cy="1701800"/>
          </a:xfrm>
          <a:prstGeom prst="roundRect">
            <a:avLst>
              <a:gd name="adj" fmla="val 8333"/>
            </a:avLst>
          </a:prstGeom>
          <a:solidFill>
            <a:srgbClr val="0F6E7A"/>
          </a:solidFill>
          <a:ln/>
        </p:spPr>
      </p:sp>
      <p:sp>
        <p:nvSpPr>
          <p:cNvPr id="9" name="Shape 7"/>
          <p:cNvSpPr/>
          <p:nvPr/>
        </p:nvSpPr>
        <p:spPr>
          <a:xfrm>
            <a:off x="2209800" y="3675380"/>
            <a:ext cx="228600" cy="1244600"/>
          </a:xfrm>
          <a:prstGeom prst="roundRect">
            <a:avLst>
              <a:gd name="adj" fmla="val 8333"/>
            </a:avLst>
          </a:prstGeom>
          <a:solidFill>
            <a:srgbClr val="0F6E7A"/>
          </a:solidFill>
          <a:ln/>
        </p:spPr>
      </p:sp>
      <p:sp>
        <p:nvSpPr>
          <p:cNvPr id="10" name="Shape 8"/>
          <p:cNvSpPr/>
          <p:nvPr/>
        </p:nvSpPr>
        <p:spPr>
          <a:xfrm>
            <a:off x="2489200" y="4157980"/>
            <a:ext cx="228600" cy="762000"/>
          </a:xfrm>
          <a:prstGeom prst="roundRect">
            <a:avLst>
              <a:gd name="adj" fmla="val 8333"/>
            </a:avLst>
          </a:prstGeom>
          <a:solidFill>
            <a:srgbClr val="0F6E7A"/>
          </a:solidFill>
          <a:ln/>
        </p:spPr>
      </p:sp>
      <p:sp>
        <p:nvSpPr>
          <p:cNvPr id="11" name="Shape 9"/>
          <p:cNvSpPr/>
          <p:nvPr/>
        </p:nvSpPr>
        <p:spPr>
          <a:xfrm>
            <a:off x="2768600" y="4513580"/>
            <a:ext cx="228600" cy="406400"/>
          </a:xfrm>
          <a:prstGeom prst="roundRect">
            <a:avLst>
              <a:gd name="adj" fmla="val 8333"/>
            </a:avLst>
          </a:prstGeom>
          <a:solidFill>
            <a:srgbClr val="0F6E7A"/>
          </a:solidFill>
          <a:ln/>
        </p:spPr>
      </p:sp>
      <p:sp>
        <p:nvSpPr>
          <p:cNvPr id="12" name="Shape 10"/>
          <p:cNvSpPr/>
          <p:nvPr/>
        </p:nvSpPr>
        <p:spPr>
          <a:xfrm>
            <a:off x="3048000" y="4729480"/>
            <a:ext cx="228600" cy="190500"/>
          </a:xfrm>
          <a:prstGeom prst="roundRect">
            <a:avLst>
              <a:gd name="adj" fmla="val 10000"/>
            </a:avLst>
          </a:prstGeom>
          <a:solidFill>
            <a:srgbClr val="0F6E7A"/>
          </a:solidFill>
          <a:ln/>
        </p:spPr>
      </p:sp>
      <p:sp>
        <p:nvSpPr>
          <p:cNvPr id="13" name="Shape 11"/>
          <p:cNvSpPr/>
          <p:nvPr/>
        </p:nvSpPr>
        <p:spPr>
          <a:xfrm>
            <a:off x="3327400" y="4843780"/>
            <a:ext cx="228600" cy="76200"/>
          </a:xfrm>
          <a:prstGeom prst="roundRect">
            <a:avLst>
              <a:gd name="adj" fmla="val 25000"/>
            </a:avLst>
          </a:prstGeom>
          <a:solidFill>
            <a:srgbClr val="B9CBCD"/>
          </a:solidFill>
          <a:ln/>
        </p:spPr>
      </p:sp>
      <p:sp>
        <p:nvSpPr>
          <p:cNvPr id="14" name="Shape 12"/>
          <p:cNvSpPr/>
          <p:nvPr/>
        </p:nvSpPr>
        <p:spPr>
          <a:xfrm>
            <a:off x="3606800" y="4881880"/>
            <a:ext cx="228600" cy="38100"/>
          </a:xfrm>
          <a:prstGeom prst="roundRect">
            <a:avLst>
              <a:gd name="adj" fmla="val 50000"/>
            </a:avLst>
          </a:prstGeom>
          <a:solidFill>
            <a:srgbClr val="B9CBCD"/>
          </a:solidFill>
          <a:ln/>
        </p:spPr>
      </p:sp>
      <p:sp>
        <p:nvSpPr>
          <p:cNvPr id="15" name="Shape 13"/>
          <p:cNvSpPr/>
          <p:nvPr/>
        </p:nvSpPr>
        <p:spPr>
          <a:xfrm>
            <a:off x="3886200" y="4831080"/>
            <a:ext cx="228600" cy="88900"/>
          </a:xfrm>
          <a:prstGeom prst="roundRect">
            <a:avLst>
              <a:gd name="adj" fmla="val 21429"/>
            </a:avLst>
          </a:prstGeom>
          <a:solidFill>
            <a:srgbClr val="C2601C"/>
          </a:solidFill>
          <a:ln/>
        </p:spPr>
      </p:sp>
      <p:sp>
        <p:nvSpPr>
          <p:cNvPr id="16" name="Shape 14"/>
          <p:cNvSpPr/>
          <p:nvPr/>
        </p:nvSpPr>
        <p:spPr>
          <a:xfrm>
            <a:off x="4165600" y="4754880"/>
            <a:ext cx="228600" cy="165100"/>
          </a:xfrm>
          <a:prstGeom prst="roundRect">
            <a:avLst>
              <a:gd name="adj" fmla="val 11538"/>
            </a:avLst>
          </a:prstGeom>
          <a:solidFill>
            <a:srgbClr val="C2601C"/>
          </a:solidFill>
          <a:ln/>
        </p:spPr>
      </p:sp>
      <p:sp>
        <p:nvSpPr>
          <p:cNvPr id="17" name="Shape 15"/>
          <p:cNvSpPr/>
          <p:nvPr/>
        </p:nvSpPr>
        <p:spPr>
          <a:xfrm>
            <a:off x="4445000" y="4850130"/>
            <a:ext cx="228600" cy="69850"/>
          </a:xfrm>
          <a:prstGeom prst="roundRect">
            <a:avLst>
              <a:gd name="adj" fmla="val 27273"/>
            </a:avLst>
          </a:prstGeom>
          <a:solidFill>
            <a:srgbClr val="C2601C"/>
          </a:solidFill>
          <a:ln/>
        </p:spPr>
      </p:sp>
      <p:sp>
        <p:nvSpPr>
          <p:cNvPr id="18" name="Shape 16"/>
          <p:cNvSpPr/>
          <p:nvPr/>
        </p:nvSpPr>
        <p:spPr>
          <a:xfrm>
            <a:off x="812800" y="5015230"/>
            <a:ext cx="4572000" cy="0"/>
          </a:xfrm>
          <a:prstGeom prst="line">
            <a:avLst/>
          </a:prstGeom>
          <a:noFill/>
          <a:ln w="12700">
            <a:solidFill>
              <a:srgbClr val="CFC7B8"/>
            </a:solidFill>
            <a:prstDash val="solid"/>
          </a:ln>
        </p:spPr>
      </p:sp>
      <p:sp>
        <p:nvSpPr>
          <p:cNvPr id="19" name="Text 17"/>
          <p:cNvSpPr/>
          <p:nvPr/>
        </p:nvSpPr>
        <p:spPr>
          <a:xfrm>
            <a:off x="812800" y="5095241"/>
            <a:ext cx="112252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7A"/>
                </a:solidFill>
                <a:latin typeface="IBM Plex Sans" pitchFamily="34" charset="0"/>
                <a:ea typeface="IBM Plex Sans" pitchFamily="34" charset="-122"/>
                <a:cs typeface="IBM Plex Sans" pitchFamily="34" charset="-120"/>
              </a:rPr>
              <a:t>typical tokens</a:t>
            </a:r>
            <a:endParaRPr lang="en-US" sz="1300" dirty="0"/>
          </a:p>
        </p:txBody>
      </p:sp>
      <p:sp>
        <p:nvSpPr>
          <p:cNvPr id="20" name="Text 18"/>
          <p:cNvSpPr/>
          <p:nvPr/>
        </p:nvSpPr>
        <p:spPr>
          <a:xfrm>
            <a:off x="3912473" y="5095241"/>
            <a:ext cx="1472327"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C2601C"/>
                </a:solidFill>
                <a:latin typeface="IBM Plex Sans" pitchFamily="34" charset="0"/>
                <a:ea typeface="IBM Plex Sans" pitchFamily="34" charset="-122"/>
                <a:cs typeface="IBM Plex Sans" pitchFamily="34" charset="-120"/>
              </a:rPr>
              <a:t>high-norm outliers</a:t>
            </a:r>
            <a:endParaRPr lang="en-US" sz="1300" dirty="0"/>
          </a:p>
        </p:txBody>
      </p:sp>
      <p:sp>
        <p:nvSpPr>
          <p:cNvPr id="21" name="Text 19"/>
          <p:cNvSpPr/>
          <p:nvPr/>
        </p:nvSpPr>
        <p:spPr>
          <a:xfrm>
            <a:off x="812800" y="5415280"/>
            <a:ext cx="47091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874"/>
                </a:solidFill>
                <a:latin typeface="IBM Plex Sans" pitchFamily="34" charset="0"/>
                <a:ea typeface="IBM Plex Sans" pitchFamily="34" charset="-122"/>
                <a:cs typeface="IBM Plex Sans" pitchFamily="34" charset="-120"/>
              </a:rPr>
              <a:t>Token-norm distribution at the last block of a large ViT: bimodal, with a small far-right population.</a:t>
            </a:r>
            <a:endParaRPr lang="en-US" sz="1200" dirty="0"/>
          </a:p>
        </p:txBody>
      </p:sp>
      <p:sp>
        <p:nvSpPr>
          <p:cNvPr id="22" name="Shape 20"/>
          <p:cNvSpPr/>
          <p:nvPr/>
        </p:nvSpPr>
        <p:spPr>
          <a:xfrm>
            <a:off x="5803900" y="3240405"/>
            <a:ext cx="0" cy="721360"/>
          </a:xfrm>
          <a:prstGeom prst="line">
            <a:avLst/>
          </a:prstGeom>
          <a:noFill/>
          <a:ln w="25400">
            <a:solidFill>
              <a:srgbClr val="C2601C"/>
            </a:solidFill>
            <a:prstDash val="solid"/>
          </a:ln>
        </p:spPr>
      </p:sp>
      <p:sp>
        <p:nvSpPr>
          <p:cNvPr id="23" name="Text 21"/>
          <p:cNvSpPr/>
          <p:nvPr/>
        </p:nvSpPr>
        <p:spPr>
          <a:xfrm>
            <a:off x="5994400" y="3240405"/>
            <a:ext cx="554634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232B"/>
                </a:solidFill>
                <a:latin typeface="IBM Plex Sans" pitchFamily="34" charset="0"/>
                <a:ea typeface="IBM Plex Sans" pitchFamily="34" charset="-122"/>
                <a:cs typeface="IBM Plex Sans" pitchFamily="34" charset="-120"/>
              </a:rPr>
              <a:t>~10×</a:t>
            </a:r>
            <a:endParaRPr lang="en-US" sz="3200" dirty="0"/>
          </a:p>
        </p:txBody>
      </p:sp>
      <p:sp>
        <p:nvSpPr>
          <p:cNvPr id="24" name="Text 22"/>
          <p:cNvSpPr/>
          <p:nvPr/>
        </p:nvSpPr>
        <p:spPr>
          <a:xfrm>
            <a:off x="5994400" y="3712845"/>
            <a:ext cx="554634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874"/>
                </a:solidFill>
                <a:latin typeface="IBM Plex Sans" pitchFamily="34" charset="0"/>
                <a:ea typeface="IBM Plex Sans" pitchFamily="34" charset="-122"/>
                <a:cs typeface="IBM Plex Sans" pitchFamily="34" charset="-120"/>
              </a:rPr>
              <a:t>the norm of an ordinary token</a:t>
            </a:r>
            <a:endParaRPr lang="en-US" sz="1400" dirty="0"/>
          </a:p>
        </p:txBody>
      </p:sp>
      <p:sp>
        <p:nvSpPr>
          <p:cNvPr id="25" name="Shape 23"/>
          <p:cNvSpPr/>
          <p:nvPr/>
        </p:nvSpPr>
        <p:spPr>
          <a:xfrm>
            <a:off x="5803900" y="4126866"/>
            <a:ext cx="0" cy="721360"/>
          </a:xfrm>
          <a:prstGeom prst="line">
            <a:avLst/>
          </a:prstGeom>
          <a:noFill/>
          <a:ln w="25400">
            <a:solidFill>
              <a:srgbClr val="C2601C"/>
            </a:solidFill>
            <a:prstDash val="solid"/>
          </a:ln>
        </p:spPr>
      </p:sp>
      <p:sp>
        <p:nvSpPr>
          <p:cNvPr id="26" name="Text 24"/>
          <p:cNvSpPr/>
          <p:nvPr/>
        </p:nvSpPr>
        <p:spPr>
          <a:xfrm>
            <a:off x="5994400" y="4126866"/>
            <a:ext cx="554634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232B"/>
                </a:solidFill>
                <a:latin typeface="IBM Plex Sans" pitchFamily="34" charset="0"/>
                <a:ea typeface="IBM Plex Sans" pitchFamily="34" charset="-122"/>
                <a:cs typeface="IBM Plex Sans" pitchFamily="34" charset="-120"/>
              </a:rPr>
              <a:t>~2%</a:t>
            </a:r>
            <a:endParaRPr lang="en-US" sz="3200" dirty="0"/>
          </a:p>
        </p:txBody>
      </p:sp>
      <p:sp>
        <p:nvSpPr>
          <p:cNvPr id="27" name="Text 25"/>
          <p:cNvSpPr/>
          <p:nvPr/>
        </p:nvSpPr>
        <p:spPr>
          <a:xfrm>
            <a:off x="5994400" y="4599305"/>
            <a:ext cx="554634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874"/>
                </a:solidFill>
                <a:latin typeface="IBM Plex Sans" pitchFamily="34" charset="0"/>
                <a:ea typeface="IBM Plex Sans" pitchFamily="34" charset="-122"/>
                <a:cs typeface="IBM Plex Sans" pitchFamily="34" charset="-120"/>
              </a:rPr>
              <a:t>of patch tokens, on redundant background</a:t>
            </a:r>
            <a:endParaRPr lang="en-US" sz="1400" dirty="0"/>
          </a:p>
        </p:txBody>
      </p:sp>
      <p:sp>
        <p:nvSpPr>
          <p:cNvPr id="28" name="Text 26"/>
          <p:cNvSpPr/>
          <p:nvPr/>
        </p:nvSpPr>
        <p:spPr>
          <a:xfrm>
            <a:off x="5791200" y="5013325"/>
            <a:ext cx="575564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2232B"/>
                </a:solidFill>
                <a:latin typeface="IBM Plex Sans" pitchFamily="34" charset="0"/>
                <a:ea typeface="IBM Plex Sans" pitchFamily="34" charset="-122"/>
                <a:cs typeface="IBM Plex Sans" pitchFamily="34" charset="-120"/>
              </a:rPr>
              <a:t>They gain global information, lose local information, and corrupt attention maps — so every dense task degrades. The accepted fix is a </a:t>
            </a:r>
            <a:r>
              <a:rPr lang="en-US" sz="1500" b="1" dirty="0">
                <a:solidFill>
                  <a:srgbClr val="12232B"/>
                </a:solidFill>
                <a:latin typeface="IBM Plex Sans" pitchFamily="34" charset="0"/>
                <a:ea typeface="IBM Plex Sans" pitchFamily="34" charset="-122"/>
                <a:cs typeface="IBM Plex Sans" pitchFamily="34" charset="-120"/>
              </a:rPr>
              <a:t>register</a:t>
            </a:r>
            <a:r>
              <a:rPr lang="en-US" sz="1500" dirty="0">
                <a:solidFill>
                  <a:srgbClr val="12232B"/>
                </a:solidFill>
                <a:latin typeface="IBM Plex Sans" pitchFamily="34" charset="0"/>
                <a:ea typeface="IBM Plex Sans" pitchFamily="34" charset="-122"/>
                <a:cs typeface="IBM Plex Sans" pitchFamily="34" charset="-120"/>
              </a:rPr>
              <a:t>: a spare token the model can write to instead.</a:t>
            </a:r>
            <a:endParaRPr lang="en-US" sz="1500" dirty="0"/>
          </a:p>
        </p:txBody>
      </p:sp>
      <p:sp>
        <p:nvSpPr>
          <p:cNvPr id="29" name="Text 27"/>
          <p:cNvSpPr/>
          <p:nvPr/>
        </p:nvSpPr>
        <p:spPr>
          <a:xfrm>
            <a:off x="812800" y="6238241"/>
            <a:ext cx="79032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Darcet, Oquab, Mairal &amp; Bojanowski, “Vision Transformers Need Registers,” ICLR 2024 (oral) · </a:t>
            </a:r>
            <a:r>
              <a:rPr lang="en-US" sz="1200" u="sng" dirty="0">
                <a:solidFill>
                  <a:srgbClr val="6E7A8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arXiv:2309.16588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E7A"/>
                </a:solidFill>
                <a:latin typeface="IBM Plex Sans" pitchFamily="34" charset="0"/>
                <a:ea typeface="IBM Plex Sans" pitchFamily="34" charset="-122"/>
                <a:cs typeface="IBM Plex Sans" pitchFamily="34" charset="-120"/>
              </a:rPr>
              <a:t>THE STATE OF THE FIELD</a:t>
            </a:r>
            <a:endParaRPr lang="en-US" sz="1200" dirty="0"/>
          </a:p>
        </p:txBody>
      </p:sp>
      <p:sp>
        <p:nvSpPr>
          <p:cNvPr id="3" name="Text 1"/>
          <p:cNvSpPr/>
          <p:nvPr/>
        </p:nvSpPr>
        <p:spPr>
          <a:xfrm>
            <a:off x="812800" y="1127761"/>
            <a:ext cx="10883392" cy="1049496"/>
          </a:xfrm>
          <a:prstGeom prst="rect">
            <a:avLst/>
          </a:prstGeom>
          <a:noFill/>
          <a:ln/>
        </p:spPr>
        <p:txBody>
          <a:bodyPr wrap="square" lIns="0" tIns="0" rIns="0" bIns="0" rtlCol="0" anchor="t">
            <a:normAutofit/>
          </a:bodyPr>
          <a:lstStyle/>
          <a:p>
            <a:pPr algn="l" indent="0" marL="0">
              <a:lnSpc>
                <a:spcPts val="4032"/>
              </a:lnSpc>
              <a:buNone/>
            </a:pPr>
            <a:r>
              <a:rPr lang="en-US" sz="3600" b="1" dirty="0">
                <a:solidFill>
                  <a:srgbClr val="12232B"/>
                </a:solidFill>
                <a:latin typeface="Source Serif 4" pitchFamily="34" charset="0"/>
                <a:ea typeface="Source Serif 4" pitchFamily="34" charset="-122"/>
                <a:cs typeface="Source Serif 4" pitchFamily="34" charset="-120"/>
              </a:rPr>
              <a:t>The register literature is large, and entirely visual</a:t>
            </a:r>
            <a:endParaRPr lang="en-US" sz="3600" dirty="0"/>
          </a:p>
        </p:txBody>
      </p:sp>
      <p:sp>
        <p:nvSpPr>
          <p:cNvPr id="4" name="Text 2"/>
          <p:cNvSpPr/>
          <p:nvPr/>
        </p:nvSpPr>
        <p:spPr>
          <a:xfrm>
            <a:off x="812800" y="2532935"/>
            <a:ext cx="2877820" cy="248285"/>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12232B"/>
                </a:solidFill>
                <a:latin typeface="IBM Plex Sans" pitchFamily="34" charset="0"/>
                <a:ea typeface="IBM Plex Sans" pitchFamily="34" charset="-122"/>
                <a:cs typeface="IBM Plex Sans" pitchFamily="34" charset="-120"/>
              </a:rPr>
              <a:t>Darcet et al.</a:t>
            </a:r>
            <a:r>
              <a:rPr lang="en-US" sz="1350" dirty="0">
                <a:solidFill>
                  <a:srgbClr val="12232B"/>
                </a:solidFill>
                <a:latin typeface="IBM Plex Sans" pitchFamily="34" charset="0"/>
                <a:ea typeface="IBM Plex Sans" pitchFamily="34" charset="-122"/>
                <a:cs typeface="IBM Plex Sans" pitchFamily="34" charset="-120"/>
              </a:rPr>
              <a:t>, ICLR 2024</a:t>
            </a:r>
            <a:endParaRPr lang="en-US" sz="1350" dirty="0"/>
          </a:p>
        </p:txBody>
      </p:sp>
      <p:sp>
        <p:nvSpPr>
          <p:cNvPr id="5" name="Shape 3"/>
          <p:cNvSpPr/>
          <p:nvPr/>
        </p:nvSpPr>
        <p:spPr>
          <a:xfrm>
            <a:off x="3784600" y="2479278"/>
            <a:ext cx="6350000" cy="330200"/>
          </a:xfrm>
          <a:prstGeom prst="roundRect">
            <a:avLst>
              <a:gd name="adj" fmla="val 7692"/>
            </a:avLst>
          </a:prstGeom>
          <a:solidFill>
            <a:srgbClr val="0F6E7A"/>
          </a:solidFill>
          <a:ln/>
        </p:spPr>
      </p:sp>
      <p:sp>
        <p:nvSpPr>
          <p:cNvPr id="6" name="Text 4"/>
          <p:cNvSpPr/>
          <p:nvPr/>
        </p:nvSpPr>
        <p:spPr>
          <a:xfrm>
            <a:off x="10261600" y="2475469"/>
            <a:ext cx="702072"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F6E7A"/>
                </a:solidFill>
                <a:latin typeface="IBM Plex Sans" pitchFamily="34" charset="0"/>
                <a:ea typeface="IBM Plex Sans" pitchFamily="34" charset="-122"/>
                <a:cs typeface="IBM Plex Sans" pitchFamily="34" charset="-120"/>
              </a:rPr>
              <a:t>1,018</a:t>
            </a:r>
            <a:endParaRPr lang="en-US" sz="1900" dirty="0"/>
          </a:p>
        </p:txBody>
      </p:sp>
      <p:sp>
        <p:nvSpPr>
          <p:cNvPr id="7" name="Text 5"/>
          <p:cNvSpPr/>
          <p:nvPr/>
        </p:nvSpPr>
        <p:spPr>
          <a:xfrm>
            <a:off x="812800" y="2952989"/>
            <a:ext cx="2877820" cy="471170"/>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12232B"/>
                </a:solidFill>
                <a:latin typeface="IBM Plex Sans" pitchFamily="34" charset="0"/>
                <a:ea typeface="IBM Plex Sans" pitchFamily="34" charset="-122"/>
                <a:cs typeface="IBM Plex Sans" pitchFamily="34" charset="-120"/>
              </a:rPr>
              <a:t>Jiang et al.</a:t>
            </a:r>
            <a:r>
              <a:rPr lang="en-US" sz="1350" dirty="0">
                <a:solidFill>
                  <a:srgbClr val="12232B"/>
                </a:solidFill>
                <a:latin typeface="IBM Plex Sans" pitchFamily="34" charset="0"/>
                <a:ea typeface="IBM Plex Sans" pitchFamily="34" charset="-122"/>
                <a:cs typeface="IBM Plex Sans" pitchFamily="34" charset="-120"/>
              </a:rPr>
              <a:t>, NeurIPS 2025 spotlight</a:t>
            </a:r>
            <a:endParaRPr lang="en-US" sz="1350" dirty="0"/>
          </a:p>
          <a:p>
            <a:pPr algn="l" indent="0" marL="0">
              <a:lnSpc>
                <a:spcPts val="1755"/>
              </a:lnSpc>
              <a:buNone/>
            </a:pPr>
            <a:r>
              <a:rPr lang="en-US" sz="1350" dirty="0">
                <a:solidFill>
                  <a:srgbClr val="12232B"/>
                </a:solidFill>
                <a:latin typeface="IBM Plex Sans" pitchFamily="34" charset="0"/>
                <a:ea typeface="IBM Plex Sans" pitchFamily="34" charset="-122"/>
                <a:cs typeface="IBM Plex Sans" pitchFamily="34" charset="-120"/>
              </a:rPr>
              <a:t>the training-free fix we would port</a:t>
            </a:r>
            <a:endParaRPr lang="en-US" sz="1350" dirty="0"/>
          </a:p>
        </p:txBody>
      </p:sp>
      <p:sp>
        <p:nvSpPr>
          <p:cNvPr id="8" name="Shape 6"/>
          <p:cNvSpPr/>
          <p:nvPr/>
        </p:nvSpPr>
        <p:spPr>
          <a:xfrm>
            <a:off x="3784600" y="3010773"/>
            <a:ext cx="292100" cy="330200"/>
          </a:xfrm>
          <a:prstGeom prst="roundRect">
            <a:avLst>
              <a:gd name="adj" fmla="val 8696"/>
            </a:avLst>
          </a:prstGeom>
          <a:solidFill>
            <a:srgbClr val="0F6E7A"/>
          </a:solidFill>
          <a:ln/>
        </p:spPr>
      </p:sp>
      <p:sp>
        <p:nvSpPr>
          <p:cNvPr id="9" name="Text 7"/>
          <p:cNvSpPr/>
          <p:nvPr/>
        </p:nvSpPr>
        <p:spPr>
          <a:xfrm>
            <a:off x="4203700" y="3006964"/>
            <a:ext cx="340360"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F6E7A"/>
                </a:solidFill>
                <a:latin typeface="IBM Plex Sans" pitchFamily="34" charset="0"/>
                <a:ea typeface="IBM Plex Sans" pitchFamily="34" charset="-122"/>
                <a:cs typeface="IBM Plex Sans" pitchFamily="34" charset="-120"/>
              </a:rPr>
              <a:t>47</a:t>
            </a:r>
            <a:endParaRPr lang="en-US" sz="1900" dirty="0"/>
          </a:p>
        </p:txBody>
      </p:sp>
      <p:sp>
        <p:nvSpPr>
          <p:cNvPr id="10" name="Text 8"/>
          <p:cNvSpPr/>
          <p:nvPr/>
        </p:nvSpPr>
        <p:spPr>
          <a:xfrm>
            <a:off x="812800" y="3595926"/>
            <a:ext cx="2877820" cy="248285"/>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12232B"/>
                </a:solidFill>
                <a:latin typeface="IBM Plex Sans" pitchFamily="34" charset="0"/>
                <a:ea typeface="IBM Plex Sans" pitchFamily="34" charset="-122"/>
                <a:cs typeface="IBM Plex Sans" pitchFamily="34" charset="-120"/>
              </a:rPr>
              <a:t>PH-Reg</a:t>
            </a:r>
            <a:r>
              <a:rPr lang="en-US" sz="1350" dirty="0">
                <a:solidFill>
                  <a:srgbClr val="12232B"/>
                </a:solidFill>
                <a:latin typeface="IBM Plex Sans" pitchFamily="34" charset="0"/>
                <a:ea typeface="IBM Plex Sans" pitchFamily="34" charset="-122"/>
                <a:cs typeface="IBM Plex Sans" pitchFamily="34" charset="-120"/>
              </a:rPr>
              <a:t>, NeurIPS 2025</a:t>
            </a:r>
            <a:endParaRPr lang="en-US" sz="1350" dirty="0"/>
          </a:p>
        </p:txBody>
      </p:sp>
      <p:sp>
        <p:nvSpPr>
          <p:cNvPr id="11" name="Shape 9"/>
          <p:cNvSpPr/>
          <p:nvPr/>
        </p:nvSpPr>
        <p:spPr>
          <a:xfrm>
            <a:off x="3784600" y="3542269"/>
            <a:ext cx="107950" cy="330200"/>
          </a:xfrm>
          <a:prstGeom prst="roundRect">
            <a:avLst>
              <a:gd name="adj" fmla="val 23529"/>
            </a:avLst>
          </a:prstGeom>
          <a:solidFill>
            <a:srgbClr val="0F6E7A"/>
          </a:solidFill>
          <a:ln/>
        </p:spPr>
      </p:sp>
      <p:sp>
        <p:nvSpPr>
          <p:cNvPr id="12" name="Text 10"/>
          <p:cNvSpPr/>
          <p:nvPr/>
        </p:nvSpPr>
        <p:spPr>
          <a:xfrm>
            <a:off x="4019550" y="3538458"/>
            <a:ext cx="340360"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0F6E7A"/>
                </a:solidFill>
                <a:latin typeface="IBM Plex Sans" pitchFamily="34" charset="0"/>
                <a:ea typeface="IBM Plex Sans" pitchFamily="34" charset="-122"/>
                <a:cs typeface="IBM Plex Sans" pitchFamily="34" charset="-120"/>
              </a:rPr>
              <a:t>17</a:t>
            </a:r>
            <a:endParaRPr lang="en-US" sz="1900" dirty="0"/>
          </a:p>
        </p:txBody>
      </p:sp>
      <p:sp>
        <p:nvSpPr>
          <p:cNvPr id="13" name="Shape 11"/>
          <p:cNvSpPr/>
          <p:nvPr/>
        </p:nvSpPr>
        <p:spPr>
          <a:xfrm>
            <a:off x="812800" y="4022328"/>
            <a:ext cx="10566400" cy="0"/>
          </a:xfrm>
          <a:prstGeom prst="line">
            <a:avLst/>
          </a:prstGeom>
          <a:noFill/>
          <a:ln w="12700">
            <a:solidFill>
              <a:srgbClr val="D4CCBD"/>
            </a:solidFill>
            <a:prstDash val="solid"/>
          </a:ln>
        </p:spPr>
      </p:sp>
      <p:sp>
        <p:nvSpPr>
          <p:cNvPr id="14" name="Text 12"/>
          <p:cNvSpPr/>
          <p:nvPr/>
        </p:nvSpPr>
        <p:spPr>
          <a:xfrm>
            <a:off x="812800" y="4165839"/>
            <a:ext cx="2877820" cy="471170"/>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C2601C"/>
                </a:solidFill>
                <a:latin typeface="IBM Plex Sans" pitchFamily="34" charset="0"/>
                <a:ea typeface="IBM Plex Sans" pitchFamily="34" charset="-122"/>
                <a:cs typeface="IBM Plex Sans" pitchFamily="34" charset="-120"/>
              </a:rPr>
              <a:t>Of all of them: studies of artifacts in a pretrained audio encoder</a:t>
            </a:r>
            <a:endParaRPr lang="en-US" sz="1350" dirty="0"/>
          </a:p>
        </p:txBody>
      </p:sp>
      <p:sp>
        <p:nvSpPr>
          <p:cNvPr id="15" name="Shape 13"/>
          <p:cNvSpPr/>
          <p:nvPr/>
        </p:nvSpPr>
        <p:spPr>
          <a:xfrm>
            <a:off x="3784600" y="4223623"/>
            <a:ext cx="25400" cy="330200"/>
          </a:xfrm>
          <a:prstGeom prst="roundRect">
            <a:avLst>
              <a:gd name="adj" fmla="val 50000"/>
            </a:avLst>
          </a:prstGeom>
          <a:solidFill>
            <a:srgbClr val="C2601C"/>
          </a:solidFill>
          <a:ln/>
        </p:spPr>
      </p:sp>
      <p:sp>
        <p:nvSpPr>
          <p:cNvPr id="16" name="Text 14"/>
          <p:cNvSpPr/>
          <p:nvPr/>
        </p:nvSpPr>
        <p:spPr>
          <a:xfrm>
            <a:off x="3937000" y="4219814"/>
            <a:ext cx="195580"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C2601C"/>
                </a:solidFill>
                <a:latin typeface="IBM Plex Sans" pitchFamily="34" charset="0"/>
                <a:ea typeface="IBM Plex Sans" pitchFamily="34" charset="-122"/>
                <a:cs typeface="IBM Plex Sans" pitchFamily="34" charset="-120"/>
              </a:rPr>
              <a:t>0</a:t>
            </a:r>
            <a:endParaRPr lang="en-US" sz="1900" dirty="0"/>
          </a:p>
        </p:txBody>
      </p:sp>
      <p:sp>
        <p:nvSpPr>
          <p:cNvPr id="17" name="Text 15"/>
          <p:cNvSpPr/>
          <p:nvPr/>
        </p:nvSpPr>
        <p:spPr>
          <a:xfrm>
            <a:off x="815975" y="4938395"/>
            <a:ext cx="10560050" cy="900430"/>
          </a:xfrm>
          <a:prstGeom prst="roundRect">
            <a:avLst>
              <a:gd name="adj" fmla="val 9520"/>
            </a:avLst>
          </a:prstGeom>
          <a:solidFill>
            <a:srgbClr val="FAF8F4"/>
          </a:solidFill>
          <a:ln w="6350">
            <a:solidFill>
              <a:srgbClr val="D4CCBD"/>
            </a:solidFill>
            <a:prstDash val="solid"/>
          </a:ln>
        </p:spPr>
        <p:txBody>
          <a:bodyPr wrap="square" lIns="205397" tIns="167297" rIns="0" bIns="141897" rtlCol="0" anchor="t">
            <a:normAutofit/>
          </a:bodyPr>
          <a:lstStyle/>
          <a:p>
            <a:pPr algn="l" indent="0" marL="0">
              <a:lnSpc>
                <a:spcPts val="2030"/>
              </a:lnSpc>
              <a:buNone/>
            </a:pPr>
            <a:r>
              <a:rPr lang="en-US" sz="1400" dirty="0">
                <a:solidFill>
                  <a:srgbClr val="12232B"/>
                </a:solidFill>
                <a:latin typeface="IBM Plex Sans" pitchFamily="34" charset="0"/>
                <a:ea typeface="IBM Plex Sans" pitchFamily="34" charset="-122"/>
                <a:cs typeface="IBM Plex Sans" pitchFamily="34" charset="-120"/>
              </a:rPr>
              <a:t>Meanwhile the vision side is accelerating: arXiv ti:registers AND cat:cs.CV returns 40+ titles, </a:t>
            </a:r>
            <a:r>
              <a:rPr lang="en-US" sz="1400" b="1" dirty="0">
                <a:solidFill>
                  <a:srgbClr val="12232B"/>
                </a:solidFill>
                <a:latin typeface="IBM Plex Sans" pitchFamily="34" charset="0"/>
                <a:ea typeface="IBM Plex Sans" pitchFamily="34" charset="-122"/>
                <a:cs typeface="IBM Plex Sans" pitchFamily="34" charset="-120"/>
              </a:rPr>
              <a:t>15 of them since April 2026</a:t>
            </a:r>
            <a:r>
              <a:rPr lang="en-US" sz="1400" dirty="0">
                <a:solidFill>
                  <a:srgbClr val="12232B"/>
                </a:solidFill>
                <a:latin typeface="IBM Plex Sans" pitchFamily="34" charset="0"/>
                <a:ea typeface="IBM Plex Sans" pitchFamily="34" charset="-122"/>
                <a:cs typeface="IBM Plex Sans" pitchFamily="34" charset="-120"/>
              </a:rPr>
              <a:t> — face recognition, diffusion transformers, token pruning, quantisation, VLM hallucination.</a:t>
            </a:r>
            <a:endParaRPr lang="en-US" sz="1400" dirty="0"/>
          </a:p>
        </p:txBody>
      </p:sp>
      <p:sp>
        <p:nvSpPr>
          <p:cNvPr id="18" name="Text 16"/>
          <p:cNvSpPr/>
          <p:nvPr/>
        </p:nvSpPr>
        <p:spPr>
          <a:xfrm>
            <a:off x="812800" y="6238239"/>
            <a:ext cx="88696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Citing-paper counts: Semantic Scholar Graph API, full pagination, 30 September 2026 · </a:t>
            </a:r>
            <a:r>
              <a:rPr lang="en-US" sz="1200" u="sng" dirty="0">
                <a:solidFill>
                  <a:srgbClr val="6E7A8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arXiv:2506.08010</a:t>
            </a:r>
            <a:r>
              <a:rPr lang="en-US" sz="1200" dirty="0">
                <a:solidFill>
                  <a:srgbClr val="6E7A86"/>
                </a:solidFill>
                <a:latin typeface="IBM Plex Sans" pitchFamily="34" charset="0"/>
                <a:ea typeface="IBM Plex Sans" pitchFamily="34" charset="-122"/>
                <a:cs typeface="IBM Plex Sans" pitchFamily="34" charset="-120"/>
              </a:rPr>
              <a:t> · </a:t>
            </a:r>
            <a:r>
              <a:rPr lang="en-US" sz="1200" u="sng" dirty="0">
                <a:solidFill>
                  <a:srgbClr val="6E7A8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arXiv:2505.21501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E7A"/>
                </a:solidFill>
                <a:latin typeface="IBM Plex Sans" pitchFamily="34" charset="0"/>
                <a:ea typeface="IBM Plex Sans" pitchFamily="34" charset="-122"/>
                <a:cs typeface="IBM Plex Sans" pitchFamily="34" charset="-120"/>
              </a:rPr>
              <a:t>THE OPEN QUESTION</a:t>
            </a:r>
            <a:endParaRPr lang="en-US" sz="1200" dirty="0"/>
          </a:p>
        </p:txBody>
      </p:sp>
      <p:sp>
        <p:nvSpPr>
          <p:cNvPr id="3" name="Text 1"/>
          <p:cNvSpPr/>
          <p:nvPr/>
        </p:nvSpPr>
        <p:spPr>
          <a:xfrm>
            <a:off x="812800" y="1127761"/>
            <a:ext cx="10883392" cy="537448"/>
          </a:xfrm>
          <a:prstGeom prst="rect">
            <a:avLst/>
          </a:prstGeom>
          <a:noFill/>
          <a:ln/>
        </p:spPr>
        <p:txBody>
          <a:bodyPr wrap="square" lIns="0" tIns="0" rIns="0" bIns="0" rtlCol="0" anchor="t">
            <a:normAutofit/>
          </a:bodyPr>
          <a:lstStyle/>
          <a:p>
            <a:pPr algn="l" indent="0" marL="0">
              <a:lnSpc>
                <a:spcPts val="4032"/>
              </a:lnSpc>
              <a:buNone/>
            </a:pPr>
            <a:r>
              <a:rPr lang="en-US" sz="3600" b="1" dirty="0">
                <a:solidFill>
                  <a:srgbClr val="12232B"/>
                </a:solidFill>
                <a:latin typeface="Source Serif 4" pitchFamily="34" charset="0"/>
                <a:ea typeface="Source Serif 4" pitchFamily="34" charset="-122"/>
                <a:cs typeface="Source Serif 4" pitchFamily="34" charset="-120"/>
              </a:rPr>
              <a:t>Three explanations for the same phenomenon</a:t>
            </a:r>
            <a:endParaRPr lang="en-US" sz="3600" dirty="0"/>
          </a:p>
        </p:txBody>
      </p:sp>
      <p:sp>
        <p:nvSpPr>
          <p:cNvPr id="4" name="Text 2"/>
          <p:cNvSpPr/>
          <p:nvPr/>
        </p:nvSpPr>
        <p:spPr>
          <a:xfrm>
            <a:off x="812800" y="1741410"/>
            <a:ext cx="850265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5D6874"/>
                </a:solidFill>
                <a:latin typeface="IBM Plex Sans" pitchFamily="34" charset="0"/>
                <a:ea typeface="IBM Plex Sans" pitchFamily="34" charset="-122"/>
                <a:cs typeface="IBM Plex Sans" pitchFamily="34" charset="-120"/>
              </a:rPr>
              <a:t>Two years on, the literature still disagrees about </a:t>
            </a:r>
            <a:r>
              <a:rPr lang="en-US" sz="1500" i="1" dirty="0">
                <a:solidFill>
                  <a:srgbClr val="5D6874"/>
                </a:solidFill>
                <a:latin typeface="IBM Plex Sans" pitchFamily="34" charset="0"/>
                <a:ea typeface="IBM Plex Sans" pitchFamily="34" charset="-122"/>
                <a:cs typeface="IBM Plex Sans" pitchFamily="34" charset="-120"/>
              </a:rPr>
              <a:t>why</a:t>
            </a:r>
            <a:r>
              <a:rPr lang="en-US" sz="1500" dirty="0">
                <a:solidFill>
                  <a:srgbClr val="5D6874"/>
                </a:solidFill>
                <a:latin typeface="IBM Plex Sans" pitchFamily="34" charset="0"/>
                <a:ea typeface="IBM Plex Sans" pitchFamily="34" charset="-122"/>
                <a:cs typeface="IBM Plex Sans" pitchFamily="34" charset="-120"/>
              </a:rPr>
              <a:t> high-norm tokens appear and </a:t>
            </a:r>
            <a:r>
              <a:rPr lang="en-US" sz="1500" i="1" dirty="0">
                <a:solidFill>
                  <a:srgbClr val="5D6874"/>
                </a:solidFill>
                <a:latin typeface="IBM Plex Sans" pitchFamily="34" charset="0"/>
                <a:ea typeface="IBM Plex Sans" pitchFamily="34" charset="-122"/>
                <a:cs typeface="IBM Plex Sans" pitchFamily="34" charset="-120"/>
              </a:rPr>
              <a:t>what decides where they go</a:t>
            </a:r>
            <a:r>
              <a:rPr lang="en-US" sz="1500" dirty="0">
                <a:solidFill>
                  <a:srgbClr val="5D6874"/>
                </a:solidFill>
                <a:latin typeface="IBM Plex Sans" pitchFamily="34" charset="0"/>
                <a:ea typeface="IBM Plex Sans" pitchFamily="34" charset="-122"/>
                <a:cs typeface="IBM Plex Sans" pitchFamily="34" charset="-120"/>
              </a:rPr>
              <a:t>.</a:t>
            </a:r>
            <a:endParaRPr lang="en-US" sz="1500" dirty="0"/>
          </a:p>
        </p:txBody>
      </p:sp>
      <p:sp>
        <p:nvSpPr>
          <p:cNvPr id="5" name="Shape 3"/>
          <p:cNvSpPr/>
          <p:nvPr/>
        </p:nvSpPr>
        <p:spPr>
          <a:xfrm>
            <a:off x="815975" y="2967357"/>
            <a:ext cx="3380264" cy="2871470"/>
          </a:xfrm>
          <a:prstGeom prst="roundRect">
            <a:avLst>
              <a:gd name="adj" fmla="val 2985"/>
            </a:avLst>
          </a:prstGeom>
          <a:solidFill>
            <a:srgbClr val="FFFFFF"/>
          </a:solidFill>
          <a:ln w="6350">
            <a:solidFill>
              <a:srgbClr val="DFD8CC"/>
            </a:solidFill>
            <a:prstDash val="solid"/>
          </a:ln>
        </p:spPr>
      </p:sp>
      <p:sp>
        <p:nvSpPr>
          <p:cNvPr id="6" name="Text 4"/>
          <p:cNvSpPr/>
          <p:nvPr/>
        </p:nvSpPr>
        <p:spPr>
          <a:xfrm>
            <a:off x="1059180" y="3210561"/>
            <a:ext cx="2980669"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2601C"/>
                </a:solidFill>
                <a:latin typeface="IBM Plex Sans" pitchFamily="34" charset="0"/>
                <a:ea typeface="IBM Plex Sans" pitchFamily="34" charset="-122"/>
                <a:cs typeface="IBM Plex Sans" pitchFamily="34" charset="-120"/>
              </a:rPr>
              <a:t>H–A   CONTENT</a:t>
            </a:r>
            <a:endParaRPr lang="en-US" sz="1300" dirty="0"/>
          </a:p>
        </p:txBody>
      </p:sp>
      <p:sp>
        <p:nvSpPr>
          <p:cNvPr id="7" name="Text 5"/>
          <p:cNvSpPr/>
          <p:nvPr/>
        </p:nvSpPr>
        <p:spPr>
          <a:xfrm>
            <a:off x="1059180" y="3543300"/>
            <a:ext cx="2980669"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32B"/>
                </a:solidFill>
                <a:latin typeface="Source Serif 4" pitchFamily="34" charset="0"/>
                <a:ea typeface="Source Serif 4" pitchFamily="34" charset="-122"/>
                <a:cs typeface="Source Serif 4" pitchFamily="34" charset="-120"/>
              </a:rPr>
              <a:t>Token recycling</a:t>
            </a:r>
            <a:endParaRPr lang="en-US" sz="1900" dirty="0"/>
          </a:p>
        </p:txBody>
      </p:sp>
      <p:sp>
        <p:nvSpPr>
          <p:cNvPr id="8" name="Text 6"/>
          <p:cNvSpPr/>
          <p:nvPr/>
        </p:nvSpPr>
        <p:spPr>
          <a:xfrm>
            <a:off x="1059180" y="3934461"/>
            <a:ext cx="2980669"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C4855"/>
                </a:solidFill>
                <a:latin typeface="IBM Plex Sans" pitchFamily="34" charset="0"/>
                <a:ea typeface="IBM Plex Sans" pitchFamily="34" charset="-122"/>
                <a:cs typeface="IBM Plex Sans" pitchFamily="34" charset="-120"/>
              </a:rPr>
              <a:t>The model parks global information in tokens whose </a:t>
            </a:r>
            <a:r>
              <a:rPr lang="en-US" sz="1400" b="1" dirty="0">
                <a:solidFill>
                  <a:srgbClr val="3C4855"/>
                </a:solidFill>
                <a:latin typeface="IBM Plex Sans" pitchFamily="34" charset="0"/>
                <a:ea typeface="IBM Plex Sans" pitchFamily="34" charset="-122"/>
                <a:cs typeface="IBM Plex Sans" pitchFamily="34" charset="-120"/>
              </a:rPr>
              <a:t>local content is redundant</a:t>
            </a:r>
            <a:r>
              <a:rPr lang="en-US" sz="1400" dirty="0">
                <a:solidFill>
                  <a:srgbClr val="3C4855"/>
                </a:solidFill>
                <a:latin typeface="IBM Plex Sans" pitchFamily="34" charset="0"/>
                <a:ea typeface="IBM Plex Sans" pitchFamily="34" charset="-122"/>
                <a:cs typeface="IBM Plex Sans" pitchFamily="34" charset="-120"/>
              </a:rPr>
              <a:t>. Registers land where the input says nothing.</a:t>
            </a:r>
            <a:endParaRPr lang="en-US" sz="1400" dirty="0"/>
          </a:p>
        </p:txBody>
      </p:sp>
      <p:sp>
        <p:nvSpPr>
          <p:cNvPr id="9" name="Text 7"/>
          <p:cNvSpPr/>
          <p:nvPr/>
        </p:nvSpPr>
        <p:spPr>
          <a:xfrm>
            <a:off x="1059180" y="5168900"/>
            <a:ext cx="298066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Darcet et al., ICLR 2024 · </a:t>
            </a:r>
            <a:r>
              <a:rPr lang="en-US" sz="1200" u="sng" dirty="0">
                <a:solidFill>
                  <a:srgbClr val="6E7A8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2309.16588</a:t>
            </a:r>
            <a:endParaRPr lang="en-US" sz="1200" dirty="0"/>
          </a:p>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“lazy aggregation” · </a:t>
            </a:r>
            <a:r>
              <a:rPr lang="en-US" sz="1200" u="sng" dirty="0">
                <a:solidFill>
                  <a:srgbClr val="6E7A8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2602.22394</a:t>
            </a:r>
            <a:endParaRPr lang="en-US" sz="1200" dirty="0"/>
          </a:p>
        </p:txBody>
      </p:sp>
      <p:sp>
        <p:nvSpPr>
          <p:cNvPr id="10" name="Shape 8"/>
          <p:cNvSpPr/>
          <p:nvPr/>
        </p:nvSpPr>
        <p:spPr>
          <a:xfrm>
            <a:off x="4405789" y="2967357"/>
            <a:ext cx="3380343" cy="2871470"/>
          </a:xfrm>
          <a:prstGeom prst="roundRect">
            <a:avLst>
              <a:gd name="adj" fmla="val 2985"/>
            </a:avLst>
          </a:prstGeom>
          <a:solidFill>
            <a:srgbClr val="FFFFFF"/>
          </a:solidFill>
          <a:ln w="6350">
            <a:solidFill>
              <a:srgbClr val="DFD8CC"/>
            </a:solidFill>
            <a:prstDash val="solid"/>
          </a:ln>
        </p:spPr>
      </p:sp>
      <p:sp>
        <p:nvSpPr>
          <p:cNvPr id="11" name="Text 9"/>
          <p:cNvSpPr/>
          <p:nvPr/>
        </p:nvSpPr>
        <p:spPr>
          <a:xfrm>
            <a:off x="4648994" y="3210561"/>
            <a:ext cx="2980751"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6E7A"/>
                </a:solidFill>
                <a:latin typeface="IBM Plex Sans" pitchFamily="34" charset="0"/>
                <a:ea typeface="IBM Plex Sans" pitchFamily="34" charset="-122"/>
                <a:cs typeface="IBM Plex Sans" pitchFamily="34" charset="-120"/>
              </a:rPr>
              <a:t>H–B   POSITION</a:t>
            </a:r>
            <a:endParaRPr lang="en-US" sz="1300" dirty="0"/>
          </a:p>
        </p:txBody>
      </p:sp>
      <p:sp>
        <p:nvSpPr>
          <p:cNvPr id="12" name="Text 10"/>
          <p:cNvSpPr/>
          <p:nvPr/>
        </p:nvSpPr>
        <p:spPr>
          <a:xfrm>
            <a:off x="4648994" y="3543300"/>
            <a:ext cx="2980751"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32B"/>
                </a:solidFill>
                <a:latin typeface="Source Serif 4" pitchFamily="34" charset="0"/>
                <a:ea typeface="Source Serif 4" pitchFamily="34" charset="-122"/>
                <a:cs typeface="Source Serif 4" pitchFamily="34" charset="-120"/>
              </a:rPr>
              <a:t>Positional sink</a:t>
            </a:r>
            <a:endParaRPr lang="en-US" sz="1900" dirty="0"/>
          </a:p>
        </p:txBody>
      </p:sp>
      <p:sp>
        <p:nvSpPr>
          <p:cNvPr id="13" name="Text 11"/>
          <p:cNvSpPr/>
          <p:nvPr/>
        </p:nvSpPr>
        <p:spPr>
          <a:xfrm>
            <a:off x="4648994" y="3934461"/>
            <a:ext cx="2980751"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C4855"/>
                </a:solidFill>
                <a:latin typeface="IBM Plex Sans" pitchFamily="34" charset="0"/>
                <a:ea typeface="IBM Plex Sans" pitchFamily="34" charset="-122"/>
                <a:cs typeface="IBM Plex Sans" pitchFamily="34" charset="-120"/>
              </a:rPr>
              <a:t>A few tokens act as attention </a:t>
            </a:r>
            <a:r>
              <a:rPr lang="en-US" sz="1400" b="1" dirty="0">
                <a:solidFill>
                  <a:srgbClr val="3C4855"/>
                </a:solidFill>
                <a:latin typeface="IBM Plex Sans" pitchFamily="34" charset="0"/>
                <a:ea typeface="IBM Plex Sans" pitchFamily="34" charset="-122"/>
                <a:cs typeface="IBM Plex Sans" pitchFamily="34" charset="-120"/>
              </a:rPr>
              <a:t>no-ops</a:t>
            </a:r>
            <a:r>
              <a:rPr lang="en-US" sz="1400" dirty="0">
                <a:solidFill>
                  <a:srgbClr val="3C4855"/>
                </a:solidFill>
                <a:latin typeface="IBM Plex Sans" pitchFamily="34" charset="0"/>
                <a:ea typeface="IBM Plex Sans" pitchFamily="34" charset="-122"/>
                <a:cs typeface="IBM Plex Sans" pitchFamily="34" charset="-120"/>
              </a:rPr>
              <a:t>, anchored to whatever index is reliably there. Content is beside the point.</a:t>
            </a:r>
            <a:endParaRPr lang="en-US" sz="1400" dirty="0"/>
          </a:p>
        </p:txBody>
      </p:sp>
      <p:sp>
        <p:nvSpPr>
          <p:cNvPr id="14" name="Text 12"/>
          <p:cNvSpPr/>
          <p:nvPr/>
        </p:nvSpPr>
        <p:spPr>
          <a:xfrm>
            <a:off x="4648994" y="5168900"/>
            <a:ext cx="29807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Xiao et al., ICLR 2024 · </a:t>
            </a:r>
            <a:r>
              <a:rPr lang="en-US" sz="1200" u="sng" dirty="0">
                <a:solidFill>
                  <a:srgbClr val="6E7A8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2309.17453</a:t>
            </a:r>
            <a:endParaRPr lang="en-US" sz="1200" dirty="0"/>
          </a:p>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Gu et al., ICLR 2025 · </a:t>
            </a:r>
            <a:r>
              <a:rPr lang="en-US" sz="1200" u="sng" dirty="0">
                <a:solidFill>
                  <a:srgbClr val="6E7A8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2410.10781</a:t>
            </a:r>
            <a:endParaRPr lang="en-US" sz="1200" dirty="0"/>
          </a:p>
        </p:txBody>
      </p:sp>
      <p:sp>
        <p:nvSpPr>
          <p:cNvPr id="15" name="Shape 13"/>
          <p:cNvSpPr/>
          <p:nvPr/>
        </p:nvSpPr>
        <p:spPr>
          <a:xfrm>
            <a:off x="7995682" y="2967357"/>
            <a:ext cx="3380343" cy="2871470"/>
          </a:xfrm>
          <a:prstGeom prst="roundRect">
            <a:avLst>
              <a:gd name="adj" fmla="val 2985"/>
            </a:avLst>
          </a:prstGeom>
          <a:solidFill>
            <a:srgbClr val="FFFFFF"/>
          </a:solidFill>
          <a:ln w="6350">
            <a:solidFill>
              <a:srgbClr val="DFD8CC"/>
            </a:solidFill>
            <a:prstDash val="solid"/>
          </a:ln>
        </p:spPr>
      </p:sp>
      <p:sp>
        <p:nvSpPr>
          <p:cNvPr id="16" name="Text 14"/>
          <p:cNvSpPr/>
          <p:nvPr/>
        </p:nvSpPr>
        <p:spPr>
          <a:xfrm>
            <a:off x="8238887" y="3210561"/>
            <a:ext cx="2980751"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A5966"/>
                </a:solidFill>
                <a:latin typeface="IBM Plex Sans" pitchFamily="34" charset="0"/>
                <a:ea typeface="IBM Plex Sans" pitchFamily="34" charset="-122"/>
                <a:cs typeface="IBM Plex Sans" pitchFamily="34" charset="-120"/>
              </a:rPr>
              <a:t>H–C   WEIGHTS</a:t>
            </a:r>
            <a:endParaRPr lang="en-US" sz="1300" dirty="0"/>
          </a:p>
        </p:txBody>
      </p:sp>
      <p:sp>
        <p:nvSpPr>
          <p:cNvPr id="17" name="Text 15"/>
          <p:cNvSpPr/>
          <p:nvPr/>
        </p:nvSpPr>
        <p:spPr>
          <a:xfrm>
            <a:off x="8238887" y="3543300"/>
            <a:ext cx="2980751"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32B"/>
                </a:solidFill>
                <a:latin typeface="Source Serif 4" pitchFamily="34" charset="0"/>
                <a:ea typeface="Source Serif 4" pitchFamily="34" charset="-122"/>
                <a:cs typeface="Source Serif 4" pitchFamily="34" charset="-120"/>
              </a:rPr>
              <a:t>Optimisation artifact</a:t>
            </a:r>
            <a:endParaRPr lang="en-US" sz="1900" dirty="0"/>
          </a:p>
        </p:txBody>
      </p:sp>
      <p:sp>
        <p:nvSpPr>
          <p:cNvPr id="18" name="Text 16"/>
          <p:cNvSpPr/>
          <p:nvPr/>
        </p:nvSpPr>
        <p:spPr>
          <a:xfrm>
            <a:off x="8238887" y="3934461"/>
            <a:ext cx="2980751"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C4855"/>
                </a:solidFill>
                <a:latin typeface="IBM Plex Sans" pitchFamily="34" charset="0"/>
                <a:ea typeface="IBM Plex Sans" pitchFamily="34" charset="-122"/>
                <a:cs typeface="IBM Plex Sans" pitchFamily="34" charset="-120"/>
              </a:rPr>
              <a:t>A fixed high-norm </a:t>
            </a:r>
            <a:r>
              <a:rPr lang="en-US" sz="1400" b="1" dirty="0">
                <a:solidFill>
                  <a:srgbClr val="3C4855"/>
                </a:solidFill>
                <a:latin typeface="IBM Plex Sans" pitchFamily="34" charset="0"/>
                <a:ea typeface="IBM Plex Sans" pitchFamily="34" charset="-122"/>
                <a:cs typeface="IBM Plex Sans" pitchFamily="34" charset="-120"/>
              </a:rPr>
              <a:t>direction</a:t>
            </a:r>
            <a:r>
              <a:rPr lang="en-US" sz="1400" dirty="0">
                <a:solidFill>
                  <a:srgbClr val="3C4855"/>
                </a:solidFill>
                <a:latin typeface="IBM Plex Sans" pitchFamily="34" charset="0"/>
                <a:ea typeface="IBM Plex Sans" pitchFamily="34" charset="-122"/>
                <a:cs typeface="IBM Plex Sans" pitchFamily="34" charset="-120"/>
              </a:rPr>
              <a:t> set by the layer maps, regulating gradients. Which token carries it is secondary.</a:t>
            </a:r>
            <a:endParaRPr lang="en-US" sz="1400" dirty="0"/>
          </a:p>
        </p:txBody>
      </p:sp>
      <p:sp>
        <p:nvSpPr>
          <p:cNvPr id="19" name="Text 17"/>
          <p:cNvSpPr/>
          <p:nvPr/>
        </p:nvSpPr>
        <p:spPr>
          <a:xfrm>
            <a:off x="8238887" y="5168900"/>
            <a:ext cx="29807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Wang et al., ICML 2025 · </a:t>
            </a:r>
            <a:r>
              <a:rPr lang="en-US" sz="1200" u="sng" dirty="0">
                <a:solidFill>
                  <a:srgbClr val="6E7A8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2502.07004</a:t>
            </a:r>
            <a:endParaRPr lang="en-US" sz="1200" dirty="0"/>
          </a:p>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gradient sinks · </a:t>
            </a:r>
            <a:r>
              <a:rPr lang="en-US" sz="1200" u="sng" dirty="0">
                <a:solidFill>
                  <a:srgbClr val="6E7A86"/>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2603.17771</a:t>
            </a:r>
            <a:endParaRPr lang="en-US" sz="1200" dirty="0"/>
          </a:p>
        </p:txBody>
      </p:sp>
      <p:sp>
        <p:nvSpPr>
          <p:cNvPr id="20" name="Text 18"/>
          <p:cNvSpPr/>
          <p:nvPr/>
        </p:nvSpPr>
        <p:spPr>
          <a:xfrm>
            <a:off x="812800" y="6238239"/>
            <a:ext cx="62213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These make </a:t>
            </a:r>
            <a:r>
              <a:rPr lang="en-US" sz="1200" b="1" dirty="0">
                <a:solidFill>
                  <a:srgbClr val="6E7A86"/>
                </a:solidFill>
                <a:latin typeface="IBM Plex Sans" pitchFamily="34" charset="0"/>
                <a:ea typeface="IBM Plex Sans" pitchFamily="34" charset="-122"/>
                <a:cs typeface="IBM Plex Sans" pitchFamily="34" charset="-120"/>
              </a:rPr>
              <a:t>different, testable predictions</a:t>
            </a:r>
            <a:r>
              <a:rPr lang="en-US" sz="1200" dirty="0">
                <a:solidFill>
                  <a:srgbClr val="6E7A86"/>
                </a:solidFill>
                <a:latin typeface="IBM Plex Sans" pitchFamily="34" charset="0"/>
                <a:ea typeface="IBM Plex Sans" pitchFamily="34" charset="-122"/>
                <a:cs typeface="IBM Plex Sans" pitchFamily="34" charset="-120"/>
              </a:rPr>
              <a:t> about where a register lands — see slide 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E3"/>
        </a:solidFill>
      </p:bgPr>
    </p:bg>
    <p:spTree>
      <p:nvGrpSpPr>
        <p:cNvPr id="1" name=""/>
        <p:cNvGrpSpPr/>
        <p:nvPr/>
      </p:nvGrpSpPr>
      <p:grpSpPr>
        <a:xfrm>
          <a:off x="0" y="0"/>
          <a:ext cx="0" cy="0"/>
          <a:chOff x="0" y="0"/>
          <a:chExt cx="0" cy="0"/>
        </a:xfrm>
      </p:grpSpPr>
      <p:sp>
        <p:nvSpPr>
          <p:cNvPr id="2" name="Text 0"/>
          <p:cNvSpPr/>
          <p:nvPr/>
        </p:nvSpPr>
        <p:spPr>
          <a:xfrm>
            <a:off x="812800" y="812800"/>
            <a:ext cx="10883392" cy="217646"/>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0F6E7A"/>
                </a:solidFill>
                <a:latin typeface="IBM Plex Sans" pitchFamily="34" charset="0"/>
                <a:ea typeface="IBM Plex Sans" pitchFamily="34" charset="-122"/>
                <a:cs typeface="IBM Plex Sans" pitchFamily="34" charset="-120"/>
              </a:rPr>
              <a:t>WHY THE QUESTION IS STILL OPEN</a:t>
            </a:r>
            <a:endParaRPr lang="en-US" sz="1088" dirty="0"/>
          </a:p>
        </p:txBody>
      </p:sp>
      <p:sp>
        <p:nvSpPr>
          <p:cNvPr id="3" name="Text 1"/>
          <p:cNvSpPr/>
          <p:nvPr/>
        </p:nvSpPr>
        <p:spPr>
          <a:xfrm>
            <a:off x="812800" y="1106646"/>
            <a:ext cx="10883392" cy="486807"/>
          </a:xfrm>
          <a:prstGeom prst="rect">
            <a:avLst/>
          </a:prstGeom>
          <a:noFill/>
          <a:ln/>
        </p:spPr>
        <p:txBody>
          <a:bodyPr wrap="square" lIns="0" tIns="0" rIns="0" bIns="0" rtlCol="0" anchor="t">
            <a:normAutofit/>
          </a:bodyPr>
          <a:lstStyle/>
          <a:p>
            <a:pPr algn="l" indent="0" marL="0">
              <a:lnSpc>
                <a:spcPts val="3667"/>
              </a:lnSpc>
              <a:buNone/>
            </a:pPr>
            <a:r>
              <a:rPr lang="en-US" sz="3274" b="1" dirty="0">
                <a:solidFill>
                  <a:srgbClr val="12232B"/>
                </a:solidFill>
                <a:latin typeface="Source Serif 4" pitchFamily="34" charset="0"/>
                <a:ea typeface="Source Serif 4" pitchFamily="34" charset="-122"/>
                <a:cs typeface="Source Serif 4" pitchFamily="34" charset="-120"/>
              </a:rPr>
              <a:t>Why vision and language cannot separate them</a:t>
            </a:r>
            <a:endParaRPr lang="en-US" sz="3274" dirty="0"/>
          </a:p>
        </p:txBody>
      </p:sp>
      <p:sp>
        <p:nvSpPr>
          <p:cNvPr id="4" name="Shape 2"/>
          <p:cNvSpPr/>
          <p:nvPr/>
        </p:nvSpPr>
        <p:spPr>
          <a:xfrm>
            <a:off x="815975" y="1774428"/>
            <a:ext cx="5149850" cy="3240246"/>
          </a:xfrm>
          <a:prstGeom prst="roundRect">
            <a:avLst>
              <a:gd name="adj" fmla="val 2646"/>
            </a:avLst>
          </a:prstGeom>
          <a:solidFill>
            <a:srgbClr val="FAF8F4"/>
          </a:solidFill>
          <a:ln w="6350">
            <a:solidFill>
              <a:srgbClr val="D4CCBD"/>
            </a:solidFill>
            <a:prstDash val="solid"/>
          </a:ln>
        </p:spPr>
      </p:sp>
      <p:sp>
        <p:nvSpPr>
          <p:cNvPr id="5" name="Text 3"/>
          <p:cNvSpPr/>
          <p:nvPr/>
        </p:nvSpPr>
        <p:spPr>
          <a:xfrm>
            <a:off x="1059180" y="2017635"/>
            <a:ext cx="4803343" cy="203359"/>
          </a:xfrm>
          <a:prstGeom prst="rect">
            <a:avLst/>
          </a:prstGeom>
          <a:noFill/>
          <a:ln/>
        </p:spPr>
        <p:txBody>
          <a:bodyPr wrap="square" lIns="0" tIns="0" rIns="0" bIns="0" rtlCol="0" anchor="t">
            <a:normAutofit/>
          </a:bodyPr>
          <a:lstStyle/>
          <a:p>
            <a:pPr algn="l" indent="0" marL="0">
              <a:lnSpc>
                <a:spcPts val="1422"/>
              </a:lnSpc>
              <a:buNone/>
            </a:pPr>
            <a:r>
              <a:rPr lang="en-US" sz="1016" b="1" spc="100" kern="0" dirty="0">
                <a:solidFill>
                  <a:srgbClr val="0F6E7A"/>
                </a:solidFill>
                <a:latin typeface="IBM Plex Sans" pitchFamily="34" charset="0"/>
                <a:ea typeface="IBM Plex Sans" pitchFamily="34" charset="-122"/>
                <a:cs typeface="IBM Plex Sans" pitchFamily="34" charset="-120"/>
              </a:rPr>
              <a:t>IN VISION</a:t>
            </a:r>
            <a:endParaRPr lang="en-US" sz="1016" dirty="0"/>
          </a:p>
        </p:txBody>
      </p:sp>
      <p:sp>
        <p:nvSpPr>
          <p:cNvPr id="6" name="Shape 4"/>
          <p:cNvSpPr/>
          <p:nvPr/>
        </p:nvSpPr>
        <p:spPr>
          <a:xfrm>
            <a:off x="1059180" y="2335293"/>
            <a:ext cx="4663440" cy="1143000"/>
          </a:xfrm>
          <a:prstGeom prst="roundRect">
            <a:avLst>
              <a:gd name="adj" fmla="val 5556"/>
            </a:avLst>
          </a:prstGeom>
          <a:gradFill rotWithShape="1">
            <a:gsLst>
              <a:gs pos="0">
                <a:srgbClr val="8FB4CE"/>
              </a:gs>
              <a:gs pos="46000">
                <a:srgbClr val="B9D0DE"/>
              </a:gs>
              <a:gs pos="62000">
                <a:srgbClr val="DCE4E2"/>
              </a:gs>
              <a:gs pos="62000">
                <a:srgbClr val="7E8B6C"/>
              </a:gs>
              <a:gs pos="100000">
                <a:srgbClr val="66735A"/>
              </a:gs>
            </a:gsLst>
            <a:lin ang="5400000" scaled="0"/>
          </a:gradFill>
          <a:ln/>
        </p:spPr>
      </p:sp>
      <p:sp>
        <p:nvSpPr>
          <p:cNvPr id="7" name="Text 5"/>
          <p:cNvSpPr/>
          <p:nvPr/>
        </p:nvSpPr>
        <p:spPr>
          <a:xfrm>
            <a:off x="1059180" y="3617993"/>
            <a:ext cx="4803343" cy="245348"/>
          </a:xfrm>
          <a:prstGeom prst="rect">
            <a:avLst/>
          </a:prstGeom>
          <a:noFill/>
          <a:ln/>
        </p:spPr>
        <p:txBody>
          <a:bodyPr wrap="square" lIns="0" tIns="0" rIns="0" bIns="0" rtlCol="0" anchor="t">
            <a:normAutofit/>
          </a:bodyPr>
          <a:lstStyle/>
          <a:p>
            <a:pPr algn="l" indent="0" marL="0">
              <a:lnSpc>
                <a:spcPts val="1772"/>
              </a:lnSpc>
              <a:buNone/>
            </a:pPr>
            <a:r>
              <a:rPr lang="en-US" sz="1418" b="1" dirty="0">
                <a:solidFill>
                  <a:srgbClr val="12232B"/>
                </a:solidFill>
                <a:latin typeface="Source Serif 4" pitchFamily="34" charset="0"/>
                <a:ea typeface="Source Serif 4" pitchFamily="34" charset="-122"/>
                <a:cs typeface="Source Serif 4" pitchFamily="34" charset="-120"/>
              </a:rPr>
              <a:t>“Empty sky” is not empty</a:t>
            </a:r>
            <a:endParaRPr lang="en-US" sz="1418" dirty="0"/>
          </a:p>
        </p:txBody>
      </p:sp>
      <p:sp>
        <p:nvSpPr>
          <p:cNvPr id="8" name="Text 6"/>
          <p:cNvSpPr/>
          <p:nvPr/>
        </p:nvSpPr>
        <p:spPr>
          <a:xfrm>
            <a:off x="1059180" y="3977639"/>
            <a:ext cx="4803343" cy="819229"/>
          </a:xfrm>
          <a:prstGeom prst="rect">
            <a:avLst/>
          </a:prstGeom>
          <a:noFill/>
          <a:ln/>
        </p:spPr>
        <p:txBody>
          <a:bodyPr wrap="square" lIns="0" tIns="0" rIns="0" bIns="0" rtlCol="0" anchor="t">
            <a:normAutofit/>
          </a:bodyPr>
          <a:lstStyle/>
          <a:p>
            <a:pPr algn="l" indent="0" marL="0">
              <a:lnSpc>
                <a:spcPts val="1922"/>
              </a:lnSpc>
              <a:buNone/>
            </a:pPr>
            <a:r>
              <a:rPr lang="en-US" sz="1326" dirty="0">
                <a:solidFill>
                  <a:srgbClr val="3C4855"/>
                </a:solidFill>
                <a:latin typeface="IBM Plex Sans" pitchFamily="34" charset="0"/>
                <a:ea typeface="IBM Plex Sans" pitchFamily="34" charset="-122"/>
                <a:cs typeface="IBM Plex Sans" pitchFamily="34" charset="-120"/>
              </a:rPr>
              <a:t>A blank-looking patch still carries gradient, grain and colour. There is no region of an image you can make </a:t>
            </a:r>
            <a:r>
              <a:rPr lang="en-US" sz="1326" i="1" dirty="0">
                <a:solidFill>
                  <a:srgbClr val="3C4855"/>
                </a:solidFill>
                <a:latin typeface="IBM Plex Sans" pitchFamily="34" charset="0"/>
                <a:ea typeface="IBM Plex Sans" pitchFamily="34" charset="-122"/>
                <a:cs typeface="IBM Plex Sans" pitchFamily="34" charset="-120"/>
              </a:rPr>
              <a:t>genuinely</a:t>
            </a:r>
            <a:r>
              <a:rPr lang="en-US" sz="1326" dirty="0">
                <a:solidFill>
                  <a:srgbClr val="3C4855"/>
                </a:solidFill>
                <a:latin typeface="IBM Plex Sans" pitchFamily="34" charset="0"/>
                <a:ea typeface="IBM Plex Sans" pitchFamily="34" charset="-122"/>
                <a:cs typeface="IBM Plex Sans" pitchFamily="34" charset="-120"/>
              </a:rPr>
              <a:t> information-free, and no way to move one around on demand.</a:t>
            </a:r>
            <a:endParaRPr lang="en-US" sz="1326" dirty="0"/>
          </a:p>
        </p:txBody>
      </p:sp>
      <p:sp>
        <p:nvSpPr>
          <p:cNvPr id="9" name="Shape 7"/>
          <p:cNvSpPr/>
          <p:nvPr/>
        </p:nvSpPr>
        <p:spPr>
          <a:xfrm>
            <a:off x="6226175" y="1774428"/>
            <a:ext cx="5149850" cy="3240246"/>
          </a:xfrm>
          <a:prstGeom prst="roundRect">
            <a:avLst>
              <a:gd name="adj" fmla="val 2646"/>
            </a:avLst>
          </a:prstGeom>
          <a:solidFill>
            <a:srgbClr val="FAF8F4"/>
          </a:solidFill>
          <a:ln w="6350">
            <a:solidFill>
              <a:srgbClr val="D4CCBD"/>
            </a:solidFill>
            <a:prstDash val="solid"/>
          </a:ln>
        </p:spPr>
      </p:sp>
      <p:sp>
        <p:nvSpPr>
          <p:cNvPr id="10" name="Text 8"/>
          <p:cNvSpPr/>
          <p:nvPr/>
        </p:nvSpPr>
        <p:spPr>
          <a:xfrm>
            <a:off x="6469380" y="2017635"/>
            <a:ext cx="4803343" cy="238839"/>
          </a:xfrm>
          <a:prstGeom prst="rect">
            <a:avLst/>
          </a:prstGeom>
          <a:noFill/>
          <a:ln/>
        </p:spPr>
        <p:txBody>
          <a:bodyPr wrap="square" lIns="0" tIns="0" rIns="0" bIns="0" rtlCol="0" anchor="t">
            <a:normAutofit/>
          </a:bodyPr>
          <a:lstStyle/>
          <a:p>
            <a:pPr algn="l" indent="0" marL="0">
              <a:lnSpc>
                <a:spcPts val="1723"/>
              </a:lnSpc>
              <a:buNone/>
            </a:pPr>
            <a:r>
              <a:rPr lang="en-US" sz="1231" b="1" spc="100" kern="0" dirty="0">
                <a:solidFill>
                  <a:srgbClr val="0F6E7A"/>
                </a:solidFill>
                <a:latin typeface="IBM Plex Sans" pitchFamily="34" charset="0"/>
                <a:ea typeface="IBM Plex Sans" pitchFamily="34" charset="-122"/>
                <a:cs typeface="IBM Plex Sans" pitchFamily="34" charset="-120"/>
              </a:rPr>
              <a:t>IN LANGUAGE</a:t>
            </a:r>
            <a:endParaRPr lang="en-US" sz="1231" dirty="0"/>
          </a:p>
        </p:txBody>
      </p:sp>
      <p:sp>
        <p:nvSpPr>
          <p:cNvPr id="11" name="Text 9"/>
          <p:cNvSpPr/>
          <p:nvPr/>
        </p:nvSpPr>
        <p:spPr>
          <a:xfrm>
            <a:off x="6469380" y="2669223"/>
            <a:ext cx="952500" cy="546100"/>
          </a:xfrm>
          <a:custGeom>
            <a:avLst/>
            <a:gdLst/>
            <a:ahLst/>
            <a:cxnLst/>
            <a:rect l="l" t="t" r="r" b="b"/>
            <a:pathLst>
              <a:path w="952500" h="546100">
                <a:moveTo>
                  <a:pt x="50800" y="0"/>
                </a:moveTo>
                <a:lnTo>
                  <a:pt x="901700" y="0"/>
                </a:lnTo>
                <a:arcTo hR="50800" wR="50800" stAng="16200000" swAng="5400000"/>
                <a:lnTo>
                  <a:pt x="952500" y="495300"/>
                </a:lnTo>
                <a:arcTo hR="50800" wR="50800" stAng="0" swAng="5400000"/>
                <a:lnTo>
                  <a:pt x="50800" y="546100"/>
                </a:lnTo>
                <a:arcTo hR="50800" wR="50800" stAng="5400000" swAng="5400000"/>
                <a:lnTo>
                  <a:pt x="0" y="50800"/>
                </a:lnTo>
                <a:arcTo hR="50800" wR="50800" stAng="10800000" swAng="5400000"/>
                <a:close/>
              </a:path>
            </a:pathLst>
          </a:custGeom>
          <a:solidFill>
            <a:srgbClr val="C2601C"/>
          </a:solidFill>
          <a:ln/>
        </p:spPr>
        <p:txBody>
          <a:bodyPr wrap="square" lIns="0" tIns="0" rIns="0" bIns="0" rtlCol="0" anchor="ctr">
            <a:normAutofit/>
          </a:bodyPr>
          <a:lstStyle/>
          <a:p>
            <a:pPr algn="ctr" indent="0" marL="0">
              <a:lnSpc>
                <a:spcPts val="1820"/>
              </a:lnSpc>
              <a:buNone/>
            </a:pPr>
            <a:r>
              <a:rPr lang="en-US" sz="1300" b="1" dirty="0">
                <a:solidFill>
                  <a:srgbClr val="FAF8F4"/>
                </a:solidFill>
                <a:latin typeface="IBM Plex Sans" pitchFamily="34" charset="0"/>
                <a:ea typeface="IBM Plex Sans" pitchFamily="34" charset="-122"/>
                <a:cs typeface="IBM Plex Sans" pitchFamily="34" charset="-120"/>
              </a:rPr>
              <a:t>BOS</a:t>
            </a:r>
            <a:endParaRPr lang="en-US" sz="1300" dirty="0"/>
          </a:p>
        </p:txBody>
      </p:sp>
      <p:sp>
        <p:nvSpPr>
          <p:cNvPr id="12" name="Text 10"/>
          <p:cNvSpPr/>
          <p:nvPr/>
        </p:nvSpPr>
        <p:spPr>
          <a:xfrm>
            <a:off x="7513955" y="2672398"/>
            <a:ext cx="1141730" cy="539750"/>
          </a:xfrm>
          <a:custGeom>
            <a:avLst/>
            <a:gdLst/>
            <a:ahLst/>
            <a:cxnLst/>
            <a:rect l="l" t="t" r="r" b="b"/>
            <a:pathLst>
              <a:path w="1141730" h="539750">
                <a:moveTo>
                  <a:pt x="47625" y="0"/>
                </a:moveTo>
                <a:lnTo>
                  <a:pt x="1094105" y="0"/>
                </a:lnTo>
                <a:arcTo hR="47625" wR="47625" stAng="16200000" swAng="5400000"/>
                <a:lnTo>
                  <a:pt x="1141730" y="492125"/>
                </a:lnTo>
                <a:arcTo hR="47625" wR="47625" stAng="0" swAng="5400000"/>
                <a:lnTo>
                  <a:pt x="47625" y="539750"/>
                </a:lnTo>
                <a:arcTo hR="47625" wR="47625" stAng="5400000" swAng="5400000"/>
                <a:lnTo>
                  <a:pt x="0" y="47625"/>
                </a:lnTo>
                <a:arcTo hR="47625" wR="47625" stAng="10800000" swAng="5400000"/>
                <a:close/>
              </a:path>
            </a:pathLst>
          </a:custGeom>
          <a:solidFill>
            <a:srgbClr val="E4DDD1"/>
          </a:solidFill>
          <a:ln w="6350">
            <a:solidFill>
              <a:srgbClr val="D4CCBD"/>
            </a:solidFill>
            <a:prstDash val="solid"/>
          </a:ln>
        </p:spPr>
        <p:txBody>
          <a:bodyPr wrap="square" lIns="0" tIns="1905" rIns="1" bIns="1905" rtlCol="0" anchor="ctr">
            <a:normAutofit/>
          </a:bodyPr>
          <a:lstStyle/>
          <a:p>
            <a:pPr algn="ctr" indent="0" marL="0">
              <a:lnSpc>
                <a:spcPts val="1820"/>
              </a:lnSpc>
              <a:buNone/>
            </a:pPr>
            <a:r>
              <a:rPr lang="en-US" sz="1300" dirty="0">
                <a:solidFill>
                  <a:srgbClr val="5D6874"/>
                </a:solidFill>
                <a:latin typeface="IBM Plex Sans" pitchFamily="34" charset="0"/>
                <a:ea typeface="IBM Plex Sans" pitchFamily="34" charset="-122"/>
                <a:cs typeface="IBM Plex Sans" pitchFamily="34" charset="-120"/>
              </a:rPr>
              <a:t>the</a:t>
            </a:r>
            <a:endParaRPr lang="en-US" sz="1300" dirty="0"/>
          </a:p>
        </p:txBody>
      </p:sp>
      <p:sp>
        <p:nvSpPr>
          <p:cNvPr id="13" name="Text 11"/>
          <p:cNvSpPr/>
          <p:nvPr/>
        </p:nvSpPr>
        <p:spPr>
          <a:xfrm>
            <a:off x="8750935" y="2672398"/>
            <a:ext cx="1141730" cy="539750"/>
          </a:xfrm>
          <a:custGeom>
            <a:avLst/>
            <a:gdLst/>
            <a:ahLst/>
            <a:cxnLst/>
            <a:rect l="l" t="t" r="r" b="b"/>
            <a:pathLst>
              <a:path w="1141730" h="539750">
                <a:moveTo>
                  <a:pt x="47625" y="0"/>
                </a:moveTo>
                <a:lnTo>
                  <a:pt x="1094105" y="0"/>
                </a:lnTo>
                <a:arcTo hR="47625" wR="47625" stAng="16200000" swAng="5400000"/>
                <a:lnTo>
                  <a:pt x="1141730" y="492125"/>
                </a:lnTo>
                <a:arcTo hR="47625" wR="47625" stAng="0" swAng="5400000"/>
                <a:lnTo>
                  <a:pt x="47625" y="539750"/>
                </a:lnTo>
                <a:arcTo hR="47625" wR="47625" stAng="5400000" swAng="5400000"/>
                <a:lnTo>
                  <a:pt x="0" y="47625"/>
                </a:lnTo>
                <a:arcTo hR="47625" wR="47625" stAng="10800000" swAng="5400000"/>
                <a:close/>
              </a:path>
            </a:pathLst>
          </a:custGeom>
          <a:solidFill>
            <a:srgbClr val="E4DDD1"/>
          </a:solidFill>
          <a:ln w="6350">
            <a:solidFill>
              <a:srgbClr val="D4CCBD"/>
            </a:solidFill>
            <a:prstDash val="solid"/>
          </a:ln>
        </p:spPr>
        <p:txBody>
          <a:bodyPr wrap="square" lIns="1" tIns="1905" rIns="0" bIns="1905" rtlCol="0" anchor="ctr">
            <a:normAutofit/>
          </a:bodyPr>
          <a:lstStyle/>
          <a:p>
            <a:pPr algn="ctr" indent="0" marL="0">
              <a:lnSpc>
                <a:spcPts val="1820"/>
              </a:lnSpc>
              <a:buNone/>
            </a:pPr>
            <a:r>
              <a:rPr lang="en-US" sz="1300" dirty="0">
                <a:solidFill>
                  <a:srgbClr val="5D6874"/>
                </a:solidFill>
                <a:latin typeface="IBM Plex Sans" pitchFamily="34" charset="0"/>
                <a:ea typeface="IBM Plex Sans" pitchFamily="34" charset="-122"/>
                <a:cs typeface="IBM Plex Sans" pitchFamily="34" charset="-120"/>
              </a:rPr>
              <a:t>cat</a:t>
            </a:r>
            <a:endParaRPr lang="en-US" sz="1300" dirty="0"/>
          </a:p>
        </p:txBody>
      </p:sp>
      <p:sp>
        <p:nvSpPr>
          <p:cNvPr id="14" name="Text 12"/>
          <p:cNvSpPr/>
          <p:nvPr/>
        </p:nvSpPr>
        <p:spPr>
          <a:xfrm>
            <a:off x="9987915" y="2672398"/>
            <a:ext cx="1141730" cy="539750"/>
          </a:xfrm>
          <a:custGeom>
            <a:avLst/>
            <a:gdLst/>
            <a:ahLst/>
            <a:cxnLst/>
            <a:rect l="l" t="t" r="r" b="b"/>
            <a:pathLst>
              <a:path w="1141730" h="539750">
                <a:moveTo>
                  <a:pt x="47625" y="0"/>
                </a:moveTo>
                <a:lnTo>
                  <a:pt x="1094105" y="0"/>
                </a:lnTo>
                <a:arcTo hR="47625" wR="47625" stAng="16200000" swAng="5400000"/>
                <a:lnTo>
                  <a:pt x="1141730" y="492125"/>
                </a:lnTo>
                <a:arcTo hR="47625" wR="47625" stAng="0" swAng="5400000"/>
                <a:lnTo>
                  <a:pt x="47625" y="539750"/>
                </a:lnTo>
                <a:arcTo hR="47625" wR="47625" stAng="5400000" swAng="5400000"/>
                <a:lnTo>
                  <a:pt x="0" y="47625"/>
                </a:lnTo>
                <a:arcTo hR="47625" wR="47625" stAng="10800000" swAng="5400000"/>
                <a:close/>
              </a:path>
            </a:pathLst>
          </a:custGeom>
          <a:solidFill>
            <a:srgbClr val="E4DDD1"/>
          </a:solidFill>
          <a:ln w="6350">
            <a:solidFill>
              <a:srgbClr val="D4CCBD"/>
            </a:solidFill>
            <a:prstDash val="solid"/>
          </a:ln>
        </p:spPr>
        <p:txBody>
          <a:bodyPr wrap="square" lIns="1" tIns="1905" rIns="0" bIns="1905" rtlCol="0" anchor="ctr">
            <a:normAutofit/>
          </a:bodyPr>
          <a:lstStyle/>
          <a:p>
            <a:pPr algn="ctr" indent="0" marL="0">
              <a:lnSpc>
                <a:spcPts val="1820"/>
              </a:lnSpc>
              <a:buNone/>
            </a:pPr>
            <a:r>
              <a:rPr lang="en-US" sz="1300" dirty="0">
                <a:solidFill>
                  <a:srgbClr val="5D6874"/>
                </a:solidFill>
                <a:latin typeface="IBM Plex Sans" pitchFamily="34" charset="0"/>
                <a:ea typeface="IBM Plex Sans" pitchFamily="34" charset="-122"/>
                <a:cs typeface="IBM Plex Sans" pitchFamily="34" charset="-120"/>
              </a:rPr>
              <a:t>sat</a:t>
            </a:r>
            <a:endParaRPr lang="en-US" sz="1300" dirty="0"/>
          </a:p>
        </p:txBody>
      </p:sp>
      <p:sp>
        <p:nvSpPr>
          <p:cNvPr id="15" name="Text 13"/>
          <p:cNvSpPr/>
          <p:nvPr/>
        </p:nvSpPr>
        <p:spPr>
          <a:xfrm>
            <a:off x="6469380" y="3653473"/>
            <a:ext cx="4803343" cy="289322"/>
          </a:xfrm>
          <a:prstGeom prst="rect">
            <a:avLst/>
          </a:prstGeom>
          <a:noFill/>
          <a:ln/>
        </p:spPr>
        <p:txBody>
          <a:bodyPr wrap="square" lIns="0" tIns="0" rIns="0" bIns="0" rtlCol="0" anchor="t">
            <a:normAutofit/>
          </a:bodyPr>
          <a:lstStyle/>
          <a:p>
            <a:pPr algn="l" indent="0" marL="0">
              <a:lnSpc>
                <a:spcPts val="2123"/>
              </a:lnSpc>
              <a:buNone/>
            </a:pPr>
            <a:r>
              <a:rPr lang="en-US" sz="1699" b="1" dirty="0">
                <a:solidFill>
                  <a:srgbClr val="12232B"/>
                </a:solidFill>
                <a:latin typeface="Source Serif 4" pitchFamily="34" charset="0"/>
                <a:ea typeface="Source Serif 4" pitchFamily="34" charset="-122"/>
                <a:cs typeface="Source Serif 4" pitchFamily="34" charset="-120"/>
              </a:rPr>
              <a:t>BOS is empty </a:t>
            </a:r>
            <a:r>
              <a:rPr lang="en-US" sz="1699" b="1" i="1" dirty="0">
                <a:solidFill>
                  <a:srgbClr val="12232B"/>
                </a:solidFill>
                <a:latin typeface="Source Serif 4" pitchFamily="34" charset="0"/>
                <a:ea typeface="Source Serif 4" pitchFamily="34" charset="-122"/>
                <a:cs typeface="Source Serif 4" pitchFamily="34" charset="-120"/>
              </a:rPr>
              <a:t>and</a:t>
            </a:r>
            <a:r>
              <a:rPr lang="en-US" sz="1699" b="1" dirty="0">
                <a:solidFill>
                  <a:srgbClr val="12232B"/>
                </a:solidFill>
                <a:latin typeface="Source Serif 4" pitchFamily="34" charset="0"/>
                <a:ea typeface="Source Serif 4" pitchFamily="34" charset="-122"/>
                <a:cs typeface="Source Serif 4" pitchFamily="34" charset="-120"/>
              </a:rPr>
              <a:t> first</a:t>
            </a:r>
            <a:endParaRPr lang="en-US" sz="1699" dirty="0"/>
          </a:p>
        </p:txBody>
      </p:sp>
      <p:sp>
        <p:nvSpPr>
          <p:cNvPr id="16" name="Text 14"/>
          <p:cNvSpPr/>
          <p:nvPr/>
        </p:nvSpPr>
        <p:spPr>
          <a:xfrm>
            <a:off x="6469380" y="4057095"/>
            <a:ext cx="4803343" cy="739775"/>
          </a:xfrm>
          <a:prstGeom prst="rect">
            <a:avLst/>
          </a:prstGeom>
          <a:noFill/>
          <a:ln/>
        </p:spPr>
        <p:txBody>
          <a:bodyPr wrap="square" lIns="0" tIns="0" rIns="0" bIns="0" rtlCol="0" anchor="t">
            <a:normAutofit/>
          </a:bodyPr>
          <a:lstStyle/>
          <a:p>
            <a:pPr algn="l" indent="0" marL="0">
              <a:lnSpc>
                <a:spcPts val="1890"/>
              </a:lnSpc>
              <a:buNone/>
            </a:pPr>
            <a:r>
              <a:rPr lang="en-US" sz="1304" dirty="0">
                <a:solidFill>
                  <a:srgbClr val="3C4855"/>
                </a:solidFill>
                <a:latin typeface="IBM Plex Sans" pitchFamily="34" charset="0"/>
                <a:ea typeface="IBM Plex Sans" pitchFamily="34" charset="-122"/>
                <a:cs typeface="IBM Plex Sans" pitchFamily="34" charset="-120"/>
              </a:rPr>
              <a:t>The one token with no content is also the one token at a fixed index. Emptiness and position are the </a:t>
            </a:r>
            <a:r>
              <a:rPr lang="en-US" sz="1304" b="1" dirty="0">
                <a:solidFill>
                  <a:srgbClr val="3C4855"/>
                </a:solidFill>
                <a:latin typeface="IBM Plex Sans" pitchFamily="34" charset="0"/>
                <a:ea typeface="IBM Plex Sans" pitchFamily="34" charset="-122"/>
                <a:cs typeface="IBM Plex Sans" pitchFamily="34" charset="-120"/>
              </a:rPr>
              <a:t>same variable</a:t>
            </a:r>
            <a:r>
              <a:rPr lang="en-US" sz="1304" dirty="0">
                <a:solidFill>
                  <a:srgbClr val="3C4855"/>
                </a:solidFill>
                <a:latin typeface="IBM Plex Sans" pitchFamily="34" charset="0"/>
                <a:ea typeface="IBM Plex Sans" pitchFamily="34" charset="-122"/>
                <a:cs typeface="IBM Plex Sans" pitchFamily="34" charset="-120"/>
              </a:rPr>
              <a:t>. You cannot vary one and hold the other.</a:t>
            </a:r>
            <a:endParaRPr lang="en-US" sz="1304" dirty="0"/>
          </a:p>
        </p:txBody>
      </p:sp>
      <p:sp>
        <p:nvSpPr>
          <p:cNvPr id="17" name="Shape 15"/>
          <p:cNvSpPr/>
          <p:nvPr/>
        </p:nvSpPr>
        <p:spPr>
          <a:xfrm>
            <a:off x="831850" y="5221049"/>
            <a:ext cx="0" cy="620951"/>
          </a:xfrm>
          <a:prstGeom prst="line">
            <a:avLst/>
          </a:prstGeom>
          <a:noFill/>
          <a:ln w="38100">
            <a:solidFill>
              <a:srgbClr val="C2601C"/>
            </a:solidFill>
            <a:prstDash val="solid"/>
          </a:ln>
        </p:spPr>
      </p:sp>
      <p:sp>
        <p:nvSpPr>
          <p:cNvPr id="18" name="Text 16"/>
          <p:cNvSpPr/>
          <p:nvPr/>
        </p:nvSpPr>
        <p:spPr>
          <a:xfrm>
            <a:off x="1038860" y="5259149"/>
            <a:ext cx="10650550" cy="570151"/>
          </a:xfrm>
          <a:prstGeom prst="rect">
            <a:avLst/>
          </a:prstGeom>
          <a:noFill/>
          <a:ln/>
        </p:spPr>
        <p:txBody>
          <a:bodyPr wrap="square" lIns="0" tIns="0" rIns="0" bIns="0" rtlCol="0" anchor="t">
            <a:normAutofit/>
          </a:bodyPr>
          <a:lstStyle/>
          <a:p>
            <a:pPr algn="l" indent="0" marL="0">
              <a:lnSpc>
                <a:spcPts val="2157"/>
              </a:lnSpc>
              <a:buNone/>
            </a:pPr>
            <a:r>
              <a:rPr lang="en-US" sz="1541" dirty="0">
                <a:solidFill>
                  <a:srgbClr val="12232B"/>
                </a:solidFill>
                <a:latin typeface="IBM Plex Sans" pitchFamily="34" charset="0"/>
                <a:ea typeface="IBM Plex Sans" pitchFamily="34" charset="-122"/>
                <a:cs typeface="IBM Plex Sans" pitchFamily="34" charset="-120"/>
              </a:rPr>
              <a:t>To decide between content and position you need a region that is </a:t>
            </a:r>
            <a:r>
              <a:rPr lang="en-US" sz="1541" b="1" dirty="0">
                <a:solidFill>
                  <a:srgbClr val="12232B"/>
                </a:solidFill>
                <a:latin typeface="IBM Plex Sans" pitchFamily="34" charset="0"/>
                <a:ea typeface="IBM Plex Sans" pitchFamily="34" charset="-122"/>
                <a:cs typeface="IBM Plex Sans" pitchFamily="34" charset="-120"/>
              </a:rPr>
              <a:t>genuinely empty</a:t>
            </a:r>
            <a:r>
              <a:rPr lang="en-US" sz="1541" dirty="0">
                <a:solidFill>
                  <a:srgbClr val="12232B"/>
                </a:solidFill>
                <a:latin typeface="IBM Plex Sans" pitchFamily="34" charset="0"/>
                <a:ea typeface="IBM Plex Sans" pitchFamily="34" charset="-122"/>
                <a:cs typeface="IBM Plex Sans" pitchFamily="34" charset="-120"/>
              </a:rPr>
              <a:t> and that you can </a:t>
            </a:r>
            <a:r>
              <a:rPr lang="en-US" sz="1541" b="1" dirty="0">
                <a:solidFill>
                  <a:srgbClr val="12232B"/>
                </a:solidFill>
                <a:latin typeface="IBM Plex Sans" pitchFamily="34" charset="0"/>
                <a:ea typeface="IBM Plex Sans" pitchFamily="34" charset="-122"/>
                <a:cs typeface="IBM Plex Sans" pitchFamily="34" charset="-120"/>
              </a:rPr>
              <a:t>move at will</a:t>
            </a:r>
            <a:r>
              <a:rPr lang="en-US" sz="1541" dirty="0">
                <a:solidFill>
                  <a:srgbClr val="12232B"/>
                </a:solidFill>
                <a:latin typeface="IBM Plex Sans" pitchFamily="34" charset="0"/>
                <a:ea typeface="IBM Plex Sans" pitchFamily="34" charset="-122"/>
                <a:cs typeface="IBM Plex Sans" pitchFamily="34" charset="-120"/>
              </a:rPr>
              <a:t>. Neither modality has one.</a:t>
            </a:r>
            <a:endParaRPr lang="en-US" sz="154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944A"/>
                </a:solidFill>
                <a:latin typeface="IBM Plex Sans" pitchFamily="34" charset="0"/>
                <a:ea typeface="IBM Plex Sans" pitchFamily="34" charset="-122"/>
                <a:cs typeface="IBM Plex Sans" pitchFamily="34" charset="-120"/>
              </a:rPr>
              <a:t>OUR INSTRUMENT</a:t>
            </a:r>
            <a:endParaRPr lang="en-US" sz="1200" dirty="0"/>
          </a:p>
        </p:txBody>
      </p:sp>
      <p:sp>
        <p:nvSpPr>
          <p:cNvPr id="3" name="Text 1"/>
          <p:cNvSpPr/>
          <p:nvPr/>
        </p:nvSpPr>
        <p:spPr>
          <a:xfrm>
            <a:off x="812800" y="1127761"/>
            <a:ext cx="10883392" cy="537448"/>
          </a:xfrm>
          <a:prstGeom prst="rect">
            <a:avLst/>
          </a:prstGeom>
          <a:noFill/>
          <a:ln/>
        </p:spPr>
        <p:txBody>
          <a:bodyPr wrap="square" lIns="0" tIns="0" rIns="0" bIns="0" rtlCol="0" anchor="t">
            <a:normAutofit/>
          </a:bodyPr>
          <a:lstStyle/>
          <a:p>
            <a:pPr algn="l" indent="0" marL="0">
              <a:lnSpc>
                <a:spcPts val="4032"/>
              </a:lnSpc>
              <a:buNone/>
            </a:pPr>
            <a:r>
              <a:rPr lang="en-US" sz="3600" b="1" dirty="0">
                <a:solidFill>
                  <a:srgbClr val="FAF8F4"/>
                </a:solidFill>
                <a:latin typeface="Source Serif 4" pitchFamily="34" charset="0"/>
                <a:ea typeface="Source Serif 4" pitchFamily="34" charset="-122"/>
                <a:cs typeface="Source Serif 4" pitchFamily="34" charset="-120"/>
              </a:rPr>
              <a:t>Audio separates them by construction</a:t>
            </a:r>
            <a:endParaRPr lang="en-US" sz="3600" dirty="0"/>
          </a:p>
        </p:txBody>
      </p:sp>
      <p:sp>
        <p:nvSpPr>
          <p:cNvPr id="4" name="Text 2"/>
          <p:cNvSpPr/>
          <p:nvPr/>
        </p:nvSpPr>
        <p:spPr>
          <a:xfrm>
            <a:off x="812800" y="1741410"/>
            <a:ext cx="94183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A9C2C8"/>
                </a:solidFill>
                <a:latin typeface="IBM Plex Sans" pitchFamily="34" charset="0"/>
                <a:ea typeface="IBM Plex Sans" pitchFamily="34" charset="-122"/>
                <a:cs typeface="IBM Plex Sans" pitchFamily="34" charset="-120"/>
              </a:rPr>
              <a:t>Whisper's encoder is contractually fed a </a:t>
            </a:r>
            <a:r>
              <a:rPr lang="en-US" sz="1500" b="1" dirty="0">
                <a:solidFill>
                  <a:srgbClr val="A9C2C8"/>
                </a:solidFill>
                <a:latin typeface="IBM Plex Sans" pitchFamily="34" charset="0"/>
                <a:ea typeface="IBM Plex Sans" pitchFamily="34" charset="-122"/>
                <a:cs typeface="IBM Plex Sans" pitchFamily="34" charset="-120"/>
              </a:rPr>
              <a:t>30-second</a:t>
            </a:r>
            <a:r>
              <a:rPr lang="en-US" sz="1500" dirty="0">
                <a:solidFill>
                  <a:srgbClr val="A9C2C8"/>
                </a:solidFill>
                <a:latin typeface="IBM Plex Sans" pitchFamily="34" charset="0"/>
                <a:ea typeface="IBM Plex Sans" pitchFamily="34" charset="-122"/>
                <a:cs typeface="IBM Plex Sans" pitchFamily="34" charset="-120"/>
              </a:rPr>
              <a:t> mel window. A short clip arrives padded with tens of seconds of exactly constant input — and we choose how much, and where.</a:t>
            </a:r>
            <a:endParaRPr lang="en-US" sz="1500" dirty="0"/>
          </a:p>
        </p:txBody>
      </p:sp>
      <p:sp>
        <p:nvSpPr>
          <p:cNvPr id="5" name="Text 3"/>
          <p:cNvSpPr/>
          <p:nvPr/>
        </p:nvSpPr>
        <p:spPr>
          <a:xfrm>
            <a:off x="812800" y="2903299"/>
            <a:ext cx="1447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A5AC"/>
                </a:solidFill>
                <a:latin typeface="IBM Plex Sans" pitchFamily="34" charset="0"/>
                <a:ea typeface="IBM Plex Sans" pitchFamily="34" charset="-122"/>
                <a:cs typeface="IBM Plex Sans" pitchFamily="34" charset="-120"/>
              </a:rPr>
              <a:t>pad at end</a:t>
            </a:r>
            <a:endParaRPr lang="en-US" sz="1300" dirty="0"/>
          </a:p>
        </p:txBody>
      </p:sp>
      <p:sp>
        <p:nvSpPr>
          <p:cNvPr id="6" name="Text 4"/>
          <p:cNvSpPr/>
          <p:nvPr/>
        </p:nvSpPr>
        <p:spPr>
          <a:xfrm>
            <a:off x="2336800" y="2783920"/>
            <a:ext cx="1479550" cy="469900"/>
          </a:xfrm>
          <a:custGeom>
            <a:avLst/>
            <a:gdLst/>
            <a:ahLst/>
            <a:cxnLst/>
            <a:rect l="l" t="t" r="r" b="b"/>
            <a:pathLst>
              <a:path w="1479550" h="469900">
                <a:moveTo>
                  <a:pt x="0" y="50800"/>
                </a:moveTo>
                <a:arcTo hR="50800" wR="50800" stAng="10800000" swAng="5400000"/>
                <a:lnTo>
                  <a:pt x="1479550" y="0"/>
                </a:lnTo>
                <a:lnTo>
                  <a:pt x="1479550" y="469900"/>
                </a:lnTo>
                <a:lnTo>
                  <a:pt x="50800" y="469900"/>
                </a:lnTo>
                <a:arcTo hR="50800" wR="50800" stAng="5400000" swAng="5400000"/>
                <a:close/>
              </a:path>
            </a:pathLst>
          </a:custGeom>
          <a:solidFill>
            <a:srgbClr val="5FB3C0"/>
          </a:solidFill>
          <a:ln/>
        </p:spPr>
        <p:txBody>
          <a:bodyPr wrap="square" lIns="0" tIns="0" rIns="0" bIns="0" rtlCol="0" anchor="ctr">
            <a:normAutofit/>
          </a:bodyPr>
          <a:lstStyle/>
          <a:p>
            <a:pPr algn="ctr" indent="0" marL="0">
              <a:lnSpc>
                <a:spcPts val="1680"/>
              </a:lnSpc>
              <a:buNone/>
            </a:pPr>
            <a:r>
              <a:rPr lang="en-US" sz="1200" b="1" dirty="0">
                <a:solidFill>
                  <a:srgbClr val="0B2027"/>
                </a:solidFill>
                <a:latin typeface="IBM Plex Sans" pitchFamily="34" charset="0"/>
                <a:ea typeface="IBM Plex Sans" pitchFamily="34" charset="-122"/>
                <a:cs typeface="IBM Plex Sans" pitchFamily="34" charset="-120"/>
              </a:rPr>
              <a:t>5 s speech</a:t>
            </a:r>
            <a:endParaRPr lang="en-US" sz="1200" dirty="0"/>
          </a:p>
        </p:txBody>
      </p:sp>
      <p:sp>
        <p:nvSpPr>
          <p:cNvPr id="7" name="Text 5"/>
          <p:cNvSpPr/>
          <p:nvPr/>
        </p:nvSpPr>
        <p:spPr>
          <a:xfrm>
            <a:off x="3822700" y="2790270"/>
            <a:ext cx="7397750" cy="457200"/>
          </a:xfrm>
          <a:custGeom>
            <a:avLst/>
            <a:gdLst/>
            <a:ahLst/>
            <a:cxnLst/>
            <a:rect l="l" t="t" r="r" b="b"/>
            <a:pathLst>
              <a:path w="7397750" h="457200">
                <a:moveTo>
                  <a:pt x="7353300" y="0"/>
                </a:moveTo>
                <a:arcTo hR="44450" wR="44450" stAng="16200000" swAng="5400000"/>
                <a:lnTo>
                  <a:pt x="7397750" y="412750"/>
                </a:lnTo>
                <a:arcTo hR="44450" wR="44450" stAng="0" swAng="5400000"/>
                <a:lnTo>
                  <a:pt x="0" y="457200"/>
                </a:lnTo>
                <a:lnTo>
                  <a:pt x="0" y="0"/>
                </a:lnTo>
                <a:close/>
              </a:path>
            </a:pathLst>
          </a:custGeom>
          <a:solidFill>
            <a:srgbClr val="23343D"/>
          </a:solidFill>
          <a:ln w="12700">
            <a:solidFill>
              <a:srgbClr val="47606B"/>
            </a:solidFill>
            <a:prstDash val="dash"/>
          </a:ln>
        </p:spPr>
        <p:txBody>
          <a:bodyPr wrap="square" lIns="1" tIns="3810" rIns="0" bIns="3810" rtlCol="0" anchor="ctr">
            <a:normAutofit/>
          </a:bodyPr>
          <a:lstStyle/>
          <a:p>
            <a:pPr algn="ctr" indent="0" marL="0">
              <a:lnSpc>
                <a:spcPts val="1680"/>
              </a:lnSpc>
              <a:buNone/>
            </a:pPr>
            <a:r>
              <a:rPr lang="en-US" sz="1200" dirty="0">
                <a:solidFill>
                  <a:srgbClr val="A9C2C8"/>
                </a:solidFill>
                <a:latin typeface="IBM Plex Sans" pitchFamily="34" charset="0"/>
                <a:ea typeface="IBM Plex Sans" pitchFamily="34" charset="-122"/>
                <a:cs typeface="IBM Plex Sans" pitchFamily="34" charset="-120"/>
              </a:rPr>
              <a:t>25 s of constant, information-free input</a:t>
            </a:r>
            <a:endParaRPr lang="en-US" sz="1200" dirty="0"/>
          </a:p>
        </p:txBody>
      </p:sp>
      <p:sp>
        <p:nvSpPr>
          <p:cNvPr id="8" name="Text 6"/>
          <p:cNvSpPr/>
          <p:nvPr/>
        </p:nvSpPr>
        <p:spPr>
          <a:xfrm>
            <a:off x="812800" y="3538299"/>
            <a:ext cx="1447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A5AC"/>
                </a:solidFill>
                <a:latin typeface="IBM Plex Sans" pitchFamily="34" charset="0"/>
                <a:ea typeface="IBM Plex Sans" pitchFamily="34" charset="-122"/>
                <a:cs typeface="IBM Plex Sans" pitchFamily="34" charset="-120"/>
              </a:rPr>
              <a:t>pad at start</a:t>
            </a:r>
            <a:endParaRPr lang="en-US" sz="1300" dirty="0"/>
          </a:p>
        </p:txBody>
      </p:sp>
      <p:sp>
        <p:nvSpPr>
          <p:cNvPr id="9" name="Text 7"/>
          <p:cNvSpPr/>
          <p:nvPr/>
        </p:nvSpPr>
        <p:spPr>
          <a:xfrm>
            <a:off x="2343150" y="3425270"/>
            <a:ext cx="7397750" cy="457200"/>
          </a:xfrm>
          <a:custGeom>
            <a:avLst/>
            <a:gdLst/>
            <a:ahLst/>
            <a:cxnLst/>
            <a:rect l="l" t="t" r="r" b="b"/>
            <a:pathLst>
              <a:path w="7397750" h="457200">
                <a:moveTo>
                  <a:pt x="0" y="44450"/>
                </a:moveTo>
                <a:arcTo hR="44450" wR="44450" stAng="10800000" swAng="5400000"/>
                <a:lnTo>
                  <a:pt x="7397750" y="0"/>
                </a:lnTo>
                <a:lnTo>
                  <a:pt x="7397750" y="457200"/>
                </a:lnTo>
                <a:lnTo>
                  <a:pt x="44450" y="457200"/>
                </a:lnTo>
                <a:arcTo hR="44450" wR="44450" stAng="5400000" swAng="5400000"/>
                <a:close/>
              </a:path>
            </a:pathLst>
          </a:custGeom>
          <a:solidFill>
            <a:srgbClr val="23343D"/>
          </a:solidFill>
          <a:ln w="12700">
            <a:solidFill>
              <a:srgbClr val="47606B"/>
            </a:solidFill>
            <a:prstDash val="dash"/>
          </a:ln>
        </p:spPr>
        <p:txBody>
          <a:bodyPr wrap="square" lIns="0" tIns="3810" rIns="0" bIns="3810" rtlCol="0" anchor="ctr">
            <a:normAutofit/>
          </a:bodyPr>
          <a:lstStyle/>
          <a:p>
            <a:pPr algn="ctr" indent="0" marL="0">
              <a:lnSpc>
                <a:spcPts val="1680"/>
              </a:lnSpc>
              <a:buNone/>
            </a:pPr>
            <a:r>
              <a:rPr lang="en-US" sz="1200" dirty="0">
                <a:solidFill>
                  <a:srgbClr val="A9C2C8"/>
                </a:solidFill>
                <a:latin typeface="IBM Plex Sans" pitchFamily="34" charset="0"/>
                <a:ea typeface="IBM Plex Sans" pitchFamily="34" charset="-122"/>
                <a:cs typeface="IBM Plex Sans" pitchFamily="34" charset="-120"/>
              </a:rPr>
              <a:t>25 s of constant, information-free input</a:t>
            </a:r>
            <a:endParaRPr lang="en-US" sz="1200" dirty="0"/>
          </a:p>
        </p:txBody>
      </p:sp>
      <p:sp>
        <p:nvSpPr>
          <p:cNvPr id="10" name="Text 8"/>
          <p:cNvSpPr/>
          <p:nvPr/>
        </p:nvSpPr>
        <p:spPr>
          <a:xfrm>
            <a:off x="9747250" y="3418920"/>
            <a:ext cx="1479550" cy="469900"/>
          </a:xfrm>
          <a:custGeom>
            <a:avLst/>
            <a:gdLst/>
            <a:ahLst/>
            <a:cxnLst/>
            <a:rect l="l" t="t" r="r" b="b"/>
            <a:pathLst>
              <a:path w="1479550" h="469900">
                <a:moveTo>
                  <a:pt x="1428750" y="0"/>
                </a:moveTo>
                <a:arcTo hR="50800" wR="50800" stAng="16200000" swAng="5400000"/>
                <a:lnTo>
                  <a:pt x="1479550" y="419100"/>
                </a:lnTo>
                <a:arcTo hR="50800" wR="50800" stAng="0" swAng="5400000"/>
                <a:lnTo>
                  <a:pt x="0" y="469900"/>
                </a:lnTo>
                <a:lnTo>
                  <a:pt x="0" y="0"/>
                </a:lnTo>
                <a:close/>
              </a:path>
            </a:pathLst>
          </a:custGeom>
          <a:solidFill>
            <a:srgbClr val="5FB3C0"/>
          </a:solidFill>
          <a:ln/>
        </p:spPr>
        <p:txBody>
          <a:bodyPr wrap="square" lIns="0" tIns="0" rIns="0" bIns="0" rtlCol="0" anchor="ctr">
            <a:normAutofit/>
          </a:bodyPr>
          <a:lstStyle/>
          <a:p>
            <a:pPr algn="ctr" indent="0" marL="0">
              <a:lnSpc>
                <a:spcPts val="1680"/>
              </a:lnSpc>
              <a:buNone/>
            </a:pPr>
            <a:r>
              <a:rPr lang="en-US" sz="1200" b="1" dirty="0">
                <a:solidFill>
                  <a:srgbClr val="0B2027"/>
                </a:solidFill>
                <a:latin typeface="IBM Plex Sans" pitchFamily="34" charset="0"/>
                <a:ea typeface="IBM Plex Sans" pitchFamily="34" charset="-122"/>
                <a:cs typeface="IBM Plex Sans" pitchFamily="34" charset="-120"/>
              </a:rPr>
              <a:t>5 s speech</a:t>
            </a:r>
            <a:endParaRPr lang="en-US" sz="1200" dirty="0"/>
          </a:p>
        </p:txBody>
      </p:sp>
      <p:sp>
        <p:nvSpPr>
          <p:cNvPr id="11" name="Text 9"/>
          <p:cNvSpPr/>
          <p:nvPr/>
        </p:nvSpPr>
        <p:spPr>
          <a:xfrm>
            <a:off x="812800" y="4173299"/>
            <a:ext cx="1447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A5AC"/>
                </a:solidFill>
                <a:latin typeface="IBM Plex Sans" pitchFamily="34" charset="0"/>
                <a:ea typeface="IBM Plex Sans" pitchFamily="34" charset="-122"/>
                <a:cs typeface="IBM Plex Sans" pitchFamily="34" charset="-120"/>
              </a:rPr>
              <a:t>pad split</a:t>
            </a:r>
            <a:endParaRPr lang="en-US" sz="1300" dirty="0"/>
          </a:p>
        </p:txBody>
      </p:sp>
      <p:sp>
        <p:nvSpPr>
          <p:cNvPr id="12" name="Text 10"/>
          <p:cNvSpPr/>
          <p:nvPr/>
        </p:nvSpPr>
        <p:spPr>
          <a:xfrm>
            <a:off x="2343150" y="4060270"/>
            <a:ext cx="3543300" cy="457200"/>
          </a:xfrm>
          <a:custGeom>
            <a:avLst/>
            <a:gdLst/>
            <a:ahLst/>
            <a:cxnLst/>
            <a:rect l="l" t="t" r="r" b="b"/>
            <a:pathLst>
              <a:path w="3543300" h="457200">
                <a:moveTo>
                  <a:pt x="0" y="44450"/>
                </a:moveTo>
                <a:arcTo hR="44450" wR="44450" stAng="10800000" swAng="5400000"/>
                <a:lnTo>
                  <a:pt x="3543300" y="0"/>
                </a:lnTo>
                <a:lnTo>
                  <a:pt x="3543300" y="457200"/>
                </a:lnTo>
                <a:lnTo>
                  <a:pt x="44450" y="457200"/>
                </a:lnTo>
                <a:arcTo hR="44450" wR="44450" stAng="5400000" swAng="5400000"/>
                <a:close/>
              </a:path>
            </a:pathLst>
          </a:custGeom>
          <a:solidFill>
            <a:srgbClr val="23343D"/>
          </a:solidFill>
          <a:ln w="12700">
            <a:solidFill>
              <a:srgbClr val="47606B"/>
            </a:solidFill>
            <a:prstDash val="dash"/>
          </a:ln>
        </p:spPr>
        <p:txBody>
          <a:bodyPr wrap="square" lIns="0" tIns="3810" rIns="0" bIns="3810" rtlCol="0" anchor="ctr">
            <a:normAutofit/>
          </a:bodyPr>
          <a:lstStyle/>
          <a:p>
            <a:pPr algn="ctr" indent="0" marL="0">
              <a:lnSpc>
                <a:spcPts val="1680"/>
              </a:lnSpc>
              <a:buNone/>
            </a:pPr>
            <a:r>
              <a:rPr lang="en-US" sz="1200" dirty="0">
                <a:solidFill>
                  <a:srgbClr val="A9C2C8"/>
                </a:solidFill>
                <a:latin typeface="IBM Plex Sans" pitchFamily="34" charset="0"/>
                <a:ea typeface="IBM Plex Sans" pitchFamily="34" charset="-122"/>
                <a:cs typeface="IBM Plex Sans" pitchFamily="34" charset="-120"/>
              </a:rPr>
              <a:t>12 s</a:t>
            </a:r>
            <a:endParaRPr lang="en-US" sz="1200" dirty="0"/>
          </a:p>
        </p:txBody>
      </p:sp>
      <p:sp>
        <p:nvSpPr>
          <p:cNvPr id="13" name="Text 11"/>
          <p:cNvSpPr/>
          <p:nvPr/>
        </p:nvSpPr>
        <p:spPr>
          <a:xfrm>
            <a:off x="5892800" y="4053920"/>
            <a:ext cx="1479550" cy="469900"/>
          </a:xfrm>
          <a:prstGeom prst="rect">
            <a:avLst/>
          </a:prstGeom>
          <a:solidFill>
            <a:srgbClr val="5FB3C0"/>
          </a:solidFill>
          <a:ln/>
        </p:spPr>
        <p:txBody>
          <a:bodyPr wrap="square" lIns="0" tIns="0" rIns="0" bIns="0" rtlCol="0" anchor="ctr">
            <a:normAutofit/>
          </a:bodyPr>
          <a:lstStyle/>
          <a:p>
            <a:pPr algn="ctr" indent="0" marL="0">
              <a:lnSpc>
                <a:spcPts val="1680"/>
              </a:lnSpc>
              <a:buNone/>
            </a:pPr>
            <a:r>
              <a:rPr lang="en-US" sz="1200" b="1" dirty="0">
                <a:solidFill>
                  <a:srgbClr val="0B2027"/>
                </a:solidFill>
                <a:latin typeface="IBM Plex Sans" pitchFamily="34" charset="0"/>
                <a:ea typeface="IBM Plex Sans" pitchFamily="34" charset="-122"/>
                <a:cs typeface="IBM Plex Sans" pitchFamily="34" charset="-120"/>
              </a:rPr>
              <a:t>5 s speech</a:t>
            </a:r>
            <a:endParaRPr lang="en-US" sz="1200" dirty="0"/>
          </a:p>
        </p:txBody>
      </p:sp>
      <p:sp>
        <p:nvSpPr>
          <p:cNvPr id="14" name="Text 12"/>
          <p:cNvSpPr/>
          <p:nvPr/>
        </p:nvSpPr>
        <p:spPr>
          <a:xfrm>
            <a:off x="7378700" y="4060270"/>
            <a:ext cx="3841750" cy="457200"/>
          </a:xfrm>
          <a:custGeom>
            <a:avLst/>
            <a:gdLst/>
            <a:ahLst/>
            <a:cxnLst/>
            <a:rect l="l" t="t" r="r" b="b"/>
            <a:pathLst>
              <a:path w="3841750" h="457200">
                <a:moveTo>
                  <a:pt x="3797300" y="0"/>
                </a:moveTo>
                <a:arcTo hR="44450" wR="44450" stAng="16200000" swAng="5400000"/>
                <a:lnTo>
                  <a:pt x="3841750" y="412750"/>
                </a:lnTo>
                <a:arcTo hR="44450" wR="44450" stAng="0" swAng="5400000"/>
                <a:lnTo>
                  <a:pt x="0" y="457200"/>
                </a:lnTo>
                <a:lnTo>
                  <a:pt x="0" y="0"/>
                </a:lnTo>
                <a:close/>
              </a:path>
            </a:pathLst>
          </a:custGeom>
          <a:solidFill>
            <a:srgbClr val="23343D"/>
          </a:solidFill>
          <a:ln w="12700">
            <a:solidFill>
              <a:srgbClr val="47606B"/>
            </a:solidFill>
            <a:prstDash val="dash"/>
          </a:ln>
        </p:spPr>
        <p:txBody>
          <a:bodyPr wrap="square" lIns="0" tIns="3810" rIns="0" bIns="3810" rtlCol="0" anchor="ctr">
            <a:normAutofit/>
          </a:bodyPr>
          <a:lstStyle/>
          <a:p>
            <a:pPr algn="ctr" indent="0" marL="0">
              <a:lnSpc>
                <a:spcPts val="1680"/>
              </a:lnSpc>
              <a:buNone/>
            </a:pPr>
            <a:r>
              <a:rPr lang="en-US" sz="1200" dirty="0">
                <a:solidFill>
                  <a:srgbClr val="A9C2C8"/>
                </a:solidFill>
                <a:latin typeface="IBM Plex Sans" pitchFamily="34" charset="0"/>
                <a:ea typeface="IBM Plex Sans" pitchFamily="34" charset="-122"/>
                <a:cs typeface="IBM Plex Sans" pitchFamily="34" charset="-120"/>
              </a:rPr>
              <a:t>13 s</a:t>
            </a:r>
            <a:endParaRPr lang="en-US" sz="1200" dirty="0"/>
          </a:p>
        </p:txBody>
      </p:sp>
      <p:sp>
        <p:nvSpPr>
          <p:cNvPr id="15" name="Text 13"/>
          <p:cNvSpPr/>
          <p:nvPr/>
        </p:nvSpPr>
        <p:spPr>
          <a:xfrm>
            <a:off x="812800" y="5110482"/>
            <a:ext cx="2747010"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AF8F4"/>
                </a:solidFill>
                <a:latin typeface="Source Serif 4" pitchFamily="34" charset="0"/>
                <a:ea typeface="Source Serif 4" pitchFamily="34" charset="-122"/>
                <a:cs typeface="Source Serif 4" pitchFamily="34" charset="-120"/>
              </a:rPr>
              <a:t>Where do the high-norm tokens go?</a:t>
            </a:r>
            <a:endParaRPr lang="en-US" sz="2000" dirty="0"/>
          </a:p>
        </p:txBody>
      </p:sp>
      <p:sp>
        <p:nvSpPr>
          <p:cNvPr id="16" name="Text 14"/>
          <p:cNvSpPr/>
          <p:nvPr/>
        </p:nvSpPr>
        <p:spPr>
          <a:xfrm>
            <a:off x="3683000" y="5013961"/>
            <a:ext cx="3746500" cy="828040"/>
          </a:xfrm>
          <a:custGeom>
            <a:avLst/>
            <a:gdLst/>
            <a:ahLst/>
            <a:cxnLst/>
            <a:rect l="l" t="t" r="r" b="b"/>
            <a:pathLst>
              <a:path w="3746500" h="828040">
                <a:moveTo>
                  <a:pt x="0" y="0"/>
                </a:moveTo>
                <a:lnTo>
                  <a:pt x="3670300" y="0"/>
                </a:lnTo>
                <a:arcTo hR="76200" wR="76200" stAng="16200000" swAng="5400000"/>
                <a:lnTo>
                  <a:pt x="3746500" y="751840"/>
                </a:lnTo>
                <a:arcTo hR="76200" wR="76200" stAng="0" swAng="5400000"/>
                <a:lnTo>
                  <a:pt x="0" y="828040"/>
                </a:lnTo>
                <a:lnTo>
                  <a:pt x="0" y="0"/>
                </a:lnTo>
                <a:close/>
              </a:path>
            </a:pathLst>
          </a:custGeom>
          <a:solidFill>
            <a:srgbClr val="1B303A"/>
          </a:solidFill>
          <a:ln/>
        </p:spPr>
        <p:txBody>
          <a:bodyPr wrap="square" lIns="233680" tIns="152400" rIns="103911" bIns="152400" rtlCol="0" anchor="ctr">
            <a:normAutofit/>
          </a:bodyPr>
          <a:lstStyle/>
          <a:p>
            <a:pPr algn="l" indent="0" marL="0">
              <a:lnSpc>
                <a:spcPts val="1960"/>
              </a:lnSpc>
              <a:buNone/>
            </a:pPr>
            <a:r>
              <a:rPr lang="en-US" sz="1400" b="1" dirty="0">
                <a:solidFill>
                  <a:srgbClr val="FAF8F4"/>
                </a:solidFill>
                <a:latin typeface="IBM Plex Sans" pitchFamily="34" charset="0"/>
                <a:ea typeface="IBM Plex Sans" pitchFamily="34" charset="-122"/>
                <a:cs typeface="IBM Plex Sans" pitchFamily="34" charset="-120"/>
              </a:rPr>
              <a:t>H–A</a:t>
            </a:r>
            <a:r>
              <a:rPr lang="en-US" sz="1400" dirty="0">
                <a:solidFill>
                  <a:srgbClr val="FAF8F4"/>
                </a:solidFill>
                <a:latin typeface="IBM Plex Sans" pitchFamily="34" charset="0"/>
                <a:ea typeface="IBM Plex Sans" pitchFamily="34" charset="-122"/>
                <a:cs typeface="IBM Plex Sans" pitchFamily="34" charset="-120"/>
              </a:rPr>
              <a:t>  They follow the pad, wherever we put it.</a:t>
            </a:r>
            <a:endParaRPr lang="en-US" sz="1400" dirty="0"/>
          </a:p>
        </p:txBody>
      </p:sp>
      <p:sp>
        <p:nvSpPr>
          <p:cNvPr id="17" name="Shape 15"/>
          <p:cNvSpPr/>
          <p:nvPr/>
        </p:nvSpPr>
        <p:spPr>
          <a:xfrm>
            <a:off x="3683000" y="5013961"/>
            <a:ext cx="3746500" cy="828040"/>
          </a:xfrm>
          <a:custGeom>
            <a:avLst/>
            <a:gdLst/>
            <a:ahLst/>
            <a:cxnLst/>
            <a:rect l="l" t="t" r="r" b="b"/>
            <a:pathLst>
              <a:path w="3746500" h="828040">
                <a:moveTo>
                  <a:pt x="31750" y="828040"/>
                </a:moveTo>
                <a:lnTo>
                  <a:pt x="0" y="828040"/>
                </a:lnTo>
                <a:lnTo>
                  <a:pt x="0" y="0"/>
                </a:lnTo>
                <a:lnTo>
                  <a:pt x="31750" y="0"/>
                </a:lnTo>
                <a:lnTo>
                  <a:pt x="31750" y="828040"/>
                </a:lnTo>
                <a:close/>
              </a:path>
            </a:pathLst>
          </a:custGeom>
          <a:solidFill>
            <a:srgbClr val="C2601C"/>
          </a:solidFill>
          <a:ln/>
        </p:spPr>
      </p:sp>
      <p:sp>
        <p:nvSpPr>
          <p:cNvPr id="18" name="Text 16"/>
          <p:cNvSpPr/>
          <p:nvPr/>
        </p:nvSpPr>
        <p:spPr>
          <a:xfrm>
            <a:off x="7632700" y="5013961"/>
            <a:ext cx="3746500" cy="828040"/>
          </a:xfrm>
          <a:custGeom>
            <a:avLst/>
            <a:gdLst/>
            <a:ahLst/>
            <a:cxnLst/>
            <a:rect l="l" t="t" r="r" b="b"/>
            <a:pathLst>
              <a:path w="3746500" h="828040">
                <a:moveTo>
                  <a:pt x="0" y="0"/>
                </a:moveTo>
                <a:lnTo>
                  <a:pt x="3670300" y="0"/>
                </a:lnTo>
                <a:arcTo hR="76200" wR="76200" stAng="16200000" swAng="5400000"/>
                <a:lnTo>
                  <a:pt x="3746500" y="751840"/>
                </a:lnTo>
                <a:arcTo hR="76200" wR="76200" stAng="0" swAng="5400000"/>
                <a:lnTo>
                  <a:pt x="0" y="828040"/>
                </a:lnTo>
                <a:lnTo>
                  <a:pt x="0" y="0"/>
                </a:lnTo>
                <a:close/>
              </a:path>
            </a:pathLst>
          </a:custGeom>
          <a:solidFill>
            <a:srgbClr val="1B303A"/>
          </a:solidFill>
          <a:ln/>
        </p:spPr>
        <p:txBody>
          <a:bodyPr wrap="square" lIns="233680" tIns="152400" rIns="103911" bIns="152400" rtlCol="0" anchor="ctr">
            <a:normAutofit/>
          </a:bodyPr>
          <a:lstStyle/>
          <a:p>
            <a:pPr algn="l" indent="0" marL="0">
              <a:lnSpc>
                <a:spcPts val="1960"/>
              </a:lnSpc>
              <a:buNone/>
            </a:pPr>
            <a:r>
              <a:rPr lang="en-US" sz="1400" b="1" dirty="0">
                <a:solidFill>
                  <a:srgbClr val="FAF8F4"/>
                </a:solidFill>
                <a:latin typeface="IBM Plex Sans" pitchFamily="34" charset="0"/>
                <a:ea typeface="IBM Plex Sans" pitchFamily="34" charset="-122"/>
                <a:cs typeface="IBM Plex Sans" pitchFamily="34" charset="-120"/>
              </a:rPr>
              <a:t>H–B</a:t>
            </a:r>
            <a:r>
              <a:rPr lang="en-US" sz="1400" dirty="0">
                <a:solidFill>
                  <a:srgbClr val="FAF8F4"/>
                </a:solidFill>
                <a:latin typeface="IBM Plex Sans" pitchFamily="34" charset="0"/>
                <a:ea typeface="IBM Plex Sans" pitchFamily="34" charset="-122"/>
                <a:cs typeface="IBM Plex Sans" pitchFamily="34" charset="-120"/>
              </a:rPr>
              <a:t>  They stay at a fixed index, and do not move.</a:t>
            </a:r>
            <a:endParaRPr lang="en-US" sz="1400" dirty="0"/>
          </a:p>
        </p:txBody>
      </p:sp>
      <p:sp>
        <p:nvSpPr>
          <p:cNvPr id="19" name="Shape 17"/>
          <p:cNvSpPr/>
          <p:nvPr/>
        </p:nvSpPr>
        <p:spPr>
          <a:xfrm>
            <a:off x="7632700" y="5013961"/>
            <a:ext cx="3746500" cy="828040"/>
          </a:xfrm>
          <a:custGeom>
            <a:avLst/>
            <a:gdLst/>
            <a:ahLst/>
            <a:cxnLst/>
            <a:rect l="l" t="t" r="r" b="b"/>
            <a:pathLst>
              <a:path w="3746500" h="828040">
                <a:moveTo>
                  <a:pt x="31750" y="828040"/>
                </a:moveTo>
                <a:lnTo>
                  <a:pt x="0" y="828040"/>
                </a:lnTo>
                <a:lnTo>
                  <a:pt x="0" y="0"/>
                </a:lnTo>
                <a:lnTo>
                  <a:pt x="31750" y="0"/>
                </a:lnTo>
                <a:lnTo>
                  <a:pt x="31750" y="828040"/>
                </a:lnTo>
                <a:close/>
              </a:path>
            </a:pathLst>
          </a:custGeom>
          <a:solidFill>
            <a:srgbClr val="5FB3C0"/>
          </a:solidFill>
          <a:ln/>
        </p:spPr>
      </p:sp>
      <p:sp>
        <p:nvSpPr>
          <p:cNvPr id="20" name="Text 18"/>
          <p:cNvSpPr/>
          <p:nvPr/>
        </p:nvSpPr>
        <p:spPr>
          <a:xfrm>
            <a:off x="812800" y="6238239"/>
            <a:ext cx="5900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A5AC"/>
                </a:solidFill>
                <a:latin typeface="IBM Plex Sans" pitchFamily="34" charset="0"/>
                <a:ea typeface="IBM Plex Sans" pitchFamily="34" charset="-122"/>
                <a:cs typeface="IBM Plex Sans" pitchFamily="34" charset="-120"/>
              </a:rPr>
              <a:t>One forward pass per condition settles it. Whisper: Radford et al., </a:t>
            </a:r>
            <a:r>
              <a:rPr lang="en-US" sz="1200" u="sng" dirty="0">
                <a:solidFill>
                  <a:srgbClr val="8AA5AC"/>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arXiv:2212.04356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7014"/>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0F6E7A"/>
                </a:solidFill>
                <a:latin typeface="IBM Plex Sans" pitchFamily="34" charset="0"/>
                <a:ea typeface="IBM Plex Sans" pitchFamily="34" charset="-122"/>
                <a:cs typeface="IBM Plex Sans" pitchFamily="34" charset="-120"/>
              </a:rPr>
              <a:t>DUE DILIGENCE</a:t>
            </a:r>
            <a:endParaRPr lang="en-US" sz="1196" dirty="0"/>
          </a:p>
        </p:txBody>
      </p:sp>
      <p:sp>
        <p:nvSpPr>
          <p:cNvPr id="3" name="Text 1"/>
          <p:cNvSpPr/>
          <p:nvPr/>
        </p:nvSpPr>
        <p:spPr>
          <a:xfrm>
            <a:off x="812800" y="1126015"/>
            <a:ext cx="10883392" cy="533162"/>
          </a:xfrm>
          <a:prstGeom prst="rect">
            <a:avLst/>
          </a:prstGeom>
          <a:noFill/>
          <a:ln/>
        </p:spPr>
        <p:txBody>
          <a:bodyPr wrap="square" lIns="0" tIns="0" rIns="0" bIns="0" rtlCol="0" anchor="t">
            <a:normAutofit/>
          </a:bodyPr>
          <a:lstStyle/>
          <a:p>
            <a:pPr algn="l" indent="0" marL="0">
              <a:lnSpc>
                <a:spcPts val="4019"/>
              </a:lnSpc>
              <a:buNone/>
            </a:pPr>
            <a:r>
              <a:rPr lang="en-US" sz="3589" b="1" dirty="0">
                <a:solidFill>
                  <a:srgbClr val="12232B"/>
                </a:solidFill>
                <a:latin typeface="Source Serif 4" pitchFamily="34" charset="0"/>
                <a:ea typeface="Source Serif 4" pitchFamily="34" charset="-122"/>
                <a:cs typeface="Source Serif 4" pitchFamily="34" charset="-120"/>
              </a:rPr>
              <a:t>We verified the gap ourselves</a:t>
            </a:r>
            <a:endParaRPr lang="en-US" sz="3589" dirty="0"/>
          </a:p>
        </p:txBody>
      </p:sp>
      <p:sp>
        <p:nvSpPr>
          <p:cNvPr id="4" name="Shape 2"/>
          <p:cNvSpPr/>
          <p:nvPr/>
        </p:nvSpPr>
        <p:spPr>
          <a:xfrm>
            <a:off x="815975" y="1840151"/>
            <a:ext cx="2235200" cy="1581229"/>
          </a:xfrm>
          <a:prstGeom prst="roundRect">
            <a:avLst>
              <a:gd name="adj" fmla="val 5421"/>
            </a:avLst>
          </a:prstGeom>
          <a:solidFill>
            <a:srgbClr val="FFFFFF"/>
          </a:solidFill>
          <a:ln w="6350">
            <a:solidFill>
              <a:srgbClr val="DFD8CC"/>
            </a:solidFill>
            <a:prstDash val="solid"/>
          </a:ln>
        </p:spPr>
      </p:sp>
      <p:sp>
        <p:nvSpPr>
          <p:cNvPr id="5" name="Text 3"/>
          <p:cNvSpPr/>
          <p:nvPr/>
        </p:nvSpPr>
        <p:spPr>
          <a:xfrm>
            <a:off x="1021080" y="2045255"/>
            <a:ext cx="1879740" cy="465455"/>
          </a:xfrm>
          <a:prstGeom prst="rect">
            <a:avLst/>
          </a:prstGeom>
          <a:noFill/>
          <a:ln/>
        </p:spPr>
        <p:txBody>
          <a:bodyPr wrap="square" lIns="0" tIns="0" rIns="0" bIns="0" rtlCol="0" anchor="t">
            <a:normAutofit/>
          </a:bodyPr>
          <a:lstStyle/>
          <a:p>
            <a:pPr algn="l" indent="0" marL="0">
              <a:lnSpc>
                <a:spcPts val="3465"/>
              </a:lnSpc>
              <a:buNone/>
            </a:pPr>
            <a:r>
              <a:rPr lang="en-US" sz="3300" b="1" dirty="0">
                <a:solidFill>
                  <a:srgbClr val="0F6E7A"/>
                </a:solidFill>
                <a:latin typeface="IBM Plex Sans" pitchFamily="34" charset="0"/>
                <a:ea typeface="IBM Plex Sans" pitchFamily="34" charset="-122"/>
                <a:cs typeface="IBM Plex Sans" pitchFamily="34" charset="-120"/>
              </a:rPr>
              <a:t>1,661</a:t>
            </a:r>
            <a:endParaRPr lang="en-US" sz="3300" dirty="0"/>
          </a:p>
        </p:txBody>
      </p:sp>
      <p:sp>
        <p:nvSpPr>
          <p:cNvPr id="6" name="Text 4"/>
          <p:cNvSpPr/>
          <p:nvPr/>
        </p:nvSpPr>
        <p:spPr>
          <a:xfrm>
            <a:off x="1021080" y="2536112"/>
            <a:ext cx="187974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855"/>
                </a:solidFill>
                <a:latin typeface="IBM Plex Sans" pitchFamily="34" charset="0"/>
                <a:ea typeface="IBM Plex Sans" pitchFamily="34" charset="-122"/>
                <a:cs typeface="IBM Plex Sans" pitchFamily="34" charset="-120"/>
              </a:rPr>
              <a:t>citing papers swept, across 6 anchor papers</a:t>
            </a:r>
            <a:endParaRPr lang="en-US" sz="1300" dirty="0"/>
          </a:p>
        </p:txBody>
      </p:sp>
      <p:pic>
        <p:nvPicPr>
          <p:cNvPr id="7" name="Image 0" descr="arrow-right">    </p:cNvPr>
          <p:cNvPicPr>
            <a:picLocks noChangeAspect="1"/>
          </p:cNvPicPr>
          <p:nvPr/>
        </p:nvPicPr>
        <p:blipFill>
          <a:blip r:embed="rId1"/>
          <a:srcRect l="0" r="0" t="0" b="0"/>
          <a:stretch/>
        </p:blipFill>
        <p:spPr>
          <a:xfrm>
            <a:off x="3168650" y="2554526"/>
            <a:ext cx="304800" cy="152400"/>
          </a:xfrm>
          <a:prstGeom prst="rect">
            <a:avLst/>
          </a:prstGeom>
        </p:spPr>
      </p:pic>
      <p:sp>
        <p:nvSpPr>
          <p:cNvPr id="8" name="Shape 5"/>
          <p:cNvSpPr/>
          <p:nvPr/>
        </p:nvSpPr>
        <p:spPr>
          <a:xfrm>
            <a:off x="3590925" y="1840151"/>
            <a:ext cx="2235200" cy="1581229"/>
          </a:xfrm>
          <a:prstGeom prst="roundRect">
            <a:avLst>
              <a:gd name="adj" fmla="val 5421"/>
            </a:avLst>
          </a:prstGeom>
          <a:solidFill>
            <a:srgbClr val="FFFFFF"/>
          </a:solidFill>
          <a:ln w="6350">
            <a:solidFill>
              <a:srgbClr val="DFD8CC"/>
            </a:solidFill>
            <a:prstDash val="solid"/>
          </a:ln>
        </p:spPr>
      </p:sp>
      <p:sp>
        <p:nvSpPr>
          <p:cNvPr id="9" name="Text 6"/>
          <p:cNvSpPr/>
          <p:nvPr/>
        </p:nvSpPr>
        <p:spPr>
          <a:xfrm>
            <a:off x="3796030" y="2045255"/>
            <a:ext cx="1879740" cy="465455"/>
          </a:xfrm>
          <a:prstGeom prst="rect">
            <a:avLst/>
          </a:prstGeom>
          <a:noFill/>
          <a:ln/>
        </p:spPr>
        <p:txBody>
          <a:bodyPr wrap="square" lIns="0" tIns="0" rIns="0" bIns="0" rtlCol="0" anchor="t">
            <a:normAutofit/>
          </a:bodyPr>
          <a:lstStyle/>
          <a:p>
            <a:pPr algn="l" indent="0" marL="0">
              <a:lnSpc>
                <a:spcPts val="3465"/>
              </a:lnSpc>
              <a:buNone/>
            </a:pPr>
            <a:r>
              <a:rPr lang="en-US" sz="3300" b="1" dirty="0">
                <a:solidFill>
                  <a:srgbClr val="0F6E7A"/>
                </a:solidFill>
                <a:latin typeface="IBM Plex Sans" pitchFamily="34" charset="0"/>
                <a:ea typeface="IBM Plex Sans" pitchFamily="34" charset="-122"/>
                <a:cs typeface="IBM Plex Sans" pitchFamily="34" charset="-120"/>
              </a:rPr>
              <a:t>34</a:t>
            </a:r>
            <a:endParaRPr lang="en-US" sz="3300" dirty="0"/>
          </a:p>
        </p:txBody>
      </p:sp>
      <p:sp>
        <p:nvSpPr>
          <p:cNvPr id="10" name="Text 7"/>
          <p:cNvSpPr/>
          <p:nvPr/>
        </p:nvSpPr>
        <p:spPr>
          <a:xfrm>
            <a:off x="3796030" y="2536112"/>
            <a:ext cx="187974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855"/>
                </a:solidFill>
                <a:latin typeface="IBM Plex Sans" pitchFamily="34" charset="0"/>
                <a:ea typeface="IBM Plex Sans" pitchFamily="34" charset="-122"/>
                <a:cs typeface="IBM Plex Sans" pitchFamily="34" charset="-120"/>
              </a:rPr>
              <a:t>arXiv keyword × category queries</a:t>
            </a:r>
            <a:endParaRPr lang="en-US" sz="1300" dirty="0"/>
          </a:p>
        </p:txBody>
      </p:sp>
      <p:pic>
        <p:nvPicPr>
          <p:cNvPr id="11" name="Image 1" descr="arrow-right">    </p:cNvPr>
          <p:cNvPicPr>
            <a:picLocks noChangeAspect="1"/>
          </p:cNvPicPr>
          <p:nvPr/>
        </p:nvPicPr>
        <p:blipFill>
          <a:blip r:embed="rId2"/>
          <a:srcRect l="0" r="0" t="0" b="0"/>
          <a:stretch/>
        </p:blipFill>
        <p:spPr>
          <a:xfrm>
            <a:off x="5943600" y="2554526"/>
            <a:ext cx="304800" cy="152400"/>
          </a:xfrm>
          <a:prstGeom prst="rect">
            <a:avLst/>
          </a:prstGeom>
        </p:spPr>
      </p:pic>
      <p:sp>
        <p:nvSpPr>
          <p:cNvPr id="12" name="Shape 8"/>
          <p:cNvSpPr/>
          <p:nvPr/>
        </p:nvSpPr>
        <p:spPr>
          <a:xfrm>
            <a:off x="6365875" y="1840151"/>
            <a:ext cx="2235200" cy="1581229"/>
          </a:xfrm>
          <a:prstGeom prst="roundRect">
            <a:avLst>
              <a:gd name="adj" fmla="val 5421"/>
            </a:avLst>
          </a:prstGeom>
          <a:solidFill>
            <a:srgbClr val="FFFFFF"/>
          </a:solidFill>
          <a:ln w="6350">
            <a:solidFill>
              <a:srgbClr val="DFD8CC"/>
            </a:solidFill>
            <a:prstDash val="solid"/>
          </a:ln>
        </p:spPr>
      </p:sp>
      <p:sp>
        <p:nvSpPr>
          <p:cNvPr id="13" name="Text 9"/>
          <p:cNvSpPr/>
          <p:nvPr/>
        </p:nvSpPr>
        <p:spPr>
          <a:xfrm>
            <a:off x="6570980" y="2045255"/>
            <a:ext cx="1879740" cy="465455"/>
          </a:xfrm>
          <a:prstGeom prst="rect">
            <a:avLst/>
          </a:prstGeom>
          <a:noFill/>
          <a:ln/>
        </p:spPr>
        <p:txBody>
          <a:bodyPr wrap="square" lIns="0" tIns="0" rIns="0" bIns="0" rtlCol="0" anchor="t">
            <a:normAutofit/>
          </a:bodyPr>
          <a:lstStyle/>
          <a:p>
            <a:pPr algn="l" indent="0" marL="0">
              <a:lnSpc>
                <a:spcPts val="3465"/>
              </a:lnSpc>
              <a:buNone/>
            </a:pPr>
            <a:r>
              <a:rPr lang="en-US" sz="3300" b="1" dirty="0">
                <a:solidFill>
                  <a:srgbClr val="0F6E7A"/>
                </a:solidFill>
                <a:latin typeface="IBM Plex Sans" pitchFamily="34" charset="0"/>
                <a:ea typeface="IBM Plex Sans" pitchFamily="34" charset="-122"/>
                <a:cs typeface="IBM Plex Sans" pitchFamily="34" charset="-120"/>
              </a:rPr>
              <a:t>9</a:t>
            </a:r>
            <a:endParaRPr lang="en-US" sz="3300" dirty="0"/>
          </a:p>
        </p:txBody>
      </p:sp>
      <p:sp>
        <p:nvSpPr>
          <p:cNvPr id="14" name="Text 10"/>
          <p:cNvSpPr/>
          <p:nvPr/>
        </p:nvSpPr>
        <p:spPr>
          <a:xfrm>
            <a:off x="6570980" y="2536112"/>
            <a:ext cx="187974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855"/>
                </a:solidFill>
                <a:latin typeface="IBM Plex Sans" pitchFamily="34" charset="0"/>
                <a:ea typeface="IBM Plex Sans" pitchFamily="34" charset="-122"/>
                <a:cs typeface="IBM Plex Sans" pitchFamily="34" charset="-120"/>
              </a:rPr>
              <a:t>mention both audio and the phenomenon</a:t>
            </a:r>
            <a:endParaRPr lang="en-US" sz="1300" dirty="0"/>
          </a:p>
        </p:txBody>
      </p:sp>
      <p:pic>
        <p:nvPicPr>
          <p:cNvPr id="15" name="Image 2" descr="arrow-right">    </p:cNvPr>
          <p:cNvPicPr>
            <a:picLocks noChangeAspect="1"/>
          </p:cNvPicPr>
          <p:nvPr/>
        </p:nvPicPr>
        <p:blipFill>
          <a:blip r:embed="rId3"/>
          <a:srcRect l="0" r="0" t="0" b="0"/>
          <a:stretch/>
        </p:blipFill>
        <p:spPr>
          <a:xfrm>
            <a:off x="8718550" y="2554526"/>
            <a:ext cx="304800" cy="152400"/>
          </a:xfrm>
          <a:prstGeom prst="rect">
            <a:avLst/>
          </a:prstGeom>
        </p:spPr>
      </p:pic>
      <p:sp>
        <p:nvSpPr>
          <p:cNvPr id="16" name="Shape 11"/>
          <p:cNvSpPr/>
          <p:nvPr/>
        </p:nvSpPr>
        <p:spPr>
          <a:xfrm>
            <a:off x="9140825" y="1840151"/>
            <a:ext cx="2235200" cy="1581229"/>
          </a:xfrm>
          <a:prstGeom prst="roundRect">
            <a:avLst>
              <a:gd name="adj" fmla="val 5421"/>
            </a:avLst>
          </a:prstGeom>
          <a:solidFill>
            <a:srgbClr val="FBF0E6"/>
          </a:solidFill>
          <a:ln w="6350">
            <a:solidFill>
              <a:srgbClr val="E0C3A2"/>
            </a:solidFill>
            <a:prstDash val="solid"/>
          </a:ln>
        </p:spPr>
      </p:sp>
      <p:sp>
        <p:nvSpPr>
          <p:cNvPr id="17" name="Text 12"/>
          <p:cNvSpPr/>
          <p:nvPr/>
        </p:nvSpPr>
        <p:spPr>
          <a:xfrm>
            <a:off x="9345930" y="2045255"/>
            <a:ext cx="1879740" cy="460296"/>
          </a:xfrm>
          <a:prstGeom prst="rect">
            <a:avLst/>
          </a:prstGeom>
          <a:noFill/>
          <a:ln/>
        </p:spPr>
        <p:txBody>
          <a:bodyPr wrap="square" lIns="0" tIns="0" rIns="0" bIns="0" rtlCol="0" anchor="t">
            <a:normAutofit/>
          </a:bodyPr>
          <a:lstStyle/>
          <a:p>
            <a:pPr algn="l" indent="0" marL="0">
              <a:lnSpc>
                <a:spcPts val="3422"/>
              </a:lnSpc>
              <a:buNone/>
            </a:pPr>
            <a:r>
              <a:rPr lang="en-US" sz="3259" b="1" dirty="0">
                <a:solidFill>
                  <a:srgbClr val="C2601C"/>
                </a:solidFill>
                <a:latin typeface="IBM Plex Sans" pitchFamily="34" charset="0"/>
                <a:ea typeface="IBM Plex Sans" pitchFamily="34" charset="-122"/>
                <a:cs typeface="IBM Plex Sans" pitchFamily="34" charset="-120"/>
              </a:rPr>
              <a:t>0</a:t>
            </a:r>
            <a:endParaRPr lang="en-US" sz="3259" dirty="0"/>
          </a:p>
        </p:txBody>
      </p:sp>
      <p:sp>
        <p:nvSpPr>
          <p:cNvPr id="18" name="Text 13"/>
          <p:cNvSpPr/>
          <p:nvPr/>
        </p:nvSpPr>
        <p:spPr>
          <a:xfrm>
            <a:off x="9345930" y="2530952"/>
            <a:ext cx="1879740" cy="710724"/>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3C4855"/>
                </a:solidFill>
                <a:latin typeface="IBM Plex Sans" pitchFamily="34" charset="0"/>
                <a:ea typeface="IBM Plex Sans" pitchFamily="34" charset="-122"/>
                <a:cs typeface="IBM Plex Sans" pitchFamily="34" charset="-120"/>
              </a:rPr>
              <a:t>characterise artifacts in a pretrained audio encoder</a:t>
            </a:r>
            <a:endParaRPr lang="en-US" sz="1292"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2960" y="3637917"/>
          <a:ext cx="10556240" cy="2207816"/>
        </p:xfrm>
        <a:graphic>
          <a:graphicData uri="http://schemas.openxmlformats.org/drawingml/2006/table">
            <a:tbl>
              <a:tblPr/>
              <a:tblGrid>
                <a:gridCol w="6544869"/>
                <a:gridCol w="4011371"/>
              </a:tblGrid>
              <a:tr h="441563">
                <a:tc>
                  <a:txBody>
                    <a:bodyPr/>
                    <a:lstStyle/>
                    <a:p>
                      <a:pPr indent="0" marL="0">
                        <a:lnSpc>
                          <a:spcPts val="1797"/>
                        </a:lnSpc>
                        <a:buNone/>
                      </a:pPr>
                      <a:r>
                        <a:rPr lang="en-US" sz="1284" b="1" dirty="0">
                          <a:solidFill>
                            <a:srgbClr val="FAF8F4"/>
                          </a:solidFill>
                          <a:latin typeface="IBM Plex Sans" pitchFamily="34" charset="0"/>
                          <a:ea typeface="IBM Plex Sans" pitchFamily="34" charset="-122"/>
                          <a:cs typeface="IBM Plex Sans" pitchFamily="34" charset="-120"/>
                        </a:rPr>
                        <a:t>arXiv query, run 30 September 2026</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7C6C3"/>
                      </a:solidFill>
                      <a:prstDash val="solid"/>
                      <a:round/>
                      <a:headEnd type="none" w="med" len="med"/>
                      <a:tailEnd type="none" w="med" len="med"/>
                    </a:lnL>
                    <a:lnR w="12700" cap="flat" cmpd="sng" algn="ctr">
                      <a:solidFill>
                        <a:srgbClr val="B9B8B4"/>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B9B8B4"/>
                      </a:solidFill>
                      <a:prstDash val="solid"/>
                      <a:round/>
                      <a:headEnd type="none" w="med" len="med"/>
                      <a:tailEnd type="none" w="med" len="med"/>
                    </a:lnB>
                    <a:solidFill>
                      <a:srgbClr val="E8E6E2"/>
                    </a:solidFill>
                  </a:tcPr>
                </a:tc>
                <a:tc>
                  <a:txBody>
                    <a:bodyPr/>
                    <a:lstStyle/>
                    <a:p>
                      <a:pPr indent="0" marL="0">
                        <a:lnSpc>
                          <a:spcPts val="1797"/>
                        </a:lnSpc>
                        <a:buNone/>
                      </a:pPr>
                      <a:r>
                        <a:rPr lang="en-US" sz="1284" b="1" dirty="0">
                          <a:solidFill>
                            <a:srgbClr val="FAF8F4"/>
                          </a:solidFill>
                          <a:latin typeface="IBM Plex Sans" pitchFamily="34" charset="0"/>
                          <a:ea typeface="IBM Plex Sans" pitchFamily="34" charset="-122"/>
                          <a:cs typeface="IBM Plex Sans" pitchFamily="34" charset="-120"/>
                        </a:rPr>
                        <a:t>Result</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B9B8B4"/>
                      </a:solidFill>
                      <a:prstDash val="solid"/>
                      <a:round/>
                      <a:headEnd type="none" w="med" len="med"/>
                      <a:tailEnd type="none" w="med" len="med"/>
                    </a:lnL>
                    <a:lnR w="12700" cap="flat" cmpd="sng" algn="ctr">
                      <a:solidFill>
                        <a:srgbClr val="B9B8B4"/>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B9B8B4"/>
                      </a:solidFill>
                      <a:prstDash val="solid"/>
                      <a:round/>
                      <a:headEnd type="none" w="med" len="med"/>
                      <a:tailEnd type="none" w="med" len="med"/>
                    </a:lnB>
                    <a:solidFill>
                      <a:srgbClr val="E8E6E2"/>
                    </a:solidFill>
                  </a:tcPr>
                </a:tc>
              </a:tr>
              <a:tr h="441563">
                <a:tc>
                  <a:txBody>
                    <a:bodyPr/>
                    <a:lstStyle/>
                    <a:p>
                      <a:pPr indent="0" marL="0">
                        <a:lnSpc>
                          <a:spcPts val="1797"/>
                        </a:lnSpc>
                        <a:buNone/>
                      </a:pPr>
                      <a:r>
                        <a:rPr lang="en-US" sz="1284" dirty="0">
                          <a:solidFill>
                            <a:srgbClr val="12232B"/>
                          </a:solidFill>
                          <a:latin typeface="IBM Plex Sans" pitchFamily="34" charset="0"/>
                          <a:ea typeface="IBM Plex Sans" pitchFamily="34" charset="-122"/>
                          <a:cs typeface="IBM Plex Sans" pitchFamily="34" charset="-120"/>
                        </a:rPr>
                        <a:t>"high-norm" AND (cat:cs.SD OR cat:eess.AS)</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B9B8B4"/>
                      </a:solidFill>
                      <a:prstDash val="solid"/>
                      <a:round/>
                      <a:headEnd type="none" w="med" len="med"/>
                      <a:tailEnd type="none" w="med" len="med"/>
                    </a:lnT>
                    <a:lnB w="12700" cap="flat" cmpd="sng" algn="ctr">
                      <a:solidFill>
                        <a:srgbClr val="C7C6C3"/>
                      </a:solidFill>
                      <a:prstDash val="solid"/>
                      <a:round/>
                      <a:headEnd type="none" w="med" len="med"/>
                      <a:tailEnd type="none" w="med" len="med"/>
                    </a:lnB>
                  </a:tcPr>
                </a:tc>
                <a:tc>
                  <a:txBody>
                    <a:bodyPr/>
                    <a:lstStyle/>
                    <a:p>
                      <a:pPr indent="0" marL="0">
                        <a:lnSpc>
                          <a:spcPts val="1797"/>
                        </a:lnSpc>
                        <a:buNone/>
                      </a:pPr>
                      <a:r>
                        <a:rPr lang="en-US" sz="1284" dirty="0">
                          <a:solidFill>
                            <a:srgbClr val="C2601C"/>
                          </a:solidFill>
                          <a:latin typeface="IBM Plex Sans" pitchFamily="34" charset="0"/>
                          <a:ea typeface="IBM Plex Sans" pitchFamily="34" charset="-122"/>
                          <a:cs typeface="IBM Plex Sans" pitchFamily="34" charset="-120"/>
                        </a:rPr>
                        <a:t>0 hits</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B9B8B4"/>
                      </a:solidFill>
                      <a:prstDash val="solid"/>
                      <a:round/>
                      <a:headEnd type="none" w="med" len="med"/>
                      <a:tailEnd type="none" w="med" len="med"/>
                    </a:lnT>
                    <a:lnB w="12700" cap="flat" cmpd="sng" algn="ctr">
                      <a:solidFill>
                        <a:srgbClr val="C7C6C3"/>
                      </a:solidFill>
                      <a:prstDash val="solid"/>
                      <a:round/>
                      <a:headEnd type="none" w="med" len="med"/>
                      <a:tailEnd type="none" w="med" len="med"/>
                    </a:lnB>
                  </a:tcPr>
                </a:tc>
              </a:tr>
              <a:tr h="441563">
                <a:tc>
                  <a:txBody>
                    <a:bodyPr/>
                    <a:lstStyle/>
                    <a:p>
                      <a:pPr indent="0" marL="0">
                        <a:lnSpc>
                          <a:spcPts val="1797"/>
                        </a:lnSpc>
                        <a:buNone/>
                      </a:pPr>
                      <a:r>
                        <a:rPr lang="en-US" sz="1284" dirty="0">
                          <a:solidFill>
                            <a:srgbClr val="12232B"/>
                          </a:solidFill>
                          <a:latin typeface="IBM Plex Sans" pitchFamily="34" charset="0"/>
                          <a:ea typeface="IBM Plex Sans" pitchFamily="34" charset="-122"/>
                          <a:cs typeface="IBM Plex Sans" pitchFamily="34" charset="-120"/>
                        </a:rPr>
                        <a:t>"outlier tokens" AND (cat:cs.SD OR cat:eess.AS)</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7C6C3"/>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797"/>
                        </a:lnSpc>
                        <a:buNone/>
                      </a:pPr>
                      <a:r>
                        <a:rPr lang="en-US" sz="1284" dirty="0">
                          <a:solidFill>
                            <a:srgbClr val="C2601C"/>
                          </a:solidFill>
                          <a:latin typeface="IBM Plex Sans" pitchFamily="34" charset="0"/>
                          <a:ea typeface="IBM Plex Sans" pitchFamily="34" charset="-122"/>
                          <a:cs typeface="IBM Plex Sans" pitchFamily="34" charset="-120"/>
                        </a:rPr>
                        <a:t>0 hits</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r h="441563">
                <a:tc>
                  <a:txBody>
                    <a:bodyPr/>
                    <a:lstStyle/>
                    <a:p>
                      <a:pPr indent="0" marL="0">
                        <a:lnSpc>
                          <a:spcPts val="1797"/>
                        </a:lnSpc>
                        <a:buNone/>
                      </a:pPr>
                      <a:r>
                        <a:rPr lang="en-US" sz="1284" dirty="0">
                          <a:solidFill>
                            <a:srgbClr val="12232B"/>
                          </a:solidFill>
                          <a:latin typeface="IBM Plex Sans" pitchFamily="34" charset="0"/>
                          <a:ea typeface="IBM Plex Sans" pitchFamily="34" charset="-122"/>
                          <a:cs typeface="IBM Plex Sans" pitchFamily="34" charset="-120"/>
                        </a:rPr>
                        <a:t>"attention artifacts" AND (cat:cs.SD OR cat:eess.AS)</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7C6C3"/>
                      </a:solidFill>
                      <a:prstDash val="solid"/>
                      <a:round/>
                      <a:headEnd type="none" w="med" len="med"/>
                      <a:tailEnd type="none" w="med" len="med"/>
                    </a:lnB>
                  </a:tcPr>
                </a:tc>
                <a:tc>
                  <a:txBody>
                    <a:bodyPr/>
                    <a:lstStyle/>
                    <a:p>
                      <a:pPr indent="0" marL="0">
                        <a:lnSpc>
                          <a:spcPts val="1797"/>
                        </a:lnSpc>
                        <a:buNone/>
                      </a:pPr>
                      <a:r>
                        <a:rPr lang="en-US" sz="1284" dirty="0">
                          <a:solidFill>
                            <a:srgbClr val="C2601C"/>
                          </a:solidFill>
                          <a:latin typeface="IBM Plex Sans" pitchFamily="34" charset="0"/>
                          <a:ea typeface="IBM Plex Sans" pitchFamily="34" charset="-122"/>
                          <a:cs typeface="IBM Plex Sans" pitchFamily="34" charset="-120"/>
                        </a:rPr>
                        <a:t>0 hits</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7C6C3"/>
                      </a:solidFill>
                      <a:prstDash val="solid"/>
                      <a:round/>
                      <a:headEnd type="none" w="med" len="med"/>
                      <a:tailEnd type="none" w="med" len="med"/>
                    </a:lnB>
                  </a:tcPr>
                </a:tc>
              </a:tr>
              <a:tr h="441563">
                <a:tc>
                  <a:txBody>
                    <a:bodyPr/>
                    <a:lstStyle/>
                    <a:p>
                      <a:pPr indent="0" marL="0">
                        <a:lnSpc>
                          <a:spcPts val="1797"/>
                        </a:lnSpc>
                        <a:buNone/>
                      </a:pPr>
                      <a:r>
                        <a:rPr lang="en-US" sz="1284" dirty="0">
                          <a:solidFill>
                            <a:srgbClr val="12232B"/>
                          </a:solidFill>
                          <a:latin typeface="IBM Plex Sans" pitchFamily="34" charset="0"/>
                          <a:ea typeface="IBM Plex Sans" pitchFamily="34" charset="-122"/>
                          <a:cs typeface="IBM Plex Sans" pitchFamily="34" charset="-120"/>
                        </a:rPr>
                        <a:t>"register neurons"</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7C6C3"/>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c>
                  <a:txBody>
                    <a:bodyPr/>
                    <a:lstStyle/>
                    <a:p>
                      <a:pPr indent="0" marL="0">
                        <a:lnSpc>
                          <a:spcPts val="1797"/>
                        </a:lnSpc>
                        <a:buNone/>
                      </a:pPr>
                      <a:r>
                        <a:rPr lang="en-US" sz="1284" dirty="0">
                          <a:solidFill>
                            <a:srgbClr val="12232B"/>
                          </a:solidFill>
                          <a:latin typeface="IBM Plex Sans" pitchFamily="34" charset="0"/>
                          <a:ea typeface="IBM Plex Sans" pitchFamily="34" charset="-122"/>
                          <a:cs typeface="IBM Plex Sans" pitchFamily="34" charset="-120"/>
                        </a:rPr>
                        <a:t>1 hit — the vision method paper</a:t>
                      </a:r>
                      <a:endParaRPr lang="en-US" sz="1284" dirty="0">
                        <a:latin typeface="IBM Plex Sans" charset="0"/>
                        <a:ea typeface="IBM Plex Sans" charset="0"/>
                        <a:cs typeface="IBM Plex Sans" charset="0"/>
                      </a:endParaRPr>
                    </a:p>
                  </a:txBody>
                  <a:tcPr marL="139700" marR="139700" marT="101600" marB="1016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3C0BB"/>
                      </a:solidFill>
                      <a:prstDash val="solid"/>
                      <a:round/>
                      <a:headEnd type="none" w="med" len="med"/>
                      <a:tailEnd type="none" w="med" len="med"/>
                    </a:lnB>
                    <a:solidFill>
                      <a:srgbClr val="F4F1EA"/>
                    </a:solidFill>
                  </a:tcPr>
                </a:tc>
              </a:tr>
            </a:tbl>
          </a:graphicData>
        </a:graphic>
      </p:graphicFrame>
      <p:sp>
        <p:nvSpPr>
          <p:cNvPr id="20" name="Text 14"/>
          <p:cNvSpPr/>
          <p:nvPr/>
        </p:nvSpPr>
        <p:spPr>
          <a:xfrm>
            <a:off x="812800" y="6238242"/>
            <a:ext cx="85399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Anchors: Darcet, Jiang, PH-Reg, DVT, Gu et al., Sun et al. · Full queries and raw results in GapVerification_2026-09-30.md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CE3"/>
        </a:solidFill>
      </p:bgPr>
    </p:bg>
    <p:spTree>
      <p:nvGrpSpPr>
        <p:cNvPr id="1" name=""/>
        <p:cNvGrpSpPr/>
        <p:nvPr/>
      </p:nvGrpSpPr>
      <p:grpSpPr>
        <a:xfrm>
          <a:off x="0" y="0"/>
          <a:ext cx="0" cy="0"/>
          <a:chOff x="0" y="0"/>
          <a:chExt cx="0" cy="0"/>
        </a:xfrm>
      </p:grpSpPr>
      <p:sp>
        <p:nvSpPr>
          <p:cNvPr id="2" name="Text 0"/>
          <p:cNvSpPr/>
          <p:nvPr/>
        </p:nvSpPr>
        <p:spPr>
          <a:xfrm>
            <a:off x="812800" y="812800"/>
            <a:ext cx="10883392" cy="224076"/>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0F6E7A"/>
                </a:solidFill>
                <a:latin typeface="IBM Plex Sans" pitchFamily="34" charset="0"/>
                <a:ea typeface="IBM Plex Sans" pitchFamily="34" charset="-122"/>
                <a:cs typeface="IBM Plex Sans" pitchFamily="34" charset="-120"/>
              </a:rPr>
              <a:t>THE ONE THING THAT DOES EXIST</a:t>
            </a:r>
            <a:endParaRPr lang="en-US" sz="1121" dirty="0"/>
          </a:p>
        </p:txBody>
      </p:sp>
      <p:sp>
        <p:nvSpPr>
          <p:cNvPr id="3" name="Text 1"/>
          <p:cNvSpPr/>
          <p:nvPr/>
        </p:nvSpPr>
        <p:spPr>
          <a:xfrm>
            <a:off x="812800" y="1113079"/>
            <a:ext cx="10883392" cy="979011"/>
          </a:xfrm>
          <a:prstGeom prst="rect">
            <a:avLst/>
          </a:prstGeom>
          <a:noFill/>
          <a:ln/>
        </p:spPr>
        <p:txBody>
          <a:bodyPr wrap="square" lIns="0" tIns="0" rIns="0" bIns="0" rtlCol="0" anchor="t">
            <a:normAutofit/>
          </a:bodyPr>
          <a:lstStyle/>
          <a:p>
            <a:pPr algn="l" indent="0" marL="0">
              <a:lnSpc>
                <a:spcPts val="3755"/>
              </a:lnSpc>
              <a:buNone/>
            </a:pPr>
            <a:r>
              <a:rPr lang="en-US" sz="3353" b="1" dirty="0">
                <a:solidFill>
                  <a:srgbClr val="12232B"/>
                </a:solidFill>
                <a:latin typeface="Source Serif 4" pitchFamily="34" charset="0"/>
                <a:ea typeface="Source Serif 4" pitchFamily="34" charset="-122"/>
                <a:cs typeface="Source Serif 4" pitchFamily="34" charset="-120"/>
              </a:rPr>
              <a:t>The one prior audio study measured after LayerNorm</a:t>
            </a:r>
            <a:endParaRPr lang="en-US" sz="3353" dirty="0"/>
          </a:p>
        </p:txBody>
      </p:sp>
      <p:sp>
        <p:nvSpPr>
          <p:cNvPr id="4" name="Shape 2"/>
          <p:cNvSpPr/>
          <p:nvPr/>
        </p:nvSpPr>
        <p:spPr>
          <a:xfrm>
            <a:off x="815975" y="2273064"/>
            <a:ext cx="4438650" cy="3565763"/>
          </a:xfrm>
          <a:prstGeom prst="roundRect">
            <a:avLst>
              <a:gd name="adj" fmla="val 2404"/>
            </a:avLst>
          </a:prstGeom>
          <a:solidFill>
            <a:srgbClr val="FAF8F4"/>
          </a:solidFill>
          <a:ln w="6350">
            <a:solidFill>
              <a:srgbClr val="D4CCBD"/>
            </a:solidFill>
            <a:prstDash val="solid"/>
          </a:ln>
        </p:spPr>
      </p:sp>
      <p:sp>
        <p:nvSpPr>
          <p:cNvPr id="5" name="Text 3"/>
          <p:cNvSpPr/>
          <p:nvPr/>
        </p:nvSpPr>
        <p:spPr>
          <a:xfrm>
            <a:off x="1046480" y="2503568"/>
            <a:ext cx="4096969" cy="518081"/>
          </a:xfrm>
          <a:prstGeom prst="rect">
            <a:avLst/>
          </a:prstGeom>
          <a:noFill/>
          <a:ln/>
        </p:spPr>
        <p:txBody>
          <a:bodyPr wrap="square" lIns="0" tIns="0" rIns="0" bIns="0" rtlCol="0" anchor="t">
            <a:normAutofit/>
          </a:bodyPr>
          <a:lstStyle/>
          <a:p>
            <a:pPr algn="l" indent="0" marL="0">
              <a:lnSpc>
                <a:spcPts val="2005"/>
              </a:lnSpc>
              <a:buNone/>
            </a:pPr>
            <a:r>
              <a:rPr lang="en-US" sz="1604" b="1" dirty="0">
                <a:solidFill>
                  <a:srgbClr val="12232B"/>
                </a:solidFill>
                <a:latin typeface="Source Serif 4" pitchFamily="34" charset="0"/>
                <a:ea typeface="Source Serif 4" pitchFamily="34" charset="-122"/>
                <a:cs typeface="Source Serif 4" pitchFamily="34" charset="-120"/>
              </a:rPr>
              <a:t>“Silence in the Noise”, Zenodo, June 2026</a:t>
            </a:r>
            <a:endParaRPr lang="en-US" sz="1604" dirty="0"/>
          </a:p>
        </p:txBody>
      </p:sp>
      <p:sp>
        <p:nvSpPr>
          <p:cNvPr id="6" name="Text 4"/>
          <p:cNvSpPr/>
          <p:nvPr/>
        </p:nvSpPr>
        <p:spPr>
          <a:xfrm>
            <a:off x="1046480" y="3110551"/>
            <a:ext cx="4096969" cy="706120"/>
          </a:xfrm>
          <a:prstGeom prst="rect">
            <a:avLst/>
          </a:prstGeom>
          <a:noFill/>
          <a:ln/>
        </p:spPr>
        <p:txBody>
          <a:bodyPr wrap="square" lIns="0" tIns="0" rIns="0" bIns="0" rtlCol="0" anchor="t">
            <a:normAutofit/>
          </a:bodyPr>
          <a:lstStyle/>
          <a:p>
            <a:pPr algn="l" indent="0" marL="0">
              <a:lnSpc>
                <a:spcPts val="1786"/>
              </a:lnSpc>
              <a:buNone/>
            </a:pPr>
            <a:r>
              <a:rPr lang="en-US" sz="1232" dirty="0">
                <a:solidFill>
                  <a:srgbClr val="3C4855"/>
                </a:solidFill>
                <a:latin typeface="IBM Plex Sans" pitchFamily="34" charset="0"/>
                <a:ea typeface="IBM Plex Sans" pitchFamily="34" charset="-122"/>
                <a:cs typeface="IBM Plex Sans" pitchFamily="34" charset="-120"/>
              </a:rPr>
              <a:t>One checkpoint (AST), one dataset (ESC-50), 64 clips. Concludes AST is outlier-free at a final-layer max/median of </a:t>
            </a:r>
            <a:r>
              <a:rPr lang="en-US" sz="1232" b="1" dirty="0">
                <a:solidFill>
                  <a:srgbClr val="3C4855"/>
                </a:solidFill>
                <a:latin typeface="IBM Plex Sans" pitchFamily="34" charset="0"/>
                <a:ea typeface="IBM Plex Sans" pitchFamily="34" charset="-122"/>
                <a:cs typeface="IBM Plex Sans" pitchFamily="34" charset="-120"/>
              </a:rPr>
              <a:t>1.23</a:t>
            </a:r>
            <a:r>
              <a:rPr lang="en-US" sz="1232" dirty="0">
                <a:solidFill>
                  <a:srgbClr val="3C4855"/>
                </a:solidFill>
                <a:latin typeface="IBM Plex Sans" pitchFamily="34" charset="0"/>
                <a:ea typeface="IBM Plex Sans" pitchFamily="34" charset="-122"/>
                <a:cs typeface="IBM Plex Sans" pitchFamily="34" charset="-120"/>
              </a:rPr>
              <a:t>.</a:t>
            </a:r>
            <a:endParaRPr lang="en-US" sz="1232" dirty="0"/>
          </a:p>
        </p:txBody>
      </p:sp>
      <p:sp>
        <p:nvSpPr>
          <p:cNvPr id="7" name="Text 5"/>
          <p:cNvSpPr/>
          <p:nvPr/>
        </p:nvSpPr>
        <p:spPr>
          <a:xfrm>
            <a:off x="1046480" y="3905566"/>
            <a:ext cx="4096969" cy="706199"/>
          </a:xfrm>
          <a:prstGeom prst="rect">
            <a:avLst/>
          </a:prstGeom>
          <a:noFill/>
          <a:ln/>
        </p:spPr>
        <p:txBody>
          <a:bodyPr wrap="square" lIns="0" tIns="0" rIns="0" bIns="0" rtlCol="0" anchor="t">
            <a:normAutofit/>
          </a:bodyPr>
          <a:lstStyle/>
          <a:p>
            <a:pPr algn="l" indent="0" marL="0">
              <a:lnSpc>
                <a:spcPts val="1786"/>
              </a:lnSpc>
              <a:buNone/>
            </a:pPr>
            <a:r>
              <a:rPr lang="en-US" sz="1232" dirty="0">
                <a:solidFill>
                  <a:srgbClr val="3C4855"/>
                </a:solidFill>
                <a:latin typeface="IBM Plex Sans" pitchFamily="34" charset="0"/>
                <a:ea typeface="IBM Plex Sans" pitchFamily="34" charset="-122"/>
                <a:cs typeface="IBM Plex Sans" pitchFamily="34" charset="-120"/>
              </a:rPr>
              <a:t>Not on arXiv. </a:t>
            </a:r>
            <a:r>
              <a:rPr lang="en-US" sz="1232" b="1" dirty="0">
                <a:solidFill>
                  <a:srgbClr val="3C4855"/>
                </a:solidFill>
                <a:latin typeface="IBM Plex Sans" pitchFamily="34" charset="0"/>
                <a:ea typeface="IBM Plex Sans" pitchFamily="34" charset="-122"/>
                <a:cs typeface="IBM Plex Sans" pitchFamily="34" charset="-120"/>
              </a:rPr>
              <a:t>Not indexed in Semantic Scholar.</a:t>
            </a:r>
            <a:r>
              <a:rPr lang="en-US" sz="1232" dirty="0">
                <a:solidFill>
                  <a:srgbClr val="3C4855"/>
                </a:solidFill>
                <a:latin typeface="IBM Plex Sans" pitchFamily="34" charset="0"/>
                <a:ea typeface="IBM Plex Sans" pitchFamily="34" charset="-122"/>
                <a:cs typeface="IBM Plex Sans" pitchFamily="34" charset="-120"/>
              </a:rPr>
              <a:t> Zero citations. Structured search cannot see it — only a plain web search found it.</a:t>
            </a:r>
            <a:endParaRPr lang="en-US" sz="1232" dirty="0"/>
          </a:p>
        </p:txBody>
      </p:sp>
      <p:sp>
        <p:nvSpPr>
          <p:cNvPr id="8" name="Text 6"/>
          <p:cNvSpPr/>
          <p:nvPr/>
        </p:nvSpPr>
        <p:spPr>
          <a:xfrm>
            <a:off x="1046480" y="4700668"/>
            <a:ext cx="4096969" cy="933053"/>
          </a:xfrm>
          <a:prstGeom prst="rect">
            <a:avLst/>
          </a:prstGeom>
          <a:noFill/>
          <a:ln/>
        </p:spPr>
        <p:txBody>
          <a:bodyPr wrap="square" lIns="0" tIns="0" rIns="0" bIns="0" rtlCol="0" anchor="t">
            <a:normAutofit/>
          </a:bodyPr>
          <a:lstStyle/>
          <a:p>
            <a:pPr algn="l" indent="0" marL="0">
              <a:lnSpc>
                <a:spcPts val="1792"/>
              </a:lnSpc>
              <a:buNone/>
            </a:pPr>
            <a:r>
              <a:rPr lang="en-US" sz="1236" dirty="0">
                <a:solidFill>
                  <a:srgbClr val="3C4855"/>
                </a:solidFill>
                <a:latin typeface="IBM Plex Sans" pitchFamily="34" charset="0"/>
                <a:ea typeface="IBM Plex Sans" pitchFamily="34" charset="-122"/>
                <a:cs typeface="IBM Plex Sans" pitchFamily="34" charset="-120"/>
              </a:rPr>
              <a:t>It does not touch localisation, information probes, test-time registers, any frame-based speech model, or any dense task — and its own limitations section says dense audio tasks are the right setting.</a:t>
            </a:r>
            <a:endParaRPr lang="en-US" sz="1236" dirty="0"/>
          </a:p>
        </p:txBody>
      </p:sp>
      <p:sp>
        <p:nvSpPr>
          <p:cNvPr id="9" name="Shape 7"/>
          <p:cNvSpPr/>
          <p:nvPr/>
        </p:nvSpPr>
        <p:spPr>
          <a:xfrm>
            <a:off x="5543550" y="2276239"/>
            <a:ext cx="2825750" cy="2113915"/>
          </a:xfrm>
          <a:prstGeom prst="roundRect">
            <a:avLst>
              <a:gd name="adj" fmla="val 3905"/>
            </a:avLst>
          </a:prstGeom>
          <a:solidFill>
            <a:srgbClr val="FAF8F4"/>
          </a:solidFill>
          <a:ln w="12700">
            <a:solidFill>
              <a:srgbClr val="0F6E7A"/>
            </a:solidFill>
            <a:prstDash val="solid"/>
          </a:ln>
        </p:spPr>
      </p:sp>
      <p:sp>
        <p:nvSpPr>
          <p:cNvPr id="10" name="Text 8"/>
          <p:cNvSpPr/>
          <p:nvPr/>
        </p:nvSpPr>
        <p:spPr>
          <a:xfrm>
            <a:off x="5725160" y="2457847"/>
            <a:ext cx="2536406" cy="231775"/>
          </a:xfrm>
          <a:prstGeom prst="rect">
            <a:avLst/>
          </a:prstGeom>
          <a:noFill/>
          <a:ln/>
        </p:spPr>
        <p:txBody>
          <a:bodyPr wrap="square" lIns="0" tIns="0" rIns="0" bIns="0" rtlCol="0" anchor="t">
            <a:normAutofit/>
          </a:bodyPr>
          <a:lstStyle/>
          <a:p>
            <a:pPr algn="l" indent="0" marL="0">
              <a:lnSpc>
                <a:spcPts val="1673"/>
              </a:lnSpc>
              <a:buNone/>
            </a:pPr>
            <a:r>
              <a:rPr lang="en-US" sz="1195" b="1" spc="50" kern="0" dirty="0">
                <a:solidFill>
                  <a:srgbClr val="0F6E7A"/>
                </a:solidFill>
                <a:latin typeface="IBM Plex Sans" pitchFamily="34" charset="0"/>
                <a:ea typeface="IBM Plex Sans" pitchFamily="34" charset="-122"/>
                <a:cs typeface="IBM Plex Sans" pitchFamily="34" charset="-120"/>
              </a:rPr>
              <a:t>BEFORE FINAL LAYERNORM</a:t>
            </a:r>
            <a:endParaRPr lang="en-US" sz="1195" dirty="0"/>
          </a:p>
        </p:txBody>
      </p:sp>
      <p:sp>
        <p:nvSpPr>
          <p:cNvPr id="11" name="Shape 9"/>
          <p:cNvSpPr/>
          <p:nvPr/>
        </p:nvSpPr>
        <p:spPr>
          <a:xfrm>
            <a:off x="5725160" y="3362722"/>
            <a:ext cx="362744" cy="342900"/>
          </a:xfrm>
          <a:prstGeom prst="roundRect">
            <a:avLst>
              <a:gd name="adj" fmla="val 5556"/>
            </a:avLst>
          </a:prstGeom>
          <a:solidFill>
            <a:srgbClr val="0F6E7A"/>
          </a:solidFill>
          <a:ln/>
        </p:spPr>
      </p:sp>
      <p:sp>
        <p:nvSpPr>
          <p:cNvPr id="12" name="Shape 10"/>
          <p:cNvSpPr/>
          <p:nvPr/>
        </p:nvSpPr>
        <p:spPr>
          <a:xfrm>
            <a:off x="6145054" y="3426222"/>
            <a:ext cx="362823" cy="279400"/>
          </a:xfrm>
          <a:prstGeom prst="roundRect">
            <a:avLst>
              <a:gd name="adj" fmla="val 6818"/>
            </a:avLst>
          </a:prstGeom>
          <a:solidFill>
            <a:srgbClr val="0F6E7A"/>
          </a:solidFill>
          <a:ln/>
        </p:spPr>
      </p:sp>
      <p:sp>
        <p:nvSpPr>
          <p:cNvPr id="13" name="Shape 11"/>
          <p:cNvSpPr/>
          <p:nvPr/>
        </p:nvSpPr>
        <p:spPr>
          <a:xfrm>
            <a:off x="6565027" y="3324622"/>
            <a:ext cx="362744" cy="381000"/>
          </a:xfrm>
          <a:prstGeom prst="roundRect">
            <a:avLst>
              <a:gd name="adj" fmla="val 5252"/>
            </a:avLst>
          </a:prstGeom>
          <a:solidFill>
            <a:srgbClr val="0F6E7A"/>
          </a:solidFill>
          <a:ln/>
        </p:spPr>
      </p:sp>
      <p:sp>
        <p:nvSpPr>
          <p:cNvPr id="14" name="Shape 12"/>
          <p:cNvSpPr/>
          <p:nvPr/>
        </p:nvSpPr>
        <p:spPr>
          <a:xfrm>
            <a:off x="6984921" y="3464322"/>
            <a:ext cx="362823" cy="241300"/>
          </a:xfrm>
          <a:prstGeom prst="roundRect">
            <a:avLst>
              <a:gd name="adj" fmla="val 7895"/>
            </a:avLst>
          </a:prstGeom>
          <a:solidFill>
            <a:srgbClr val="0F6E7A"/>
          </a:solidFill>
          <a:ln/>
        </p:spPr>
      </p:sp>
      <p:sp>
        <p:nvSpPr>
          <p:cNvPr id="15" name="Shape 13"/>
          <p:cNvSpPr/>
          <p:nvPr/>
        </p:nvSpPr>
        <p:spPr>
          <a:xfrm>
            <a:off x="7404894" y="3388122"/>
            <a:ext cx="362823" cy="317500"/>
          </a:xfrm>
          <a:prstGeom prst="roundRect">
            <a:avLst>
              <a:gd name="adj" fmla="val 6000"/>
            </a:avLst>
          </a:prstGeom>
          <a:solidFill>
            <a:srgbClr val="0F6E7A"/>
          </a:solidFill>
          <a:ln/>
        </p:spPr>
      </p:sp>
      <p:sp>
        <p:nvSpPr>
          <p:cNvPr id="16" name="Shape 14"/>
          <p:cNvSpPr/>
          <p:nvPr/>
        </p:nvSpPr>
        <p:spPr>
          <a:xfrm>
            <a:off x="7824867" y="2753122"/>
            <a:ext cx="362823" cy="952500"/>
          </a:xfrm>
          <a:prstGeom prst="roundRect">
            <a:avLst>
              <a:gd name="adj" fmla="val 5250"/>
            </a:avLst>
          </a:prstGeom>
          <a:solidFill>
            <a:srgbClr val="C2601C"/>
          </a:solidFill>
          <a:ln/>
        </p:spPr>
      </p:sp>
      <p:sp>
        <p:nvSpPr>
          <p:cNvPr id="17" name="Text 15"/>
          <p:cNvSpPr/>
          <p:nvPr/>
        </p:nvSpPr>
        <p:spPr>
          <a:xfrm>
            <a:off x="5725160" y="3794522"/>
            <a:ext cx="2536406" cy="439420"/>
          </a:xfrm>
          <a:prstGeom prst="rect">
            <a:avLst/>
          </a:prstGeom>
          <a:noFill/>
          <a:ln/>
        </p:spPr>
        <p:txBody>
          <a:bodyPr wrap="square" lIns="0" tIns="0" rIns="0" bIns="0" rtlCol="0" anchor="t">
            <a:normAutofit/>
          </a:bodyPr>
          <a:lstStyle/>
          <a:p>
            <a:pPr algn="l" indent="0" marL="0">
              <a:lnSpc>
                <a:spcPts val="1634"/>
              </a:lnSpc>
              <a:buNone/>
            </a:pPr>
            <a:r>
              <a:rPr lang="en-US" sz="1211" dirty="0">
                <a:solidFill>
                  <a:srgbClr val="3C4855"/>
                </a:solidFill>
                <a:latin typeface="IBM Plex Sans" pitchFamily="34" charset="0"/>
                <a:ea typeface="IBM Plex Sans" pitchFamily="34" charset="-122"/>
                <a:cs typeface="IBM Plex Sans" pitchFamily="34" charset="-120"/>
              </a:rPr>
              <a:t>outliers are visible — </a:t>
            </a:r>
            <a:r>
              <a:rPr lang="en-US" sz="1211" b="1" dirty="0">
                <a:solidFill>
                  <a:srgbClr val="3C4855"/>
                </a:solidFill>
                <a:latin typeface="IBM Plex Sans" pitchFamily="34" charset="0"/>
                <a:ea typeface="IBM Plex Sans" pitchFamily="34" charset="-122"/>
                <a:cs typeface="IBM Plex Sans" pitchFamily="34" charset="-120"/>
              </a:rPr>
              <a:t>the correct convention</a:t>
            </a:r>
            <a:endParaRPr lang="en-US" sz="1211" dirty="0"/>
          </a:p>
        </p:txBody>
      </p:sp>
      <p:sp>
        <p:nvSpPr>
          <p:cNvPr id="18" name="Shape 16"/>
          <p:cNvSpPr/>
          <p:nvPr/>
        </p:nvSpPr>
        <p:spPr>
          <a:xfrm>
            <a:off x="8547100" y="2276239"/>
            <a:ext cx="2825750" cy="2113915"/>
          </a:xfrm>
          <a:prstGeom prst="roundRect">
            <a:avLst>
              <a:gd name="adj" fmla="val 3905"/>
            </a:avLst>
          </a:prstGeom>
          <a:solidFill>
            <a:srgbClr val="FAF8F4"/>
          </a:solidFill>
          <a:ln w="12700">
            <a:solidFill>
              <a:srgbClr val="C2601C"/>
            </a:solidFill>
            <a:prstDash val="solid"/>
          </a:ln>
        </p:spPr>
      </p:sp>
      <p:sp>
        <p:nvSpPr>
          <p:cNvPr id="19" name="Text 17"/>
          <p:cNvSpPr/>
          <p:nvPr/>
        </p:nvSpPr>
        <p:spPr>
          <a:xfrm>
            <a:off x="8728710" y="2457847"/>
            <a:ext cx="2536406" cy="231775"/>
          </a:xfrm>
          <a:prstGeom prst="rect">
            <a:avLst/>
          </a:prstGeom>
          <a:noFill/>
          <a:ln/>
        </p:spPr>
        <p:txBody>
          <a:bodyPr wrap="square" lIns="0" tIns="0" rIns="0" bIns="0" rtlCol="0" anchor="t">
            <a:normAutofit/>
          </a:bodyPr>
          <a:lstStyle/>
          <a:p>
            <a:pPr algn="l" indent="0" marL="0">
              <a:lnSpc>
                <a:spcPts val="1673"/>
              </a:lnSpc>
              <a:buNone/>
            </a:pPr>
            <a:r>
              <a:rPr lang="en-US" sz="1195" b="1" spc="50" kern="0" dirty="0">
                <a:solidFill>
                  <a:srgbClr val="C2601C"/>
                </a:solidFill>
                <a:latin typeface="IBM Plex Sans" pitchFamily="34" charset="0"/>
                <a:ea typeface="IBM Plex Sans" pitchFamily="34" charset="-122"/>
                <a:cs typeface="IBM Plex Sans" pitchFamily="34" charset="-120"/>
              </a:rPr>
              <a:t>AFTER FINAL LAYERNORM</a:t>
            </a:r>
            <a:endParaRPr lang="en-US" sz="1195" dirty="0"/>
          </a:p>
        </p:txBody>
      </p:sp>
      <p:sp>
        <p:nvSpPr>
          <p:cNvPr id="20" name="Shape 18"/>
          <p:cNvSpPr/>
          <p:nvPr/>
        </p:nvSpPr>
        <p:spPr>
          <a:xfrm>
            <a:off x="8728710" y="2943622"/>
            <a:ext cx="362744" cy="762000"/>
          </a:xfrm>
          <a:prstGeom prst="roundRect">
            <a:avLst>
              <a:gd name="adj" fmla="val 5252"/>
            </a:avLst>
          </a:prstGeom>
          <a:solidFill>
            <a:srgbClr val="9FB0B4"/>
          </a:solidFill>
          <a:ln/>
        </p:spPr>
      </p:sp>
      <p:sp>
        <p:nvSpPr>
          <p:cNvPr id="21" name="Shape 19"/>
          <p:cNvSpPr/>
          <p:nvPr/>
        </p:nvSpPr>
        <p:spPr>
          <a:xfrm>
            <a:off x="9148604" y="2969022"/>
            <a:ext cx="362823" cy="736600"/>
          </a:xfrm>
          <a:prstGeom prst="roundRect">
            <a:avLst>
              <a:gd name="adj" fmla="val 5250"/>
            </a:avLst>
          </a:prstGeom>
          <a:solidFill>
            <a:srgbClr val="9FB0B4"/>
          </a:solidFill>
          <a:ln/>
        </p:spPr>
      </p:sp>
      <p:sp>
        <p:nvSpPr>
          <p:cNvPr id="22" name="Shape 20"/>
          <p:cNvSpPr/>
          <p:nvPr/>
        </p:nvSpPr>
        <p:spPr>
          <a:xfrm>
            <a:off x="9568577" y="2930922"/>
            <a:ext cx="362744" cy="774700"/>
          </a:xfrm>
          <a:prstGeom prst="roundRect">
            <a:avLst>
              <a:gd name="adj" fmla="val 5252"/>
            </a:avLst>
          </a:prstGeom>
          <a:solidFill>
            <a:srgbClr val="9FB0B4"/>
          </a:solidFill>
          <a:ln/>
        </p:spPr>
      </p:sp>
      <p:sp>
        <p:nvSpPr>
          <p:cNvPr id="23" name="Shape 21"/>
          <p:cNvSpPr/>
          <p:nvPr/>
        </p:nvSpPr>
        <p:spPr>
          <a:xfrm>
            <a:off x="9988471" y="2981722"/>
            <a:ext cx="362823" cy="723900"/>
          </a:xfrm>
          <a:prstGeom prst="roundRect">
            <a:avLst>
              <a:gd name="adj" fmla="val 5250"/>
            </a:avLst>
          </a:prstGeom>
          <a:solidFill>
            <a:srgbClr val="9FB0B4"/>
          </a:solidFill>
          <a:ln/>
        </p:spPr>
      </p:sp>
      <p:sp>
        <p:nvSpPr>
          <p:cNvPr id="24" name="Shape 22"/>
          <p:cNvSpPr/>
          <p:nvPr/>
        </p:nvSpPr>
        <p:spPr>
          <a:xfrm>
            <a:off x="10408444" y="2949972"/>
            <a:ext cx="362823" cy="755650"/>
          </a:xfrm>
          <a:prstGeom prst="roundRect">
            <a:avLst>
              <a:gd name="adj" fmla="val 5250"/>
            </a:avLst>
          </a:prstGeom>
          <a:solidFill>
            <a:srgbClr val="9FB0B4"/>
          </a:solidFill>
          <a:ln/>
        </p:spPr>
      </p:sp>
      <p:sp>
        <p:nvSpPr>
          <p:cNvPr id="25" name="Shape 23"/>
          <p:cNvSpPr/>
          <p:nvPr/>
        </p:nvSpPr>
        <p:spPr>
          <a:xfrm>
            <a:off x="10828417" y="2918222"/>
            <a:ext cx="362823" cy="787400"/>
          </a:xfrm>
          <a:prstGeom prst="roundRect">
            <a:avLst>
              <a:gd name="adj" fmla="val 5250"/>
            </a:avLst>
          </a:prstGeom>
          <a:solidFill>
            <a:srgbClr val="9FB0B4"/>
          </a:solidFill>
          <a:ln/>
        </p:spPr>
      </p:sp>
      <p:sp>
        <p:nvSpPr>
          <p:cNvPr id="26" name="Text 24"/>
          <p:cNvSpPr/>
          <p:nvPr/>
        </p:nvSpPr>
        <p:spPr>
          <a:xfrm>
            <a:off x="8728710" y="3794522"/>
            <a:ext cx="2536406" cy="439420"/>
          </a:xfrm>
          <a:prstGeom prst="rect">
            <a:avLst/>
          </a:prstGeom>
          <a:noFill/>
          <a:ln/>
        </p:spPr>
        <p:txBody>
          <a:bodyPr wrap="square" lIns="0" tIns="0" rIns="0" bIns="0" rtlCol="0" anchor="t">
            <a:normAutofit/>
          </a:bodyPr>
          <a:lstStyle/>
          <a:p>
            <a:pPr algn="l" indent="0" marL="0">
              <a:lnSpc>
                <a:spcPts val="1750"/>
              </a:lnSpc>
              <a:buNone/>
            </a:pPr>
            <a:r>
              <a:rPr lang="en-US" sz="1296" dirty="0">
                <a:solidFill>
                  <a:srgbClr val="3C4855"/>
                </a:solidFill>
                <a:latin typeface="IBM Plex Sans" pitchFamily="34" charset="0"/>
                <a:ea typeface="IBM Plex Sans" pitchFamily="34" charset="-122"/>
                <a:cs typeface="IBM Plex Sans" pitchFamily="34" charset="-120"/>
              </a:rPr>
              <a:t>flattened — </a:t>
            </a:r>
            <a:r>
              <a:rPr lang="en-US" sz="1296" b="1" dirty="0">
                <a:solidFill>
                  <a:srgbClr val="3C4855"/>
                </a:solidFill>
                <a:latin typeface="IBM Plex Sans" pitchFamily="34" charset="0"/>
                <a:ea typeface="IBM Plex Sans" pitchFamily="34" charset="-122"/>
                <a:cs typeface="IBM Plex Sans" pitchFamily="34" charset="-120"/>
              </a:rPr>
              <a:t>what they measured</a:t>
            </a:r>
            <a:endParaRPr lang="en-US" sz="1296" dirty="0"/>
          </a:p>
        </p:txBody>
      </p:sp>
      <p:sp>
        <p:nvSpPr>
          <p:cNvPr id="27" name="Shape 25"/>
          <p:cNvSpPr/>
          <p:nvPr/>
        </p:nvSpPr>
        <p:spPr>
          <a:xfrm>
            <a:off x="5537200" y="4650501"/>
            <a:ext cx="5842000" cy="1191498"/>
          </a:xfrm>
          <a:prstGeom prst="roundRect">
            <a:avLst>
              <a:gd name="adj" fmla="val 7461"/>
            </a:avLst>
          </a:prstGeom>
          <a:solidFill>
            <a:srgbClr val="12232B"/>
          </a:solidFill>
          <a:ln/>
        </p:spPr>
      </p:sp>
      <p:sp>
        <p:nvSpPr>
          <p:cNvPr id="28" name="Text 26"/>
          <p:cNvSpPr/>
          <p:nvPr/>
        </p:nvSpPr>
        <p:spPr>
          <a:xfrm>
            <a:off x="5753100" y="4841001"/>
            <a:ext cx="5572506" cy="835898"/>
          </a:xfrm>
          <a:prstGeom prst="rect">
            <a:avLst/>
          </a:prstGeom>
          <a:noFill/>
          <a:ln/>
        </p:spPr>
        <p:txBody>
          <a:bodyPr wrap="square" lIns="0" tIns="0" rIns="0" bIns="0" rtlCol="0" anchor="t">
            <a:normAutofit/>
          </a:bodyPr>
          <a:lstStyle/>
          <a:p>
            <a:pPr algn="l" indent="0" marL="0">
              <a:lnSpc>
                <a:spcPts val="2141"/>
              </a:lnSpc>
              <a:buNone/>
            </a:pPr>
            <a:r>
              <a:rPr lang="en-US" sz="1477" dirty="0">
                <a:solidFill>
                  <a:srgbClr val="FAF8F4"/>
                </a:solidFill>
                <a:latin typeface="IBM Plex Sans" pitchFamily="34" charset="0"/>
                <a:ea typeface="IBM Plex Sans" pitchFamily="34" charset="-122"/>
                <a:cs typeface="IBM Plex Sans" pitchFamily="34" charset="-120"/>
              </a:rPr>
              <a:t>LayerNorm rescales every token toward a common norm. Measured after it, a max/median near </a:t>
            </a:r>
            <a:r>
              <a:rPr lang="en-US" sz="1477" b="1" dirty="0">
                <a:solidFill>
                  <a:srgbClr val="FAF8F4"/>
                </a:solidFill>
                <a:latin typeface="IBM Plex Sans" pitchFamily="34" charset="0"/>
                <a:ea typeface="IBM Plex Sans" pitchFamily="34" charset="-122"/>
                <a:cs typeface="IBM Plex Sans" pitchFamily="34" charset="-120"/>
              </a:rPr>
              <a:t>1.0</a:t>
            </a:r>
            <a:r>
              <a:rPr lang="en-US" sz="1477" dirty="0">
                <a:solidFill>
                  <a:srgbClr val="FAF8F4"/>
                </a:solidFill>
                <a:latin typeface="IBM Plex Sans" pitchFamily="34" charset="0"/>
                <a:ea typeface="IBM Plex Sans" pitchFamily="34" charset="-122"/>
                <a:cs typeface="IBM Plex Sans" pitchFamily="34" charset="-120"/>
              </a:rPr>
              <a:t> is guaranteed — artifacts or not. </a:t>
            </a:r>
            <a:r>
              <a:rPr lang="en-US" sz="1477" b="1" dirty="0">
                <a:solidFill>
                  <a:srgbClr val="FAF8F4"/>
                </a:solidFill>
                <a:latin typeface="IBM Plex Sans" pitchFamily="34" charset="0"/>
                <a:ea typeface="IBM Plex Sans" pitchFamily="34" charset="-122"/>
                <a:cs typeface="IBM Plex Sans" pitchFamily="34" charset="-120"/>
              </a:rPr>
              <a:t>Their null result is not decisive.</a:t>
            </a:r>
            <a:endParaRPr lang="en-US" sz="1477" dirty="0"/>
          </a:p>
        </p:txBody>
      </p:sp>
      <p:sp>
        <p:nvSpPr>
          <p:cNvPr id="29" name="Text 27"/>
          <p:cNvSpPr/>
          <p:nvPr/>
        </p:nvSpPr>
        <p:spPr>
          <a:xfrm>
            <a:off x="812800" y="6238242"/>
            <a:ext cx="92035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Imdad, “Silence in the Noise,” Zenodo preprint, 16 June 2026 · </a:t>
            </a:r>
            <a:r>
              <a:rPr lang="en-US" sz="1200" u="sng" dirty="0">
                <a:solidFill>
                  <a:srgbClr val="6E7A8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doi:10.5281/zenodo.20710635</a:t>
            </a:r>
            <a:r>
              <a:rPr lang="en-US" sz="1200" dirty="0">
                <a:solidFill>
                  <a:srgbClr val="6E7A86"/>
                </a:solidFill>
                <a:latin typeface="IBM Plex Sans" pitchFamily="34" charset="0"/>
                <a:ea typeface="IBM Plex Sans" pitchFamily="34" charset="-122"/>
                <a:cs typeface="IBM Plex Sans" pitchFamily="34" charset="-120"/>
              </a:rPr>
              <a:t> · convention per </a:t>
            </a:r>
            <a:r>
              <a:rPr lang="en-US" sz="1200" u="sng" dirty="0">
                <a:solidFill>
                  <a:srgbClr val="6E7A8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arXiv:2603.25803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E7A"/>
                </a:solidFill>
                <a:latin typeface="IBM Plex Sans" pitchFamily="34" charset="0"/>
                <a:ea typeface="IBM Plex Sans" pitchFamily="34" charset="-122"/>
                <a:cs typeface="IBM Plex Sans" pitchFamily="34" charset="-120"/>
              </a:rPr>
              <a:t>WHERE THE OPPORTUNITY IS</a:t>
            </a:r>
            <a:endParaRPr lang="en-US" sz="1200" dirty="0"/>
          </a:p>
        </p:txBody>
      </p:sp>
      <p:sp>
        <p:nvSpPr>
          <p:cNvPr id="3" name="Text 1"/>
          <p:cNvSpPr/>
          <p:nvPr/>
        </p:nvSpPr>
        <p:spPr>
          <a:xfrm>
            <a:off x="812800" y="1127764"/>
            <a:ext cx="10883392" cy="1049496"/>
          </a:xfrm>
          <a:prstGeom prst="rect">
            <a:avLst/>
          </a:prstGeom>
          <a:noFill/>
          <a:ln/>
        </p:spPr>
        <p:txBody>
          <a:bodyPr wrap="square" lIns="0" tIns="0" rIns="0" bIns="0" rtlCol="0" anchor="t">
            <a:normAutofit/>
          </a:bodyPr>
          <a:lstStyle/>
          <a:p>
            <a:pPr algn="l" indent="0" marL="0">
              <a:lnSpc>
                <a:spcPts val="4032"/>
              </a:lnSpc>
              <a:buNone/>
            </a:pPr>
            <a:r>
              <a:rPr lang="en-US" sz="3600" b="1" dirty="0">
                <a:solidFill>
                  <a:srgbClr val="12232B"/>
                </a:solidFill>
                <a:latin typeface="Source Serif 4" pitchFamily="34" charset="0"/>
                <a:ea typeface="Source Serif 4" pitchFamily="34" charset="-122"/>
                <a:cs typeface="Source Serif 4" pitchFamily="34" charset="-120"/>
              </a:rPr>
              <a:t>Every published Whisper fix targets the decoder</a:t>
            </a:r>
            <a:endParaRPr lang="en-US" sz="3600" dirty="0"/>
          </a:p>
        </p:txBody>
      </p:sp>
      <p:sp>
        <p:nvSpPr>
          <p:cNvPr id="4" name="Shape 2"/>
          <p:cNvSpPr/>
          <p:nvPr/>
        </p:nvSpPr>
        <p:spPr>
          <a:xfrm>
            <a:off x="819150" y="2502539"/>
            <a:ext cx="4716780" cy="3333115"/>
          </a:xfrm>
          <a:prstGeom prst="roundRect">
            <a:avLst>
              <a:gd name="adj" fmla="val 2858"/>
            </a:avLst>
          </a:prstGeom>
          <a:solidFill>
            <a:srgbClr val="FBF0E6"/>
          </a:solidFill>
          <a:ln w="12700">
            <a:solidFill>
              <a:srgbClr val="C2601C"/>
            </a:solidFill>
            <a:prstDash val="solid"/>
          </a:ln>
        </p:spPr>
      </p:sp>
      <p:sp>
        <p:nvSpPr>
          <p:cNvPr id="5" name="Text 3"/>
          <p:cNvSpPr/>
          <p:nvPr/>
        </p:nvSpPr>
        <p:spPr>
          <a:xfrm>
            <a:off x="1038860" y="2722246"/>
            <a:ext cx="4405681" cy="265430"/>
          </a:xfrm>
          <a:prstGeom prst="rect">
            <a:avLst/>
          </a:prstGeom>
          <a:noFill/>
          <a:ln/>
        </p:spPr>
        <p:txBody>
          <a:bodyPr wrap="square" lIns="0" tIns="0" rIns="0" bIns="0" rtlCol="0" anchor="t">
            <a:normAutofit/>
          </a:bodyPr>
          <a:lstStyle/>
          <a:p>
            <a:pPr algn="l" indent="0" marL="0">
              <a:lnSpc>
                <a:spcPts val="1890"/>
              </a:lnSpc>
              <a:buNone/>
            </a:pPr>
            <a:r>
              <a:rPr lang="en-US" sz="1350" b="1" spc="100" kern="0" dirty="0">
                <a:solidFill>
                  <a:srgbClr val="C2601C"/>
                </a:solidFill>
                <a:latin typeface="IBM Plex Sans" pitchFamily="34" charset="0"/>
                <a:ea typeface="IBM Plex Sans" pitchFamily="34" charset="-122"/>
                <a:cs typeface="IBM Plex Sans" pitchFamily="34" charset="-120"/>
              </a:rPr>
              <a:t>ENCODER  ·  1,500 MEL FRAMES</a:t>
            </a:r>
            <a:endParaRPr lang="en-US" sz="1350" dirty="0"/>
          </a:p>
        </p:txBody>
      </p:sp>
      <p:sp>
        <p:nvSpPr>
          <p:cNvPr id="6" name="Text 4"/>
          <p:cNvSpPr/>
          <p:nvPr/>
        </p:nvSpPr>
        <p:spPr>
          <a:xfrm>
            <a:off x="1038860" y="3076575"/>
            <a:ext cx="4405681"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C4855"/>
                </a:solidFill>
                <a:latin typeface="IBM Plex Sans" pitchFamily="34" charset="0"/>
                <a:ea typeface="IBM Plex Sans" pitchFamily="34" charset="-122"/>
                <a:cs typeface="IBM Plex Sans" pitchFamily="34" charset="-120"/>
              </a:rPr>
              <a:t>This is where the silence physically lives, and where we claim the model has parked its registers. </a:t>
            </a:r>
            <a:r>
              <a:rPr lang="en-US" sz="1500" b="1" dirty="0">
                <a:solidFill>
                  <a:srgbClr val="3C4855"/>
                </a:solidFill>
                <a:latin typeface="IBM Plex Sans" pitchFamily="34" charset="0"/>
                <a:ea typeface="IBM Plex Sans" pitchFamily="34" charset="-122"/>
                <a:cs typeface="IBM Plex Sans" pitchFamily="34" charset="-120"/>
              </a:rPr>
              <a:t>Nobody has looked.</a:t>
            </a:r>
            <a:endParaRPr lang="en-US" sz="1500" dirty="0"/>
          </a:p>
        </p:txBody>
      </p:sp>
      <p:sp>
        <p:nvSpPr>
          <p:cNvPr id="7" name="Shape 5"/>
          <p:cNvSpPr/>
          <p:nvPr/>
        </p:nvSpPr>
        <p:spPr>
          <a:xfrm>
            <a:off x="1038860" y="4514850"/>
            <a:ext cx="4277360" cy="1101090"/>
          </a:xfrm>
          <a:prstGeom prst="roundRect">
            <a:avLst>
              <a:gd name="adj" fmla="val 6920"/>
            </a:avLst>
          </a:prstGeom>
          <a:solidFill>
            <a:srgbClr val="12232B"/>
          </a:solidFill>
          <a:ln/>
        </p:spPr>
      </p:sp>
      <p:sp>
        <p:nvSpPr>
          <p:cNvPr id="8" name="Text 6"/>
          <p:cNvSpPr/>
          <p:nvPr/>
        </p:nvSpPr>
        <p:spPr>
          <a:xfrm>
            <a:off x="1229360" y="4679950"/>
            <a:ext cx="4013251" cy="247650"/>
          </a:xfrm>
          <a:prstGeom prst="rect">
            <a:avLst/>
          </a:prstGeom>
          <a:noFill/>
          <a:ln/>
        </p:spPr>
        <p:txBody>
          <a:bodyPr wrap="square" lIns="0" tIns="0" rIns="0" bIns="0" rtlCol="0" anchor="t">
            <a:normAutofit/>
          </a:bodyPr>
          <a:lstStyle/>
          <a:p>
            <a:pPr algn="l" indent="0" marL="0">
              <a:lnSpc>
                <a:spcPts val="1750"/>
              </a:lnSpc>
              <a:buNone/>
            </a:pPr>
            <a:r>
              <a:rPr lang="en-US" sz="1250" b="1" spc="50" kern="0" dirty="0">
                <a:solidFill>
                  <a:srgbClr val="E8944A"/>
                </a:solidFill>
                <a:latin typeface="IBM Plex Sans" pitchFamily="34" charset="0"/>
                <a:ea typeface="IBM Plex Sans" pitchFamily="34" charset="-122"/>
                <a:cs typeface="IBM Plex Sans" pitchFamily="34" charset="-120"/>
              </a:rPr>
              <a:t>OUR INTERVENTION</a:t>
            </a:r>
            <a:endParaRPr lang="en-US" sz="1250" dirty="0"/>
          </a:p>
        </p:txBody>
      </p:sp>
      <p:sp>
        <p:nvSpPr>
          <p:cNvPr id="9" name="Text 7"/>
          <p:cNvSpPr/>
          <p:nvPr/>
        </p:nvSpPr>
        <p:spPr>
          <a:xfrm>
            <a:off x="1229360" y="4953000"/>
            <a:ext cx="40132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8F4"/>
                </a:solidFill>
                <a:latin typeface="IBM Plex Sans" pitchFamily="34" charset="0"/>
                <a:ea typeface="IBM Plex Sans" pitchFamily="34" charset="-122"/>
                <a:cs typeface="IBM Plex Sans" pitchFamily="34" charset="-120"/>
              </a:rPr>
              <a:t>Relocate the register out of the non-speech frames. </a:t>
            </a:r>
            <a:r>
              <a:rPr lang="en-US" sz="1400" b="1" dirty="0">
                <a:solidFill>
                  <a:srgbClr val="FAF8F4"/>
                </a:solidFill>
                <a:latin typeface="IBM Plex Sans" pitchFamily="34" charset="0"/>
                <a:ea typeface="IBM Plex Sans" pitchFamily="34" charset="-122"/>
                <a:cs typeface="IBM Plex Sans" pitchFamily="34" charset="-120"/>
              </a:rPr>
              <a:t>Training-free.</a:t>
            </a:r>
            <a:endParaRPr lang="en-US" sz="1400" dirty="0"/>
          </a:p>
        </p:txBody>
      </p:sp>
      <p:pic>
        <p:nvPicPr>
          <p:cNvPr id="10" name="Image 0" descr="arrow-right">    </p:cNvPr>
          <p:cNvPicPr>
            <a:picLocks noChangeAspect="1"/>
          </p:cNvPicPr>
          <p:nvPr/>
        </p:nvPicPr>
        <p:blipFill>
          <a:blip r:embed="rId1"/>
          <a:srcRect l="0" r="0" t="0" b="0"/>
          <a:stretch/>
        </p:blipFill>
        <p:spPr>
          <a:xfrm>
            <a:off x="5796280" y="3786826"/>
            <a:ext cx="609600" cy="279400"/>
          </a:xfrm>
          <a:prstGeom prst="rect">
            <a:avLst/>
          </a:prstGeom>
        </p:spPr>
      </p:pic>
      <p:sp>
        <p:nvSpPr>
          <p:cNvPr id="11" name="Text 8"/>
          <p:cNvSpPr/>
          <p:nvPr/>
        </p:nvSpPr>
        <p:spPr>
          <a:xfrm>
            <a:off x="5694680" y="4155126"/>
            <a:ext cx="812800"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E7A86"/>
                </a:solidFill>
                <a:latin typeface="IBM Plex Sans" pitchFamily="34" charset="0"/>
                <a:ea typeface="IBM Plex Sans" pitchFamily="34" charset="-122"/>
                <a:cs typeface="IBM Plex Sans" pitchFamily="34" charset="-120"/>
              </a:rPr>
              <a:t>cross-</a:t>
            </a:r>
            <a:endParaRPr lang="en-US" sz="1200" dirty="0"/>
          </a:p>
          <a:p>
            <a:pPr algn="ctr" indent="0" marL="0">
              <a:lnSpc>
                <a:spcPts val="1560"/>
              </a:lnSpc>
              <a:buNone/>
            </a:pPr>
            <a:r>
              <a:rPr lang="en-US" sz="1200" dirty="0">
                <a:solidFill>
                  <a:srgbClr val="6E7A86"/>
                </a:solidFill>
                <a:latin typeface="IBM Plex Sans" pitchFamily="34" charset="0"/>
                <a:ea typeface="IBM Plex Sans" pitchFamily="34" charset="-122"/>
                <a:cs typeface="IBM Plex Sans" pitchFamily="34" charset="-120"/>
              </a:rPr>
              <a:t>attention</a:t>
            </a:r>
            <a:endParaRPr lang="en-US" sz="1200" dirty="0"/>
          </a:p>
        </p:txBody>
      </p:sp>
      <p:sp>
        <p:nvSpPr>
          <p:cNvPr id="12" name="Shape 9"/>
          <p:cNvSpPr/>
          <p:nvPr/>
        </p:nvSpPr>
        <p:spPr>
          <a:xfrm>
            <a:off x="6663055" y="2499364"/>
            <a:ext cx="4712970" cy="3339465"/>
          </a:xfrm>
          <a:prstGeom prst="roundRect">
            <a:avLst>
              <a:gd name="adj" fmla="val 2947"/>
            </a:avLst>
          </a:prstGeom>
          <a:solidFill>
            <a:srgbClr val="FFFFFF"/>
          </a:solidFill>
          <a:ln w="6350">
            <a:solidFill>
              <a:srgbClr val="DFD8CC"/>
            </a:solidFill>
            <a:prstDash val="solid"/>
          </a:ln>
        </p:spPr>
      </p:sp>
      <p:sp>
        <p:nvSpPr>
          <p:cNvPr id="13" name="Text 10"/>
          <p:cNvSpPr/>
          <p:nvPr/>
        </p:nvSpPr>
        <p:spPr>
          <a:xfrm>
            <a:off x="6880860" y="2717167"/>
            <a:ext cx="4405681" cy="265430"/>
          </a:xfrm>
          <a:prstGeom prst="rect">
            <a:avLst/>
          </a:prstGeom>
          <a:noFill/>
          <a:ln/>
        </p:spPr>
        <p:txBody>
          <a:bodyPr wrap="square" lIns="0" tIns="0" rIns="0" bIns="0" rtlCol="0" anchor="t">
            <a:normAutofit/>
          </a:bodyPr>
          <a:lstStyle/>
          <a:p>
            <a:pPr algn="l" indent="0" marL="0">
              <a:lnSpc>
                <a:spcPts val="1890"/>
              </a:lnSpc>
              <a:buNone/>
            </a:pPr>
            <a:r>
              <a:rPr lang="en-US" sz="1350" b="1" spc="100" kern="0" dirty="0">
                <a:solidFill>
                  <a:srgbClr val="5D6874"/>
                </a:solidFill>
                <a:latin typeface="IBM Plex Sans" pitchFamily="34" charset="0"/>
                <a:ea typeface="IBM Plex Sans" pitchFamily="34" charset="-122"/>
                <a:cs typeface="IBM Plex Sans" pitchFamily="34" charset="-120"/>
              </a:rPr>
              <a:t>DECODER  ·  WHERE EVERYONE ELSE WORKS</a:t>
            </a:r>
            <a:endParaRPr lang="en-US" sz="1350" dirty="0"/>
          </a:p>
        </p:txBody>
      </p:sp>
      <p:sp>
        <p:nvSpPr>
          <p:cNvPr id="14" name="Text 11"/>
          <p:cNvSpPr/>
          <p:nvPr/>
        </p:nvSpPr>
        <p:spPr>
          <a:xfrm>
            <a:off x="6880860" y="3058796"/>
            <a:ext cx="4277360" cy="451485"/>
          </a:xfrm>
          <a:custGeom>
            <a:avLst/>
            <a:gdLst/>
            <a:ahLst/>
            <a:cxnLst/>
            <a:rect l="l" t="t" r="r" b="b"/>
            <a:pathLst>
              <a:path w="4277360" h="451485">
                <a:moveTo>
                  <a:pt x="0" y="0"/>
                </a:moveTo>
                <a:lnTo>
                  <a:pt x="4213860" y="0"/>
                </a:lnTo>
                <a:arcTo hR="63500" wR="63500" stAng="16200000" swAng="5400000"/>
                <a:lnTo>
                  <a:pt x="4277360" y="387985"/>
                </a:lnTo>
                <a:arcTo hR="63500" wR="63500" stAng="0" swAng="5400000"/>
                <a:lnTo>
                  <a:pt x="0" y="451485"/>
                </a:lnTo>
                <a:lnTo>
                  <a:pt x="0" y="0"/>
                </a:lnTo>
                <a:close/>
              </a:path>
            </a:pathLst>
          </a:custGeom>
          <a:solidFill>
            <a:srgbClr val="F4F1EA"/>
          </a:solidFill>
          <a:ln/>
        </p:spPr>
        <p:txBody>
          <a:bodyPr wrap="square" lIns="177800" tIns="114300" rIns="33985" bIns="88900" rtlCol="0" anchor="t">
            <a:normAutofit/>
          </a:bodyPr>
          <a:lstStyle/>
          <a:p>
            <a:pPr algn="l" indent="0" marL="0">
              <a:lnSpc>
                <a:spcPts val="1755"/>
              </a:lnSpc>
              <a:buNone/>
            </a:pPr>
            <a:r>
              <a:rPr lang="en-US" sz="1300" dirty="0">
                <a:solidFill>
                  <a:srgbClr val="3C4855"/>
                </a:solidFill>
                <a:latin typeface="IBM Plex Sans" pitchFamily="34" charset="0"/>
                <a:ea typeface="IBM Plex Sans" pitchFamily="34" charset="-122"/>
                <a:cs typeface="IBM Plex Sans" pitchFamily="34" charset="-120"/>
              </a:rPr>
              <a:t>Synthetic-positive fine-tuning · </a:t>
            </a:r>
            <a:r>
              <a:rPr lang="en-US" sz="1300" u="sng" dirty="0">
                <a:solidFill>
                  <a:srgbClr val="3C4855"/>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2609.32560</a:t>
            </a:r>
            <a:endParaRPr lang="en-US" sz="1300" dirty="0"/>
          </a:p>
        </p:txBody>
      </p:sp>
      <p:sp>
        <p:nvSpPr>
          <p:cNvPr id="15" name="Shape 12"/>
          <p:cNvSpPr/>
          <p:nvPr/>
        </p:nvSpPr>
        <p:spPr>
          <a:xfrm>
            <a:off x="6880860" y="3058796"/>
            <a:ext cx="4277360" cy="451485"/>
          </a:xfrm>
          <a:custGeom>
            <a:avLst/>
            <a:gdLst/>
            <a:ahLst/>
            <a:cxnLst/>
            <a:rect l="l" t="t" r="r" b="b"/>
            <a:pathLst>
              <a:path w="4277360" h="451485">
                <a:moveTo>
                  <a:pt x="25400" y="451485"/>
                </a:moveTo>
                <a:lnTo>
                  <a:pt x="0" y="451485"/>
                </a:lnTo>
                <a:lnTo>
                  <a:pt x="0" y="0"/>
                </a:lnTo>
                <a:lnTo>
                  <a:pt x="25400" y="0"/>
                </a:lnTo>
                <a:lnTo>
                  <a:pt x="25400" y="451485"/>
                </a:lnTo>
                <a:close/>
              </a:path>
            </a:pathLst>
          </a:custGeom>
          <a:solidFill>
            <a:srgbClr val="8A94A0"/>
          </a:solidFill>
          <a:ln/>
        </p:spPr>
      </p:sp>
      <p:sp>
        <p:nvSpPr>
          <p:cNvPr id="16" name="Text 13"/>
          <p:cNvSpPr/>
          <p:nvPr/>
        </p:nvSpPr>
        <p:spPr>
          <a:xfrm>
            <a:off x="6880860" y="3586479"/>
            <a:ext cx="4277360" cy="451485"/>
          </a:xfrm>
          <a:custGeom>
            <a:avLst/>
            <a:gdLst/>
            <a:ahLst/>
            <a:cxnLst/>
            <a:rect l="l" t="t" r="r" b="b"/>
            <a:pathLst>
              <a:path w="4277360" h="451485">
                <a:moveTo>
                  <a:pt x="0" y="0"/>
                </a:moveTo>
                <a:lnTo>
                  <a:pt x="4213860" y="0"/>
                </a:lnTo>
                <a:arcTo hR="63500" wR="63500" stAng="16200000" swAng="5400000"/>
                <a:lnTo>
                  <a:pt x="4277360" y="387985"/>
                </a:lnTo>
                <a:arcTo hR="63500" wR="63500" stAng="0" swAng="5400000"/>
                <a:lnTo>
                  <a:pt x="0" y="451485"/>
                </a:lnTo>
                <a:lnTo>
                  <a:pt x="0" y="0"/>
                </a:lnTo>
                <a:close/>
              </a:path>
            </a:pathLst>
          </a:custGeom>
          <a:solidFill>
            <a:srgbClr val="F4F1EA"/>
          </a:solidFill>
          <a:ln/>
        </p:spPr>
        <p:txBody>
          <a:bodyPr wrap="square" lIns="177800" tIns="114300" rIns="33985" bIns="88900" rtlCol="0" anchor="t">
            <a:normAutofit/>
          </a:bodyPr>
          <a:lstStyle/>
          <a:p>
            <a:pPr algn="l" indent="0" marL="0">
              <a:lnSpc>
                <a:spcPts val="1755"/>
              </a:lnSpc>
              <a:buNone/>
            </a:pPr>
            <a:r>
              <a:rPr lang="en-US" sz="1300" dirty="0">
                <a:solidFill>
                  <a:srgbClr val="3C4855"/>
                </a:solidFill>
                <a:latin typeface="IBM Plex Sans" pitchFamily="34" charset="0"/>
                <a:ea typeface="IBM Plex Sans" pitchFamily="34" charset="-122"/>
                <a:cs typeface="IBM Plex Sans" pitchFamily="34" charset="-120"/>
              </a:rPr>
              <a:t>Hallucination-space projection · </a:t>
            </a:r>
            <a:r>
              <a:rPr lang="en-US" sz="1300" u="sng" dirty="0">
                <a:solidFill>
                  <a:srgbClr val="3C4855"/>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2609.04561</a:t>
            </a:r>
            <a:endParaRPr lang="en-US" sz="1300" dirty="0"/>
          </a:p>
        </p:txBody>
      </p:sp>
      <p:sp>
        <p:nvSpPr>
          <p:cNvPr id="17" name="Shape 14"/>
          <p:cNvSpPr/>
          <p:nvPr/>
        </p:nvSpPr>
        <p:spPr>
          <a:xfrm>
            <a:off x="6880860" y="3586479"/>
            <a:ext cx="4277360" cy="451485"/>
          </a:xfrm>
          <a:custGeom>
            <a:avLst/>
            <a:gdLst/>
            <a:ahLst/>
            <a:cxnLst/>
            <a:rect l="l" t="t" r="r" b="b"/>
            <a:pathLst>
              <a:path w="4277360" h="451485">
                <a:moveTo>
                  <a:pt x="25400" y="451485"/>
                </a:moveTo>
                <a:lnTo>
                  <a:pt x="0" y="451485"/>
                </a:lnTo>
                <a:lnTo>
                  <a:pt x="0" y="0"/>
                </a:lnTo>
                <a:lnTo>
                  <a:pt x="25400" y="0"/>
                </a:lnTo>
                <a:lnTo>
                  <a:pt x="25400" y="451485"/>
                </a:lnTo>
                <a:close/>
              </a:path>
            </a:pathLst>
          </a:custGeom>
          <a:solidFill>
            <a:srgbClr val="8A94A0"/>
          </a:solidFill>
          <a:ln/>
        </p:spPr>
      </p:sp>
      <p:sp>
        <p:nvSpPr>
          <p:cNvPr id="18" name="Text 15"/>
          <p:cNvSpPr/>
          <p:nvPr/>
        </p:nvSpPr>
        <p:spPr>
          <a:xfrm>
            <a:off x="6880860" y="4114167"/>
            <a:ext cx="4277360" cy="451485"/>
          </a:xfrm>
          <a:custGeom>
            <a:avLst/>
            <a:gdLst/>
            <a:ahLst/>
            <a:cxnLst/>
            <a:rect l="l" t="t" r="r" b="b"/>
            <a:pathLst>
              <a:path w="4277360" h="451485">
                <a:moveTo>
                  <a:pt x="0" y="0"/>
                </a:moveTo>
                <a:lnTo>
                  <a:pt x="4213860" y="0"/>
                </a:lnTo>
                <a:arcTo hR="63500" wR="63500" stAng="16200000" swAng="5400000"/>
                <a:lnTo>
                  <a:pt x="4277360" y="387985"/>
                </a:lnTo>
                <a:arcTo hR="63500" wR="63500" stAng="0" swAng="5400000"/>
                <a:lnTo>
                  <a:pt x="0" y="451485"/>
                </a:lnTo>
                <a:lnTo>
                  <a:pt x="0" y="0"/>
                </a:lnTo>
                <a:close/>
              </a:path>
            </a:pathLst>
          </a:custGeom>
          <a:solidFill>
            <a:srgbClr val="F4F1EA"/>
          </a:solidFill>
          <a:ln/>
        </p:spPr>
        <p:txBody>
          <a:bodyPr wrap="square" lIns="177800" tIns="114300" rIns="33985" bIns="88900" rtlCol="0" anchor="t">
            <a:normAutofit/>
          </a:bodyPr>
          <a:lstStyle/>
          <a:p>
            <a:pPr algn="l" indent="0" marL="0">
              <a:lnSpc>
                <a:spcPts val="1755"/>
              </a:lnSpc>
              <a:buNone/>
            </a:pPr>
            <a:r>
              <a:rPr lang="en-US" sz="1300" dirty="0">
                <a:solidFill>
                  <a:srgbClr val="3C4855"/>
                </a:solidFill>
                <a:latin typeface="IBM Plex Sans" pitchFamily="34" charset="0"/>
                <a:ea typeface="IBM Plex Sans" pitchFamily="34" charset="-122"/>
                <a:cs typeface="IBM Plex Sans" pitchFamily="34" charset="-120"/>
              </a:rPr>
              <a:t>Null-token logit shift · </a:t>
            </a:r>
            <a:r>
              <a:rPr lang="en-US" sz="1300" u="sng" dirty="0">
                <a:solidFill>
                  <a:srgbClr val="3C4855"/>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2608.15940</a:t>
            </a:r>
            <a:endParaRPr lang="en-US" sz="1300" dirty="0"/>
          </a:p>
        </p:txBody>
      </p:sp>
      <p:sp>
        <p:nvSpPr>
          <p:cNvPr id="19" name="Shape 16"/>
          <p:cNvSpPr/>
          <p:nvPr/>
        </p:nvSpPr>
        <p:spPr>
          <a:xfrm>
            <a:off x="6880860" y="4114167"/>
            <a:ext cx="4277360" cy="451485"/>
          </a:xfrm>
          <a:custGeom>
            <a:avLst/>
            <a:gdLst/>
            <a:ahLst/>
            <a:cxnLst/>
            <a:rect l="l" t="t" r="r" b="b"/>
            <a:pathLst>
              <a:path w="4277360" h="451485">
                <a:moveTo>
                  <a:pt x="25400" y="451485"/>
                </a:moveTo>
                <a:lnTo>
                  <a:pt x="0" y="451485"/>
                </a:lnTo>
                <a:lnTo>
                  <a:pt x="0" y="0"/>
                </a:lnTo>
                <a:lnTo>
                  <a:pt x="25400" y="0"/>
                </a:lnTo>
                <a:lnTo>
                  <a:pt x="25400" y="451485"/>
                </a:lnTo>
                <a:close/>
              </a:path>
            </a:pathLst>
          </a:custGeom>
          <a:solidFill>
            <a:srgbClr val="8A94A0"/>
          </a:solidFill>
          <a:ln/>
        </p:spPr>
      </p:sp>
      <p:sp>
        <p:nvSpPr>
          <p:cNvPr id="20" name="Text 17"/>
          <p:cNvSpPr/>
          <p:nvPr/>
        </p:nvSpPr>
        <p:spPr>
          <a:xfrm>
            <a:off x="6880860" y="4641850"/>
            <a:ext cx="4277360" cy="451485"/>
          </a:xfrm>
          <a:custGeom>
            <a:avLst/>
            <a:gdLst/>
            <a:ahLst/>
            <a:cxnLst/>
            <a:rect l="l" t="t" r="r" b="b"/>
            <a:pathLst>
              <a:path w="4277360" h="451485">
                <a:moveTo>
                  <a:pt x="0" y="0"/>
                </a:moveTo>
                <a:lnTo>
                  <a:pt x="4213860" y="0"/>
                </a:lnTo>
                <a:arcTo hR="63500" wR="63500" stAng="16200000" swAng="5400000"/>
                <a:lnTo>
                  <a:pt x="4277360" y="387985"/>
                </a:lnTo>
                <a:arcTo hR="63500" wR="63500" stAng="0" swAng="5400000"/>
                <a:lnTo>
                  <a:pt x="0" y="451485"/>
                </a:lnTo>
                <a:lnTo>
                  <a:pt x="0" y="0"/>
                </a:lnTo>
                <a:close/>
              </a:path>
            </a:pathLst>
          </a:custGeom>
          <a:solidFill>
            <a:srgbClr val="F4F1EA"/>
          </a:solidFill>
          <a:ln/>
        </p:spPr>
        <p:txBody>
          <a:bodyPr wrap="square" lIns="177800" tIns="114300" rIns="33985" bIns="88900" rtlCol="0" anchor="t">
            <a:normAutofit/>
          </a:bodyPr>
          <a:lstStyle/>
          <a:p>
            <a:pPr algn="l" indent="0" marL="0">
              <a:lnSpc>
                <a:spcPts val="1755"/>
              </a:lnSpc>
              <a:buNone/>
            </a:pPr>
            <a:r>
              <a:rPr lang="en-US" sz="1300" dirty="0">
                <a:solidFill>
                  <a:srgbClr val="3C4855"/>
                </a:solidFill>
                <a:latin typeface="IBM Plex Sans" pitchFamily="34" charset="0"/>
                <a:ea typeface="IBM Plex Sans" pitchFamily="34" charset="-122"/>
                <a:cs typeface="IBM Plex Sans" pitchFamily="34" charset="-120"/>
              </a:rPr>
              <a:t>Decoder temporal patterns · </a:t>
            </a:r>
            <a:r>
              <a:rPr lang="en-US" sz="1300" u="sng" dirty="0">
                <a:solidFill>
                  <a:srgbClr val="3C4855"/>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2607.01108</a:t>
            </a:r>
            <a:endParaRPr lang="en-US" sz="1300" dirty="0"/>
          </a:p>
        </p:txBody>
      </p:sp>
      <p:sp>
        <p:nvSpPr>
          <p:cNvPr id="21" name="Shape 18"/>
          <p:cNvSpPr/>
          <p:nvPr/>
        </p:nvSpPr>
        <p:spPr>
          <a:xfrm>
            <a:off x="6880860" y="4641850"/>
            <a:ext cx="4277360" cy="451485"/>
          </a:xfrm>
          <a:custGeom>
            <a:avLst/>
            <a:gdLst/>
            <a:ahLst/>
            <a:cxnLst/>
            <a:rect l="l" t="t" r="r" b="b"/>
            <a:pathLst>
              <a:path w="4277360" h="451485">
                <a:moveTo>
                  <a:pt x="25400" y="451485"/>
                </a:moveTo>
                <a:lnTo>
                  <a:pt x="0" y="451485"/>
                </a:lnTo>
                <a:lnTo>
                  <a:pt x="0" y="0"/>
                </a:lnTo>
                <a:lnTo>
                  <a:pt x="25400" y="0"/>
                </a:lnTo>
                <a:lnTo>
                  <a:pt x="25400" y="451485"/>
                </a:lnTo>
                <a:close/>
              </a:path>
            </a:pathLst>
          </a:custGeom>
          <a:solidFill>
            <a:srgbClr val="8A94A0"/>
          </a:solidFill>
          <a:ln/>
        </p:spPr>
      </p:sp>
      <p:sp>
        <p:nvSpPr>
          <p:cNvPr id="22" name="Text 19"/>
          <p:cNvSpPr/>
          <p:nvPr/>
        </p:nvSpPr>
        <p:spPr>
          <a:xfrm>
            <a:off x="6880860" y="5169539"/>
            <a:ext cx="4277360" cy="451485"/>
          </a:xfrm>
          <a:custGeom>
            <a:avLst/>
            <a:gdLst/>
            <a:ahLst/>
            <a:cxnLst/>
            <a:rect l="l" t="t" r="r" b="b"/>
            <a:pathLst>
              <a:path w="4277360" h="451485">
                <a:moveTo>
                  <a:pt x="0" y="0"/>
                </a:moveTo>
                <a:lnTo>
                  <a:pt x="4213860" y="0"/>
                </a:lnTo>
                <a:arcTo hR="63500" wR="63500" stAng="16200000" swAng="5400000"/>
                <a:lnTo>
                  <a:pt x="4277360" y="387985"/>
                </a:lnTo>
                <a:arcTo hR="63500" wR="63500" stAng="0" swAng="5400000"/>
                <a:lnTo>
                  <a:pt x="0" y="451485"/>
                </a:lnTo>
                <a:lnTo>
                  <a:pt x="0" y="0"/>
                </a:lnTo>
                <a:close/>
              </a:path>
            </a:pathLst>
          </a:custGeom>
          <a:solidFill>
            <a:srgbClr val="F4F1EA"/>
          </a:solidFill>
          <a:ln/>
        </p:spPr>
        <p:txBody>
          <a:bodyPr wrap="square" lIns="177800" tIns="114300" rIns="33985" bIns="88900" rtlCol="0" anchor="t">
            <a:normAutofit/>
          </a:bodyPr>
          <a:lstStyle/>
          <a:p>
            <a:pPr algn="l" indent="0" marL="0">
              <a:lnSpc>
                <a:spcPts val="1755"/>
              </a:lnSpc>
              <a:buNone/>
            </a:pPr>
            <a:r>
              <a:rPr lang="en-US" sz="1300" dirty="0">
                <a:solidFill>
                  <a:srgbClr val="3C4855"/>
                </a:solidFill>
                <a:latin typeface="IBM Plex Sans" pitchFamily="34" charset="0"/>
                <a:ea typeface="IBM Plex Sans" pitchFamily="34" charset="-122"/>
                <a:cs typeface="IBM Plex Sans" pitchFamily="34" charset="-120"/>
              </a:rPr>
              <a:t>VAD preprocessing · standing practice</a:t>
            </a:r>
            <a:endParaRPr lang="en-US" sz="1300" dirty="0"/>
          </a:p>
        </p:txBody>
      </p:sp>
      <p:sp>
        <p:nvSpPr>
          <p:cNvPr id="23" name="Shape 20"/>
          <p:cNvSpPr/>
          <p:nvPr/>
        </p:nvSpPr>
        <p:spPr>
          <a:xfrm>
            <a:off x="6880860" y="5169539"/>
            <a:ext cx="4277360" cy="451485"/>
          </a:xfrm>
          <a:custGeom>
            <a:avLst/>
            <a:gdLst/>
            <a:ahLst/>
            <a:cxnLst/>
            <a:rect l="l" t="t" r="r" b="b"/>
            <a:pathLst>
              <a:path w="4277360" h="451485">
                <a:moveTo>
                  <a:pt x="25400" y="451485"/>
                </a:moveTo>
                <a:lnTo>
                  <a:pt x="0" y="451485"/>
                </a:lnTo>
                <a:lnTo>
                  <a:pt x="0" y="0"/>
                </a:lnTo>
                <a:lnTo>
                  <a:pt x="25400" y="0"/>
                </a:lnTo>
                <a:lnTo>
                  <a:pt x="25400" y="451485"/>
                </a:lnTo>
                <a:close/>
              </a:path>
            </a:pathLst>
          </a:custGeom>
          <a:solidFill>
            <a:srgbClr val="8A94A0"/>
          </a:solidFill>
          <a:ln/>
        </p:spPr>
      </p:sp>
      <p:sp>
        <p:nvSpPr>
          <p:cNvPr id="24" name="Text 21"/>
          <p:cNvSpPr/>
          <p:nvPr/>
        </p:nvSpPr>
        <p:spPr>
          <a:xfrm>
            <a:off x="812800" y="6238242"/>
            <a:ext cx="78458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The null-token paper is the closest in spirit — and it neither cites Darcet et al. nor measures a single token norm.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EC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E7A"/>
                </a:solidFill>
                <a:latin typeface="IBM Plex Sans" pitchFamily="34" charset="0"/>
                <a:ea typeface="IBM Plex Sans" pitchFamily="34" charset="-122"/>
                <a:cs typeface="IBM Plex Sans" pitchFamily="34" charset="-120"/>
              </a:rPr>
              <a:t>THE EXPERIMENTS</a:t>
            </a:r>
            <a:endParaRPr lang="en-US" sz="1200" dirty="0"/>
          </a:p>
        </p:txBody>
      </p:sp>
      <p:sp>
        <p:nvSpPr>
          <p:cNvPr id="3" name="Text 1"/>
          <p:cNvSpPr/>
          <p:nvPr/>
        </p:nvSpPr>
        <p:spPr>
          <a:xfrm>
            <a:off x="812800" y="1127764"/>
            <a:ext cx="10883392" cy="537448"/>
          </a:xfrm>
          <a:prstGeom prst="rect">
            <a:avLst/>
          </a:prstGeom>
          <a:noFill/>
          <a:ln/>
        </p:spPr>
        <p:txBody>
          <a:bodyPr wrap="square" lIns="0" tIns="0" rIns="0" bIns="0" rtlCol="0" anchor="t">
            <a:normAutofit/>
          </a:bodyPr>
          <a:lstStyle/>
          <a:p>
            <a:pPr algn="l" indent="0" marL="0">
              <a:lnSpc>
                <a:spcPts val="4032"/>
              </a:lnSpc>
              <a:buNone/>
            </a:pPr>
            <a:r>
              <a:rPr lang="en-US" sz="3600" b="1" dirty="0">
                <a:solidFill>
                  <a:srgbClr val="12232B"/>
                </a:solidFill>
                <a:latin typeface="Source Serif 4" pitchFamily="34" charset="0"/>
                <a:ea typeface="Source Serif 4" pitchFamily="34" charset="-122"/>
                <a:cs typeface="Source Serif 4" pitchFamily="34" charset="-120"/>
              </a:rPr>
              <a:t>What we will test</a:t>
            </a:r>
            <a:endParaRPr lang="en-US" sz="3600" dirty="0"/>
          </a:p>
        </p:txBody>
      </p:sp>
      <p:sp>
        <p:nvSpPr>
          <p:cNvPr id="4" name="Text 2"/>
          <p:cNvSpPr/>
          <p:nvPr/>
        </p:nvSpPr>
        <p:spPr>
          <a:xfrm>
            <a:off x="812800" y="1741407"/>
            <a:ext cx="9156700" cy="28321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5D6874"/>
                </a:solidFill>
                <a:latin typeface="IBM Plex Sans" pitchFamily="34" charset="0"/>
                <a:ea typeface="IBM Plex Sans" pitchFamily="34" charset="-122"/>
                <a:cs typeface="IBM Plex Sans" pitchFamily="34" charset="-120"/>
              </a:rPr>
              <a:t>Five experiments. Each one splits the three accounts apart, and each is possible only in audio.</a:t>
            </a:r>
            <a:endParaRPr lang="en-US" sz="14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409189"/>
          <a:ext cx="10556240" cy="3432810"/>
        </p:xfrm>
        <a:graphic>
          <a:graphicData uri="http://schemas.openxmlformats.org/drawingml/2006/table">
            <a:tbl>
              <a:tblPr/>
              <a:tblGrid>
                <a:gridCol w="2955747"/>
                <a:gridCol w="2533498"/>
                <a:gridCol w="2533498"/>
                <a:gridCol w="2533498"/>
              </a:tblGrid>
              <a:tr h="461010">
                <a:tc>
                  <a:txBody>
                    <a:bodyPr/>
                    <a:lstStyle/>
                    <a:p>
                      <a:pPr indent="0" marL="0">
                        <a:lnSpc>
                          <a:spcPts val="1750"/>
                        </a:lnSpc>
                        <a:buNone/>
                      </a:pPr>
                      <a:r>
                        <a:rPr lang="en-US" sz="1250" b="1" dirty="0">
                          <a:solidFill>
                            <a:srgbClr val="FAF8F4"/>
                          </a:solidFill>
                          <a:latin typeface="IBM Plex Sans" pitchFamily="34" charset="0"/>
                          <a:ea typeface="IBM Plex Sans" pitchFamily="34" charset="-122"/>
                          <a:cs typeface="IBM Plex Sans" pitchFamily="34" charset="-120"/>
                        </a:rPr>
                        <a:t>Experiment</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B2AFA8"/>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B2AFA8"/>
                      </a:solidFill>
                      <a:prstDash val="solid"/>
                      <a:round/>
                      <a:headEnd type="none" w="med" len="med"/>
                      <a:tailEnd type="none" w="med" len="med"/>
                    </a:lnB>
                    <a:solidFill>
                      <a:srgbClr val="DFDBD2"/>
                    </a:solidFill>
                  </a:tcPr>
                </a:tc>
                <a:tc>
                  <a:txBody>
                    <a:bodyPr/>
                    <a:lstStyle/>
                    <a:p>
                      <a:pPr indent="0" marL="0">
                        <a:lnSpc>
                          <a:spcPts val="1750"/>
                        </a:lnSpc>
                        <a:buNone/>
                      </a:pPr>
                      <a:r>
                        <a:rPr lang="en-US" sz="1250" b="1" dirty="0">
                          <a:solidFill>
                            <a:srgbClr val="FAF8F4"/>
                          </a:solidFill>
                          <a:latin typeface="IBM Plex Sans" pitchFamily="34" charset="0"/>
                          <a:ea typeface="IBM Plex Sans" pitchFamily="34" charset="-122"/>
                          <a:cs typeface="IBM Plex Sans" pitchFamily="34" charset="-120"/>
                        </a:rPr>
                        <a:t>H–A content</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B2AFA8"/>
                      </a:solidFill>
                      <a:prstDash val="solid"/>
                      <a:round/>
                      <a:headEnd type="none" w="med" len="med"/>
                      <a:tailEnd type="none" w="med" len="med"/>
                    </a:lnL>
                    <a:lnR w="12700" cap="flat" cmpd="sng" algn="ctr">
                      <a:solidFill>
                        <a:srgbClr val="B2AFA8"/>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B2AFA8"/>
                      </a:solidFill>
                      <a:prstDash val="solid"/>
                      <a:round/>
                      <a:headEnd type="none" w="med" len="med"/>
                      <a:tailEnd type="none" w="med" len="med"/>
                    </a:lnB>
                    <a:solidFill>
                      <a:srgbClr val="DFDBD2"/>
                    </a:solidFill>
                  </a:tcPr>
                </a:tc>
                <a:tc>
                  <a:txBody>
                    <a:bodyPr/>
                    <a:lstStyle/>
                    <a:p>
                      <a:pPr indent="0" marL="0">
                        <a:lnSpc>
                          <a:spcPts val="1750"/>
                        </a:lnSpc>
                        <a:buNone/>
                      </a:pPr>
                      <a:r>
                        <a:rPr lang="en-US" sz="1250" b="1" dirty="0">
                          <a:solidFill>
                            <a:srgbClr val="FAF8F4"/>
                          </a:solidFill>
                          <a:latin typeface="IBM Plex Sans" pitchFamily="34" charset="0"/>
                          <a:ea typeface="IBM Plex Sans" pitchFamily="34" charset="-122"/>
                          <a:cs typeface="IBM Plex Sans" pitchFamily="34" charset="-120"/>
                        </a:rPr>
                        <a:t>H–B position</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B2AFA8"/>
                      </a:solidFill>
                      <a:prstDash val="solid"/>
                      <a:round/>
                      <a:headEnd type="none" w="med" len="med"/>
                      <a:tailEnd type="none" w="med" len="med"/>
                    </a:lnL>
                    <a:lnR w="12700" cap="flat" cmpd="sng" algn="ctr">
                      <a:solidFill>
                        <a:srgbClr val="B2AFA8"/>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B2AFA8"/>
                      </a:solidFill>
                      <a:prstDash val="solid"/>
                      <a:round/>
                      <a:headEnd type="none" w="med" len="med"/>
                      <a:tailEnd type="none" w="med" len="med"/>
                    </a:lnB>
                    <a:solidFill>
                      <a:srgbClr val="DFDBD2"/>
                    </a:solidFill>
                  </a:tcPr>
                </a:tc>
                <a:tc>
                  <a:txBody>
                    <a:bodyPr/>
                    <a:lstStyle/>
                    <a:p>
                      <a:pPr indent="0" marL="0">
                        <a:lnSpc>
                          <a:spcPts val="1750"/>
                        </a:lnSpc>
                        <a:buNone/>
                      </a:pPr>
                      <a:r>
                        <a:rPr lang="en-US" sz="1250" b="1" dirty="0">
                          <a:solidFill>
                            <a:srgbClr val="FAF8F4"/>
                          </a:solidFill>
                          <a:latin typeface="IBM Plex Sans" pitchFamily="34" charset="0"/>
                          <a:ea typeface="IBM Plex Sans" pitchFamily="34" charset="-122"/>
                          <a:cs typeface="IBM Plex Sans" pitchFamily="34" charset="-120"/>
                        </a:rPr>
                        <a:t>H–C weights</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B2AFA8"/>
                      </a:solidFill>
                      <a:prstDash val="solid"/>
                      <a:round/>
                      <a:headEnd type="none" w="med" len="med"/>
                      <a:tailEnd type="none" w="med" len="med"/>
                    </a:lnL>
                    <a:lnR w="12700" cap="flat" cmpd="sng" algn="ctr">
                      <a:solidFill>
                        <a:srgbClr val="B2AFA8"/>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B2AFA8"/>
                      </a:solidFill>
                      <a:prstDash val="solid"/>
                      <a:round/>
                      <a:headEnd type="none" w="med" len="med"/>
                      <a:tailEnd type="none" w="med" len="med"/>
                    </a:lnB>
                    <a:solidFill>
                      <a:srgbClr val="DFDBD2"/>
                    </a:solidFill>
                  </a:tcPr>
                </a:tc>
              </a:tr>
              <a:tr h="461010">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E1  Move the pad: start, middle, end</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B2AFA8"/>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C2601C"/>
                          </a:solidFill>
                          <a:latin typeface="IBM Plex Sans" pitchFamily="34" charset="0"/>
                          <a:ea typeface="IBM Plex Sans" pitchFamily="34" charset="-122"/>
                          <a:cs typeface="IBM Plex Sans" pitchFamily="34" charset="-120"/>
                        </a:rPr>
                        <a:t>outliers follow the pad</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B2AFA8"/>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outliers hold a fixed index</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B2AFA8"/>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direction fixed, token unstable</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B2AFA8"/>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r>
              <a:tr h="683260">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E2  Fill it: zero, noise, tone, looped fragment</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C7C6C3"/>
                      </a:solidFill>
                      <a:prstDash val="solid"/>
                      <a:round/>
                      <a:headEnd type="none" w="med" len="med"/>
                      <a:tailEnd type="none" w="med" len="med"/>
                    </a:lnB>
                    <a:solidFill>
                      <a:srgbClr val="FAF8F4"/>
                    </a:solidFill>
                  </a:tcPr>
                </a:tc>
                <a:tc>
                  <a:txBody>
                    <a:bodyPr/>
                    <a:lstStyle/>
                    <a:p>
                      <a:pPr indent="0" marL="0">
                        <a:lnSpc>
                          <a:spcPts val="1750"/>
                        </a:lnSpc>
                        <a:buNone/>
                      </a:pPr>
                      <a:r>
                        <a:rPr lang="en-US" sz="1250" dirty="0">
                          <a:solidFill>
                            <a:srgbClr val="C2601C"/>
                          </a:solidFill>
                          <a:latin typeface="IBM Plex Sans" pitchFamily="34" charset="0"/>
                          <a:ea typeface="IBM Plex Sans" pitchFamily="34" charset="-122"/>
                          <a:cs typeface="IBM Plex Sans" pitchFamily="34" charset="-120"/>
                        </a:rPr>
                        <a:t>prefers low-information fills</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C7C6C3"/>
                      </a:solidFill>
                      <a:prstDash val="solid"/>
                      <a:round/>
                      <a:headEnd type="none" w="med" len="med"/>
                      <a:tailEnd type="none" w="med" len="med"/>
                    </a:lnB>
                    <a:solidFill>
                      <a:srgbClr val="FAF8F4"/>
                    </a:solidFill>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indifferent to the fill</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C7C6C3"/>
                      </a:solidFill>
                      <a:prstDash val="solid"/>
                      <a:round/>
                      <a:headEnd type="none" w="med" len="med"/>
                      <a:tailEnd type="none" w="med" len="med"/>
                    </a:lnB>
                    <a:solidFill>
                      <a:srgbClr val="FAF8F4"/>
                    </a:solidFill>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indifferent to the fill</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C7C6C3"/>
                      </a:solidFill>
                      <a:prstDash val="solid"/>
                      <a:round/>
                      <a:headEnd type="none" w="med" len="med"/>
                      <a:tailEnd type="none" w="med" len="med"/>
                    </a:lnB>
                    <a:solidFill>
                      <a:srgbClr val="FAF8F4"/>
                    </a:solidFill>
                  </a:tcPr>
                </a:tc>
              </a:tr>
              <a:tr h="461010">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E3  Sweep pad length, 1 s to 29 s</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C2601C"/>
                          </a:solidFill>
                          <a:latin typeface="IBM Plex Sans" pitchFamily="34" charset="0"/>
                          <a:ea typeface="IBM Plex Sans" pitchFamily="34" charset="-122"/>
                          <a:cs typeface="IBM Plex Sans" pitchFamily="34" charset="-120"/>
                        </a:rPr>
                        <a:t>register mass rises with it</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flat</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flat</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r>
              <a:tr h="683260">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E4  Whisper ladder, fixed data and objective</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C7C6C3"/>
                      </a:solidFill>
                      <a:prstDash val="solid"/>
                      <a:round/>
                      <a:headEnd type="none" w="med" len="med"/>
                      <a:tailEnd type="none" w="med" len="med"/>
                    </a:lnB>
                    <a:solidFill>
                      <a:srgbClr val="FAF8F4"/>
                    </a:solidFill>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emerges with spare capacity</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C7C6C3"/>
                      </a:solidFill>
                      <a:prstDash val="solid"/>
                      <a:round/>
                      <a:headEnd type="none" w="med" len="med"/>
                      <a:tailEnd type="none" w="med" len="med"/>
                    </a:lnB>
                    <a:solidFill>
                      <a:srgbClr val="FAF8F4"/>
                    </a:solidFill>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emerges with depth</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C7C6C3"/>
                      </a:solidFill>
                      <a:prstDash val="solid"/>
                      <a:round/>
                      <a:headEnd type="none" w="med" len="med"/>
                      <a:tailEnd type="none" w="med" len="med"/>
                    </a:lnB>
                    <a:solidFill>
                      <a:srgbClr val="FAF8F4"/>
                    </a:solidFill>
                  </a:tcPr>
                </a:tc>
                <a:tc>
                  <a:txBody>
                    <a:bodyPr/>
                    <a:lstStyle/>
                    <a:p>
                      <a:pPr indent="0" marL="0">
                        <a:lnSpc>
                          <a:spcPts val="1750"/>
                        </a:lnSpc>
                        <a:buNone/>
                      </a:pPr>
                      <a:r>
                        <a:rPr lang="en-US" sz="1250" dirty="0">
                          <a:solidFill>
                            <a:srgbClr val="C2601C"/>
                          </a:solidFill>
                          <a:latin typeface="IBM Plex Sans" pitchFamily="34" charset="0"/>
                          <a:ea typeface="IBM Plex Sans" pitchFamily="34" charset="-122"/>
                          <a:cs typeface="IBM Plex Sans" pitchFamily="34" charset="-120"/>
                        </a:rPr>
                        <a:t>emerges with training compute</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7C6C3"/>
                      </a:solidFill>
                      <a:prstDash val="solid"/>
                      <a:round/>
                      <a:headEnd type="none" w="med" len="med"/>
                      <a:tailEnd type="none" w="med" len="med"/>
                    </a:lnL>
                    <a:lnR w="12700" cap="flat" cmpd="sng" algn="ctr">
                      <a:solidFill>
                        <a:srgbClr val="C7C6C3"/>
                      </a:solidFill>
                      <a:prstDash val="solid"/>
                      <a:round/>
                      <a:headEnd type="none" w="med" len="med"/>
                      <a:tailEnd type="none" w="med" len="med"/>
                    </a:lnR>
                    <a:lnT w="12700" cap="flat" cmpd="sng" algn="ctr">
                      <a:solidFill>
                        <a:srgbClr val="C0BCB5"/>
                      </a:solidFill>
                      <a:prstDash val="solid"/>
                      <a:round/>
                      <a:headEnd type="none" w="med" len="med"/>
                      <a:tailEnd type="none" w="med" len="med"/>
                    </a:lnT>
                    <a:lnB w="12700" cap="flat" cmpd="sng" algn="ctr">
                      <a:solidFill>
                        <a:srgbClr val="C7C6C3"/>
                      </a:solidFill>
                      <a:prstDash val="solid"/>
                      <a:round/>
                      <a:headEnd type="none" w="med" len="med"/>
                      <a:tailEnd type="none" w="med" len="med"/>
                    </a:lnB>
                    <a:solidFill>
                      <a:srgbClr val="FAF8F4"/>
                    </a:solidFill>
                  </a:tcPr>
                </a:tc>
              </a:tr>
              <a:tr h="683260">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E5  Encoder (bidirectional) vs decoder (causal)</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12232B"/>
                          </a:solidFill>
                          <a:latin typeface="IBM Plex Sans" pitchFamily="34" charset="0"/>
                          <a:ea typeface="IBM Plex Sans" pitchFamily="34" charset="-122"/>
                          <a:cs typeface="IBM Plex Sans" pitchFamily="34" charset="-120"/>
                        </a:rPr>
                        <a:t>present in both</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C2601C"/>
                          </a:solidFill>
                          <a:latin typeface="IBM Plex Sans" pitchFamily="34" charset="0"/>
                          <a:ea typeface="IBM Plex Sans" pitchFamily="34" charset="-122"/>
                          <a:cs typeface="IBM Plex Sans" pitchFamily="34" charset="-120"/>
                        </a:rPr>
                        <a:t>decoder-heavy</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c>
                  <a:txBody>
                    <a:bodyPr/>
                    <a:lstStyle/>
                    <a:p>
                      <a:pPr indent="0" marL="0">
                        <a:lnSpc>
                          <a:spcPts val="1750"/>
                        </a:lnSpc>
                        <a:buNone/>
                      </a:pPr>
                      <a:r>
                        <a:rPr lang="en-US" sz="1250" dirty="0">
                          <a:solidFill>
                            <a:srgbClr val="C2601C"/>
                          </a:solidFill>
                          <a:latin typeface="IBM Plex Sans" pitchFamily="34" charset="0"/>
                          <a:ea typeface="IBM Plex Sans" pitchFamily="34" charset="-122"/>
                          <a:cs typeface="IBM Plex Sans" pitchFamily="34" charset="-120"/>
                        </a:rPr>
                        <a:t>decoder only</a:t>
                      </a:r>
                      <a:endParaRPr lang="en-US" sz="1250" dirty="0">
                        <a:latin typeface="IBM Plex Sans" charset="0"/>
                        <a:ea typeface="IBM Plex Sans" charset="0"/>
                        <a:cs typeface="IBM Plex Sans" charset="0"/>
                      </a:endParaRPr>
                    </a:p>
                  </a:txBody>
                  <a:tcPr marL="127000" marR="127000" marT="114300" marB="114300" anchor="t">
                    <a:lnL w="12700" cap="flat" cmpd="sng" algn="ctr">
                      <a:solidFill>
                        <a:srgbClr val="C0BCB5"/>
                      </a:solidFill>
                      <a:prstDash val="solid"/>
                      <a:round/>
                      <a:headEnd type="none" w="med" len="med"/>
                      <a:tailEnd type="none" w="med" len="med"/>
                    </a:lnL>
                    <a:lnR w="12700" cap="flat" cmpd="sng" algn="ctr">
                      <a:solidFill>
                        <a:srgbClr val="C0BCB5"/>
                      </a:solidFill>
                      <a:prstDash val="solid"/>
                      <a:round/>
                      <a:headEnd type="none" w="med" len="med"/>
                      <a:tailEnd type="none" w="med" len="med"/>
                    </a:lnR>
                    <a:lnT w="12700" cap="flat" cmpd="sng" algn="ctr">
                      <a:solidFill>
                        <a:srgbClr val="C7C6C3"/>
                      </a:solidFill>
                      <a:prstDash val="solid"/>
                      <a:round/>
                      <a:headEnd type="none" w="med" len="med"/>
                      <a:tailEnd type="none" w="med" len="med"/>
                    </a:lnT>
                    <a:lnB w="12700" cap="flat" cmpd="sng" algn="ctr">
                      <a:solidFill>
                        <a:srgbClr val="C0BCB5"/>
                      </a:solidFill>
                      <a:prstDash val="solid"/>
                      <a:round/>
                      <a:headEnd type="none" w="med" len="med"/>
                      <a:tailEnd type="none" w="med" len="med"/>
                    </a:lnB>
                  </a:tcPr>
                </a:tc>
              </a:tr>
            </a:tbl>
          </a:graphicData>
        </a:graphic>
      </p:graphicFrame>
      <p:sp>
        <p:nvSpPr>
          <p:cNvPr id="6" name="Text 3"/>
          <p:cNvSpPr/>
          <p:nvPr/>
        </p:nvSpPr>
        <p:spPr>
          <a:xfrm>
            <a:off x="812800" y="6238242"/>
            <a:ext cx="89434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A86"/>
                </a:solidFill>
                <a:latin typeface="IBM Plex Sans" pitchFamily="34" charset="0"/>
                <a:ea typeface="IBM Plex Sans" pitchFamily="34" charset="-122"/>
                <a:cs typeface="IBM Plex Sans" pitchFamily="34" charset="-120"/>
              </a:rPr>
              <a:t>E4 is a scale ladder at fixed data and objective — vision has no equivalent. E5 runs both masking regimes inside one checkpoint.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04232"/>
          </a:xfrm>
          <a:prstGeom prst="rect">
            <a:avLst/>
          </a:prstGeom>
          <a:noFill/>
          <a:ln/>
        </p:spPr>
        <p:txBody>
          <a:bodyPr wrap="square" lIns="0" tIns="0" rIns="0" bIns="0" rtlCol="0" anchor="t">
            <a:normAutofit/>
          </a:bodyPr>
          <a:lstStyle/>
          <a:p>
            <a:pPr algn="l" indent="0" marL="0">
              <a:lnSpc>
                <a:spcPts val="1423"/>
              </a:lnSpc>
              <a:buNone/>
            </a:pPr>
            <a:r>
              <a:rPr lang="en-US" sz="1016" b="1" spc="150" kern="0" dirty="0">
                <a:solidFill>
                  <a:srgbClr val="0F6E7A"/>
                </a:solidFill>
                <a:latin typeface="IBM Plex Sans" pitchFamily="34" charset="0"/>
                <a:ea typeface="IBM Plex Sans" pitchFamily="34" charset="-122"/>
                <a:cs typeface="IBM Plex Sans" pitchFamily="34" charset="-120"/>
              </a:rPr>
              <a:t>RISK MANAGEMENT</a:t>
            </a:r>
            <a:endParaRPr lang="en-US" sz="1016" dirty="0"/>
          </a:p>
        </p:txBody>
      </p:sp>
      <p:sp>
        <p:nvSpPr>
          <p:cNvPr id="3" name="Text 1"/>
          <p:cNvSpPr/>
          <p:nvPr/>
        </p:nvSpPr>
        <p:spPr>
          <a:xfrm>
            <a:off x="812800" y="1093236"/>
            <a:ext cx="10883392" cy="883603"/>
          </a:xfrm>
          <a:prstGeom prst="rect">
            <a:avLst/>
          </a:prstGeom>
          <a:noFill/>
          <a:ln/>
        </p:spPr>
        <p:txBody>
          <a:bodyPr wrap="square" lIns="0" tIns="0" rIns="0" bIns="0" rtlCol="0" anchor="t">
            <a:normAutofit/>
          </a:bodyPr>
          <a:lstStyle/>
          <a:p>
            <a:pPr algn="l" indent="0" marL="0">
              <a:lnSpc>
                <a:spcPts val="3868"/>
              </a:lnSpc>
              <a:buNone/>
            </a:pPr>
            <a:r>
              <a:rPr lang="en-US" sz="3454" b="1" dirty="0">
                <a:solidFill>
                  <a:srgbClr val="12232B"/>
                </a:solidFill>
                <a:latin typeface="Source Serif 4" pitchFamily="34" charset="0"/>
                <a:ea typeface="Source Serif 4" pitchFamily="34" charset="-122"/>
                <a:cs typeface="Source Serif 4" pitchFamily="34" charset="-120"/>
              </a:rPr>
              <a:t>A two-day gate before a three-month commitment</a:t>
            </a:r>
            <a:endParaRPr lang="en-US" sz="3454" dirty="0"/>
          </a:p>
        </p:txBody>
      </p:sp>
      <p:sp>
        <p:nvSpPr>
          <p:cNvPr id="4" name="Text 2"/>
          <p:cNvSpPr/>
          <p:nvPr/>
        </p:nvSpPr>
        <p:spPr>
          <a:xfrm>
            <a:off x="812800" y="2053034"/>
            <a:ext cx="9287510" cy="696674"/>
          </a:xfrm>
          <a:prstGeom prst="rect">
            <a:avLst/>
          </a:prstGeom>
          <a:noFill/>
          <a:ln/>
        </p:spPr>
        <p:txBody>
          <a:bodyPr wrap="square" lIns="0" tIns="0" rIns="0" bIns="0" rtlCol="0" anchor="t">
            <a:normAutofit/>
          </a:bodyPr>
          <a:lstStyle/>
          <a:p>
            <a:pPr algn="l" indent="0" marL="0">
              <a:lnSpc>
                <a:spcPts val="1951"/>
              </a:lnSpc>
              <a:buNone/>
            </a:pPr>
            <a:r>
              <a:rPr lang="en-US" sz="1346" dirty="0">
                <a:solidFill>
                  <a:srgbClr val="5D6874"/>
                </a:solidFill>
                <a:latin typeface="IBM Plex Sans" pitchFamily="34" charset="0"/>
                <a:ea typeface="IBM Plex Sans" pitchFamily="34" charset="-122"/>
                <a:cs typeface="IBM Plex Sans" pitchFamily="34" charset="-120"/>
              </a:rPr>
              <a:t>The real risk is not being scooped — it is finding nothing. So the first thing we run is the thing that could kill the project: norm statistics across the large encoders, </a:t>
            </a:r>
            <a:r>
              <a:rPr lang="en-US" sz="1346" b="1" dirty="0">
                <a:solidFill>
                  <a:srgbClr val="5D6874"/>
                </a:solidFill>
                <a:latin typeface="IBM Plex Sans" pitchFamily="34" charset="0"/>
                <a:ea typeface="IBM Plex Sans" pitchFamily="34" charset="-122"/>
                <a:cs typeface="IBM Plex Sans" pitchFamily="34" charset="-120"/>
              </a:rPr>
              <a:t>before</a:t>
            </a:r>
            <a:r>
              <a:rPr lang="en-US" sz="1346" dirty="0">
                <a:solidFill>
                  <a:srgbClr val="5D6874"/>
                </a:solidFill>
                <a:latin typeface="IBM Plex Sans" pitchFamily="34" charset="0"/>
                <a:ea typeface="IBM Plex Sans" pitchFamily="34" charset="-122"/>
                <a:cs typeface="IBM Plex Sans" pitchFamily="34" charset="-120"/>
              </a:rPr>
              <a:t> any probe, benchmark or training run. Thresholds fixed in advance.</a:t>
            </a:r>
            <a:endParaRPr lang="en-US" sz="1346" dirty="0"/>
          </a:p>
        </p:txBody>
      </p:sp>
      <p:sp>
        <p:nvSpPr>
          <p:cNvPr id="5" name="Text 3"/>
          <p:cNvSpPr/>
          <p:nvPr/>
        </p:nvSpPr>
        <p:spPr>
          <a:xfrm>
            <a:off x="819150" y="2933861"/>
            <a:ext cx="1320800" cy="693103"/>
          </a:xfrm>
          <a:prstGeom prst="roundRect">
            <a:avLst>
              <a:gd name="adj" fmla="val 10078"/>
            </a:avLst>
          </a:prstGeom>
          <a:solidFill>
            <a:srgbClr val="E7F1EA"/>
          </a:solidFill>
          <a:ln w="12700">
            <a:solidFill>
              <a:srgbClr val="1F5C38"/>
            </a:solidFill>
            <a:prstDash val="solid"/>
          </a:ln>
        </p:spPr>
        <p:txBody>
          <a:bodyPr wrap="square" lIns="97652" tIns="123052" rIns="97652" bIns="123052" rtlCol="0" anchor="ctr">
            <a:normAutofit/>
          </a:bodyPr>
          <a:lstStyle/>
          <a:p>
            <a:pPr algn="ctr" indent="0" marL="0">
              <a:lnSpc>
                <a:spcPts val="2240"/>
              </a:lnSpc>
              <a:buNone/>
            </a:pPr>
            <a:r>
              <a:rPr lang="en-US" sz="1600" b="1" spc="100" kern="0" dirty="0">
                <a:solidFill>
                  <a:srgbClr val="1F5C38"/>
                </a:solidFill>
                <a:latin typeface="IBM Plex Sans" pitchFamily="34" charset="0"/>
                <a:ea typeface="IBM Plex Sans" pitchFamily="34" charset="-122"/>
                <a:cs typeface="IBM Plex Sans" pitchFamily="34" charset="-120"/>
              </a:rPr>
              <a:t>GREEN</a:t>
            </a:r>
            <a:endParaRPr lang="en-US" sz="1600" dirty="0"/>
          </a:p>
        </p:txBody>
      </p:sp>
      <p:sp>
        <p:nvSpPr>
          <p:cNvPr id="6" name="Shape 4"/>
          <p:cNvSpPr/>
          <p:nvPr/>
        </p:nvSpPr>
        <p:spPr>
          <a:xfrm>
            <a:off x="2327275" y="2930686"/>
            <a:ext cx="9048750" cy="699453"/>
          </a:xfrm>
          <a:prstGeom prst="roundRect">
            <a:avLst>
              <a:gd name="adj" fmla="val 10440"/>
            </a:avLst>
          </a:prstGeom>
          <a:solidFill>
            <a:srgbClr val="FFFFFF"/>
          </a:solidFill>
          <a:ln w="6350">
            <a:solidFill>
              <a:srgbClr val="DFD8CC"/>
            </a:solidFill>
            <a:prstDash val="solid"/>
          </a:ln>
        </p:spPr>
      </p:sp>
      <p:sp>
        <p:nvSpPr>
          <p:cNvPr id="7" name="Text 5"/>
          <p:cNvSpPr/>
          <p:nvPr/>
        </p:nvSpPr>
        <p:spPr>
          <a:xfrm>
            <a:off x="2532380" y="3097690"/>
            <a:ext cx="8897696" cy="195104"/>
          </a:xfrm>
          <a:prstGeom prst="rect">
            <a:avLst/>
          </a:prstGeom>
          <a:noFill/>
          <a:ln/>
        </p:spPr>
        <p:txBody>
          <a:bodyPr wrap="square" lIns="0" tIns="0" rIns="0" bIns="0" rtlCol="0" anchor="t">
            <a:normAutofit/>
          </a:bodyPr>
          <a:lstStyle/>
          <a:p>
            <a:pPr algn="l" indent="0" marL="0">
              <a:lnSpc>
                <a:spcPts val="1372"/>
              </a:lnSpc>
              <a:buNone/>
            </a:pPr>
            <a:r>
              <a:rPr lang="en-US" sz="980" dirty="0">
                <a:solidFill>
                  <a:srgbClr val="12232B"/>
                </a:solidFill>
                <a:latin typeface="IBM Plex Sans" pitchFamily="34" charset="0"/>
                <a:ea typeface="IBM Plex Sans" pitchFamily="34" charset="-122"/>
                <a:cs typeface="IBM Plex Sans" pitchFamily="34" charset="-120"/>
              </a:rPr>
              <a:t>A model reaches </a:t>
            </a:r>
            <a:r>
              <a:rPr lang="en-US" sz="980" b="1" dirty="0">
                <a:solidFill>
                  <a:srgbClr val="12232B"/>
                </a:solidFill>
                <a:latin typeface="IBM Plex Sans" pitchFamily="34" charset="0"/>
                <a:ea typeface="IBM Plex Sans" pitchFamily="34" charset="-122"/>
                <a:cs typeface="IBM Plex Sans" pitchFamily="34" charset="-120"/>
              </a:rPr>
              <a:t>max/median ≥ 5×</a:t>
            </a:r>
            <a:r>
              <a:rPr lang="en-US" sz="980" dirty="0">
                <a:solidFill>
                  <a:srgbClr val="12232B"/>
                </a:solidFill>
                <a:latin typeface="IBM Plex Sans" pitchFamily="34" charset="0"/>
                <a:ea typeface="IBM Plex Sans" pitchFamily="34" charset="-122"/>
                <a:cs typeface="IBM Plex Sans" pitchFamily="34" charset="-120"/>
              </a:rPr>
              <a:t>, bimodal, outliers on the null input.</a:t>
            </a:r>
            <a:endParaRPr lang="en-US" sz="980" dirty="0"/>
          </a:p>
        </p:txBody>
      </p:sp>
      <p:sp>
        <p:nvSpPr>
          <p:cNvPr id="8" name="Text 6"/>
          <p:cNvSpPr/>
          <p:nvPr/>
        </p:nvSpPr>
        <p:spPr>
          <a:xfrm>
            <a:off x="2532380" y="3305491"/>
            <a:ext cx="8897696" cy="183039"/>
          </a:xfrm>
          <a:prstGeom prst="rect">
            <a:avLst/>
          </a:prstGeom>
          <a:noFill/>
          <a:ln/>
        </p:spPr>
        <p:txBody>
          <a:bodyPr wrap="square" lIns="0" tIns="0" rIns="0" bIns="0" rtlCol="0" anchor="t">
            <a:normAutofit/>
          </a:bodyPr>
          <a:lstStyle/>
          <a:p>
            <a:pPr algn="l" indent="0" marL="0">
              <a:lnSpc>
                <a:spcPts val="1274"/>
              </a:lnSpc>
              <a:buNone/>
            </a:pPr>
            <a:r>
              <a:rPr lang="en-US" sz="910" dirty="0">
                <a:solidFill>
                  <a:srgbClr val="5D6874"/>
                </a:solidFill>
                <a:latin typeface="IBM Plex Sans" pitchFamily="34" charset="0"/>
                <a:ea typeface="IBM Plex Sans" pitchFamily="34" charset="-122"/>
                <a:cs typeface="IBM Plex Sans" pitchFamily="34" charset="-120"/>
              </a:rPr>
              <a:t>Run the full programme. A* main-conference target, hallucination result as the headline.</a:t>
            </a:r>
            <a:endParaRPr lang="en-US" sz="910" dirty="0"/>
          </a:p>
        </p:txBody>
      </p:sp>
      <p:sp>
        <p:nvSpPr>
          <p:cNvPr id="9" name="Text 7"/>
          <p:cNvSpPr/>
          <p:nvPr/>
        </p:nvSpPr>
        <p:spPr>
          <a:xfrm>
            <a:off x="819150" y="3766660"/>
            <a:ext cx="1320800" cy="693023"/>
          </a:xfrm>
          <a:prstGeom prst="roundRect">
            <a:avLst>
              <a:gd name="adj" fmla="val 10079"/>
            </a:avLst>
          </a:prstGeom>
          <a:solidFill>
            <a:srgbClr val="FAEFE0"/>
          </a:solidFill>
          <a:ln w="12700">
            <a:solidFill>
              <a:srgbClr val="8A4B12"/>
            </a:solidFill>
            <a:prstDash val="solid"/>
          </a:ln>
        </p:spPr>
        <p:txBody>
          <a:bodyPr wrap="square" lIns="97652" tIns="123052" rIns="97652" bIns="123052" rtlCol="0" anchor="ctr">
            <a:normAutofit/>
          </a:bodyPr>
          <a:lstStyle/>
          <a:p>
            <a:pPr algn="ctr" indent="0" marL="0">
              <a:lnSpc>
                <a:spcPts val="2240"/>
              </a:lnSpc>
              <a:buNone/>
            </a:pPr>
            <a:r>
              <a:rPr lang="en-US" sz="1600" b="1" spc="100" kern="0" dirty="0">
                <a:solidFill>
                  <a:srgbClr val="8A4B12"/>
                </a:solidFill>
                <a:latin typeface="IBM Plex Sans" pitchFamily="34" charset="0"/>
                <a:ea typeface="IBM Plex Sans" pitchFamily="34" charset="-122"/>
                <a:cs typeface="IBM Plex Sans" pitchFamily="34" charset="-120"/>
              </a:rPr>
              <a:t>AMBER</a:t>
            </a:r>
            <a:endParaRPr lang="en-US" sz="1600" dirty="0"/>
          </a:p>
        </p:txBody>
      </p:sp>
      <p:sp>
        <p:nvSpPr>
          <p:cNvPr id="10" name="Shape 8"/>
          <p:cNvSpPr/>
          <p:nvPr/>
        </p:nvSpPr>
        <p:spPr>
          <a:xfrm>
            <a:off x="2327275" y="3763485"/>
            <a:ext cx="9048750" cy="699373"/>
          </a:xfrm>
          <a:prstGeom prst="roundRect">
            <a:avLst>
              <a:gd name="adj" fmla="val 10441"/>
            </a:avLst>
          </a:prstGeom>
          <a:solidFill>
            <a:srgbClr val="FFFFFF"/>
          </a:solidFill>
          <a:ln w="6350">
            <a:solidFill>
              <a:srgbClr val="DFD8CC"/>
            </a:solidFill>
            <a:prstDash val="solid"/>
          </a:ln>
        </p:spPr>
      </p:sp>
      <p:sp>
        <p:nvSpPr>
          <p:cNvPr id="11" name="Text 9"/>
          <p:cNvSpPr/>
          <p:nvPr/>
        </p:nvSpPr>
        <p:spPr>
          <a:xfrm>
            <a:off x="2532380" y="3930495"/>
            <a:ext cx="8897696" cy="195104"/>
          </a:xfrm>
          <a:prstGeom prst="rect">
            <a:avLst/>
          </a:prstGeom>
          <a:noFill/>
          <a:ln/>
        </p:spPr>
        <p:txBody>
          <a:bodyPr wrap="square" lIns="0" tIns="0" rIns="0" bIns="0" rtlCol="0" anchor="t">
            <a:normAutofit/>
          </a:bodyPr>
          <a:lstStyle/>
          <a:p>
            <a:pPr algn="l" indent="0" marL="0">
              <a:lnSpc>
                <a:spcPts val="1372"/>
              </a:lnSpc>
              <a:buNone/>
            </a:pPr>
            <a:r>
              <a:rPr lang="en-US" sz="980" dirty="0">
                <a:solidFill>
                  <a:srgbClr val="12232B"/>
                </a:solidFill>
                <a:latin typeface="IBM Plex Sans" pitchFamily="34" charset="0"/>
                <a:ea typeface="IBM Plex Sans" pitchFamily="34" charset="-122"/>
                <a:cs typeface="IBM Plex Sans" pitchFamily="34" charset="-120"/>
              </a:rPr>
              <a:t>Ratios in the </a:t>
            </a:r>
            <a:r>
              <a:rPr lang="en-US" sz="980" b="1" dirty="0">
                <a:solidFill>
                  <a:srgbClr val="12232B"/>
                </a:solidFill>
                <a:latin typeface="IBM Plex Sans" pitchFamily="34" charset="0"/>
                <a:ea typeface="IBM Plex Sans" pitchFamily="34" charset="-122"/>
                <a:cs typeface="IBM Plex Sans" pitchFamily="34" charset="-120"/>
              </a:rPr>
              <a:t>2–5×</a:t>
            </a:r>
            <a:r>
              <a:rPr lang="en-US" sz="980" dirty="0">
                <a:solidFill>
                  <a:srgbClr val="12232B"/>
                </a:solidFill>
                <a:latin typeface="IBM Plex Sans" pitchFamily="34" charset="0"/>
                <a:ea typeface="IBM Plex Sans" pitchFamily="34" charset="-122"/>
                <a:cs typeface="IBM Plex Sans" pitchFamily="34" charset="-120"/>
              </a:rPr>
              <a:t> band, or positive only in the very largest models.</a:t>
            </a:r>
            <a:endParaRPr lang="en-US" sz="980" dirty="0"/>
          </a:p>
        </p:txBody>
      </p:sp>
      <p:sp>
        <p:nvSpPr>
          <p:cNvPr id="12" name="Text 10"/>
          <p:cNvSpPr/>
          <p:nvPr/>
        </p:nvSpPr>
        <p:spPr>
          <a:xfrm>
            <a:off x="2532380" y="4138296"/>
            <a:ext cx="8897696" cy="182959"/>
          </a:xfrm>
          <a:prstGeom prst="rect">
            <a:avLst/>
          </a:prstGeom>
          <a:noFill/>
          <a:ln/>
        </p:spPr>
        <p:txBody>
          <a:bodyPr wrap="square" lIns="0" tIns="0" rIns="0" bIns="0" rtlCol="0" anchor="t">
            <a:normAutofit/>
          </a:bodyPr>
          <a:lstStyle/>
          <a:p>
            <a:pPr algn="l" indent="0" marL="0">
              <a:lnSpc>
                <a:spcPts val="1274"/>
              </a:lnSpc>
              <a:buNone/>
            </a:pPr>
            <a:r>
              <a:rPr lang="en-US" sz="910" dirty="0">
                <a:solidFill>
                  <a:srgbClr val="5D6874"/>
                </a:solidFill>
                <a:latin typeface="IBM Plex Sans" pitchFamily="34" charset="0"/>
                <a:ea typeface="IBM Plex Sans" pitchFamily="34" charset="-122"/>
                <a:cs typeface="IBM Plex Sans" pitchFamily="34" charset="-120"/>
              </a:rPr>
              <a:t>Emergence map plus adjudication becomes the paper. Interspeech or an A* workshop.</a:t>
            </a:r>
            <a:endParaRPr lang="en-US" sz="910" dirty="0"/>
          </a:p>
        </p:txBody>
      </p:sp>
      <p:sp>
        <p:nvSpPr>
          <p:cNvPr id="13" name="Text 11"/>
          <p:cNvSpPr/>
          <p:nvPr/>
        </p:nvSpPr>
        <p:spPr>
          <a:xfrm>
            <a:off x="819150" y="4599384"/>
            <a:ext cx="1320800" cy="693023"/>
          </a:xfrm>
          <a:prstGeom prst="roundRect">
            <a:avLst>
              <a:gd name="adj" fmla="val 10079"/>
            </a:avLst>
          </a:prstGeom>
          <a:solidFill>
            <a:srgbClr val="F8E9EA"/>
          </a:solidFill>
          <a:ln w="12700">
            <a:solidFill>
              <a:srgbClr val="8C2B2B"/>
            </a:solidFill>
            <a:prstDash val="solid"/>
          </a:ln>
        </p:spPr>
        <p:txBody>
          <a:bodyPr wrap="square" lIns="97652" tIns="123052" rIns="97652" bIns="123052" rtlCol="0" anchor="ctr">
            <a:normAutofit/>
          </a:bodyPr>
          <a:lstStyle/>
          <a:p>
            <a:pPr algn="ctr" indent="0" marL="0">
              <a:lnSpc>
                <a:spcPts val="2240"/>
              </a:lnSpc>
              <a:buNone/>
            </a:pPr>
            <a:r>
              <a:rPr lang="en-US" sz="1600" b="1" spc="100" kern="0" dirty="0">
                <a:solidFill>
                  <a:srgbClr val="8C2B2B"/>
                </a:solidFill>
                <a:latin typeface="IBM Plex Sans" pitchFamily="34" charset="0"/>
                <a:ea typeface="IBM Plex Sans" pitchFamily="34" charset="-122"/>
                <a:cs typeface="IBM Plex Sans" pitchFamily="34" charset="-120"/>
              </a:rPr>
              <a:t>RED</a:t>
            </a:r>
            <a:endParaRPr lang="en-US" sz="1600" dirty="0"/>
          </a:p>
        </p:txBody>
      </p:sp>
      <p:sp>
        <p:nvSpPr>
          <p:cNvPr id="14" name="Shape 12"/>
          <p:cNvSpPr/>
          <p:nvPr/>
        </p:nvSpPr>
        <p:spPr>
          <a:xfrm>
            <a:off x="2327275" y="4596209"/>
            <a:ext cx="9048750" cy="699373"/>
          </a:xfrm>
          <a:prstGeom prst="roundRect">
            <a:avLst>
              <a:gd name="adj" fmla="val 10441"/>
            </a:avLst>
          </a:prstGeom>
          <a:solidFill>
            <a:srgbClr val="FFFFFF"/>
          </a:solidFill>
          <a:ln w="6350">
            <a:solidFill>
              <a:srgbClr val="DFD8CC"/>
            </a:solidFill>
            <a:prstDash val="solid"/>
          </a:ln>
        </p:spPr>
      </p:sp>
      <p:sp>
        <p:nvSpPr>
          <p:cNvPr id="15" name="Text 13"/>
          <p:cNvSpPr/>
          <p:nvPr/>
        </p:nvSpPr>
        <p:spPr>
          <a:xfrm>
            <a:off x="2532380" y="4763213"/>
            <a:ext cx="8897696" cy="195104"/>
          </a:xfrm>
          <a:prstGeom prst="rect">
            <a:avLst/>
          </a:prstGeom>
          <a:noFill/>
          <a:ln/>
        </p:spPr>
        <p:txBody>
          <a:bodyPr wrap="square" lIns="0" tIns="0" rIns="0" bIns="0" rtlCol="0" anchor="t">
            <a:normAutofit/>
          </a:bodyPr>
          <a:lstStyle/>
          <a:p>
            <a:pPr algn="l" indent="0" marL="0">
              <a:lnSpc>
                <a:spcPts val="1372"/>
              </a:lnSpc>
              <a:buNone/>
            </a:pPr>
            <a:r>
              <a:rPr lang="en-US" sz="980" dirty="0">
                <a:solidFill>
                  <a:srgbClr val="12232B"/>
                </a:solidFill>
                <a:latin typeface="IBM Plex Sans" pitchFamily="34" charset="0"/>
                <a:ea typeface="IBM Plex Sans" pitchFamily="34" charset="-122"/>
                <a:cs typeface="IBM Plex Sans" pitchFamily="34" charset="-120"/>
              </a:rPr>
              <a:t>Everything under </a:t>
            </a:r>
            <a:r>
              <a:rPr lang="en-US" sz="980" b="1" dirty="0">
                <a:solidFill>
                  <a:srgbClr val="12232B"/>
                </a:solidFill>
                <a:latin typeface="IBM Plex Sans" pitchFamily="34" charset="0"/>
                <a:ea typeface="IBM Plex Sans" pitchFamily="34" charset="-122"/>
                <a:cs typeface="IBM Plex Sans" pitchFamily="34" charset="-120"/>
              </a:rPr>
              <a:t>2×</a:t>
            </a:r>
            <a:r>
              <a:rPr lang="en-US" sz="980" dirty="0">
                <a:solidFill>
                  <a:srgbClr val="12232B"/>
                </a:solidFill>
                <a:latin typeface="IBM Plex Sans" pitchFamily="34" charset="0"/>
                <a:ea typeface="IBM Plex Sans" pitchFamily="34" charset="-122"/>
                <a:cs typeface="IBM Plex Sans" pitchFamily="34" charset="-120"/>
              </a:rPr>
              <a:t>, including Whisper large-v3 and XLS-R-2B.</a:t>
            </a:r>
            <a:endParaRPr lang="en-US" sz="980" dirty="0"/>
          </a:p>
        </p:txBody>
      </p:sp>
      <p:sp>
        <p:nvSpPr>
          <p:cNvPr id="16" name="Text 14"/>
          <p:cNvSpPr/>
          <p:nvPr/>
        </p:nvSpPr>
        <p:spPr>
          <a:xfrm>
            <a:off x="2532380" y="4971021"/>
            <a:ext cx="8897696" cy="182959"/>
          </a:xfrm>
          <a:prstGeom prst="rect">
            <a:avLst/>
          </a:prstGeom>
          <a:noFill/>
          <a:ln/>
        </p:spPr>
        <p:txBody>
          <a:bodyPr wrap="square" lIns="0" tIns="0" rIns="0" bIns="0" rtlCol="0" anchor="t">
            <a:normAutofit/>
          </a:bodyPr>
          <a:lstStyle/>
          <a:p>
            <a:pPr algn="l" indent="0" marL="0">
              <a:lnSpc>
                <a:spcPts val="1274"/>
              </a:lnSpc>
              <a:buNone/>
            </a:pPr>
            <a:r>
              <a:rPr lang="en-US" sz="910" dirty="0">
                <a:solidFill>
                  <a:srgbClr val="5D6874"/>
                </a:solidFill>
                <a:latin typeface="IBM Plex Sans" pitchFamily="34" charset="0"/>
                <a:ea typeface="IBM Plex Sans" pitchFamily="34" charset="-122"/>
                <a:cs typeface="IBM Plex Sans" pitchFamily="34" charset="-120"/>
              </a:rPr>
              <a:t>Stop. Pivot to the pre-planned negative-result mechanism paper and reclaim eight weeks.</a:t>
            </a:r>
            <a:endParaRPr lang="en-US" sz="910" dirty="0"/>
          </a:p>
        </p:txBody>
      </p:sp>
      <p:sp>
        <p:nvSpPr>
          <p:cNvPr id="17" name="Shape 15"/>
          <p:cNvSpPr/>
          <p:nvPr/>
        </p:nvSpPr>
        <p:spPr>
          <a:xfrm>
            <a:off x="831850" y="5501959"/>
            <a:ext cx="0" cy="340042"/>
          </a:xfrm>
          <a:prstGeom prst="line">
            <a:avLst/>
          </a:prstGeom>
          <a:noFill/>
          <a:ln w="38100">
            <a:solidFill>
              <a:srgbClr val="0F6E7A"/>
            </a:solidFill>
            <a:prstDash val="solid"/>
          </a:ln>
        </p:spPr>
      </p:sp>
      <p:sp>
        <p:nvSpPr>
          <p:cNvPr id="18" name="Text 16"/>
          <p:cNvSpPr/>
          <p:nvPr/>
        </p:nvSpPr>
        <p:spPr>
          <a:xfrm>
            <a:off x="1038860" y="5552759"/>
            <a:ext cx="10650550" cy="263842"/>
          </a:xfrm>
          <a:prstGeom prst="rect">
            <a:avLst/>
          </a:prstGeom>
          <a:noFill/>
          <a:ln/>
        </p:spPr>
        <p:txBody>
          <a:bodyPr wrap="square" lIns="0" tIns="0" rIns="0" bIns="0" rtlCol="0" anchor="t">
            <a:normAutofit/>
          </a:bodyPr>
          <a:lstStyle/>
          <a:p>
            <a:pPr algn="l" indent="0" marL="0">
              <a:lnSpc>
                <a:spcPts val="1918"/>
              </a:lnSpc>
              <a:buNone/>
            </a:pPr>
            <a:r>
              <a:rPr lang="en-US" sz="1370" dirty="0">
                <a:solidFill>
                  <a:srgbClr val="12232B"/>
                </a:solidFill>
                <a:latin typeface="IBM Plex Sans" pitchFamily="34" charset="0"/>
                <a:ea typeface="IBM Plex Sans" pitchFamily="34" charset="-122"/>
                <a:cs typeface="IBM Plex Sans" pitchFamily="34" charset="-120"/>
              </a:rPr>
              <a:t>Cost of finding out: </a:t>
            </a:r>
            <a:r>
              <a:rPr lang="en-US" sz="1370" b="1" dirty="0">
                <a:solidFill>
                  <a:srgbClr val="12232B"/>
                </a:solidFill>
                <a:latin typeface="IBM Plex Sans" pitchFamily="34" charset="0"/>
                <a:ea typeface="IBM Plex Sans" pitchFamily="34" charset="-122"/>
                <a:cs typeface="IBM Plex Sans" pitchFamily="34" charset="-120"/>
              </a:rPr>
              <a:t>about two days and a few GPU-hours.</a:t>
            </a:r>
            <a:r>
              <a:rPr lang="en-US" sz="1370" dirty="0">
                <a:solidFill>
                  <a:srgbClr val="12232B"/>
                </a:solidFill>
                <a:latin typeface="IBM Plex Sans" pitchFamily="34" charset="0"/>
                <a:ea typeface="IBM Plex Sans" pitchFamily="34" charset="-122"/>
                <a:cs typeface="IBM Plex Sans" pitchFamily="34" charset="-120"/>
              </a:rPr>
              <a:t> The whole project runs on free Kaggle GPU.</a:t>
            </a:r>
            <a:endParaRPr lang="en-US" sz="13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6E7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EE3E7"/>
                </a:solidFill>
                <a:latin typeface="IBM Plex Sans" pitchFamily="34" charset="0"/>
                <a:ea typeface="IBM Plex Sans" pitchFamily="34" charset="-122"/>
                <a:cs typeface="IBM Plex Sans" pitchFamily="34" charset="-120"/>
              </a:rPr>
              <a:t>THE ASK</a:t>
            </a:r>
            <a:endParaRPr lang="en-US" sz="1200" dirty="0"/>
          </a:p>
        </p:txBody>
      </p:sp>
      <p:sp>
        <p:nvSpPr>
          <p:cNvPr id="3" name="Text 1"/>
          <p:cNvSpPr/>
          <p:nvPr/>
        </p:nvSpPr>
        <p:spPr>
          <a:xfrm>
            <a:off x="812800" y="1127764"/>
            <a:ext cx="10883392" cy="537448"/>
          </a:xfrm>
          <a:prstGeom prst="rect">
            <a:avLst/>
          </a:prstGeom>
          <a:noFill/>
          <a:ln/>
        </p:spPr>
        <p:txBody>
          <a:bodyPr wrap="square" lIns="0" tIns="0" rIns="0" bIns="0" rtlCol="0" anchor="t">
            <a:normAutofit/>
          </a:bodyPr>
          <a:lstStyle/>
          <a:p>
            <a:pPr algn="l" indent="0" marL="0">
              <a:lnSpc>
                <a:spcPts val="4032"/>
              </a:lnSpc>
              <a:buNone/>
            </a:pPr>
            <a:r>
              <a:rPr lang="en-US" sz="3600" b="1" dirty="0">
                <a:solidFill>
                  <a:srgbClr val="FAF8F4"/>
                </a:solidFill>
                <a:latin typeface="Source Serif 4" pitchFamily="34" charset="0"/>
                <a:ea typeface="Source Serif 4" pitchFamily="34" charset="-122"/>
                <a:cs typeface="Source Serif 4" pitchFamily="34" charset="-120"/>
              </a:rPr>
              <a:t>What we are asking for</a:t>
            </a:r>
            <a:endParaRPr lang="en-US" sz="3600" dirty="0"/>
          </a:p>
        </p:txBody>
      </p:sp>
      <p:sp>
        <p:nvSpPr>
          <p:cNvPr id="4" name="Shape 2"/>
          <p:cNvSpPr/>
          <p:nvPr/>
        </p:nvSpPr>
        <p:spPr>
          <a:xfrm>
            <a:off x="812800" y="1885398"/>
            <a:ext cx="3395107" cy="1649730"/>
          </a:xfrm>
          <a:prstGeom prst="roundRect">
            <a:avLst>
              <a:gd name="adj" fmla="val 5389"/>
            </a:avLst>
          </a:prstGeom>
          <a:solidFill>
            <a:srgbClr val="0B5A64"/>
          </a:solidFill>
          <a:ln/>
        </p:spPr>
      </p:sp>
      <p:sp>
        <p:nvSpPr>
          <p:cNvPr id="5" name="Text 3"/>
          <p:cNvSpPr/>
          <p:nvPr/>
        </p:nvSpPr>
        <p:spPr>
          <a:xfrm>
            <a:off x="1028700" y="2101298"/>
            <a:ext cx="305220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EE3E7"/>
                </a:solidFill>
                <a:latin typeface="IBM Plex Sans" pitchFamily="34" charset="0"/>
                <a:ea typeface="IBM Plex Sans" pitchFamily="34" charset="-122"/>
                <a:cs typeface="IBM Plex Sans" pitchFamily="34" charset="-120"/>
              </a:rPr>
              <a:t>1</a:t>
            </a:r>
            <a:endParaRPr lang="en-US" sz="2800" dirty="0"/>
          </a:p>
        </p:txBody>
      </p:sp>
      <p:sp>
        <p:nvSpPr>
          <p:cNvPr id="6" name="Text 4"/>
          <p:cNvSpPr/>
          <p:nvPr/>
        </p:nvSpPr>
        <p:spPr>
          <a:xfrm>
            <a:off x="1028700" y="2545798"/>
            <a:ext cx="3052206" cy="79883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FAF8F4"/>
                </a:solidFill>
                <a:latin typeface="IBM Plex Sans" pitchFamily="34" charset="0"/>
                <a:ea typeface="IBM Plex Sans" pitchFamily="34" charset="-122"/>
                <a:cs typeface="IBM Plex Sans" pitchFamily="34" charset="-120"/>
              </a:rPr>
              <a:t>Green light</a:t>
            </a:r>
            <a:r>
              <a:rPr lang="en-US" sz="1450" dirty="0">
                <a:solidFill>
                  <a:srgbClr val="FAF8F4"/>
                </a:solidFill>
                <a:latin typeface="IBM Plex Sans" pitchFamily="34" charset="0"/>
                <a:ea typeface="IBM Plex Sans" pitchFamily="34" charset="-122"/>
                <a:cs typeface="IBM Plex Sans" pitchFamily="34" charset="-120"/>
              </a:rPr>
              <a:t> on the gated plan, starting with the two-day emergence gate.</a:t>
            </a:r>
            <a:endParaRPr lang="en-US" sz="1450" dirty="0"/>
          </a:p>
        </p:txBody>
      </p:sp>
      <p:sp>
        <p:nvSpPr>
          <p:cNvPr id="7" name="Shape 5"/>
          <p:cNvSpPr/>
          <p:nvPr/>
        </p:nvSpPr>
        <p:spPr>
          <a:xfrm>
            <a:off x="4398407" y="1885398"/>
            <a:ext cx="3395186" cy="1649730"/>
          </a:xfrm>
          <a:prstGeom prst="roundRect">
            <a:avLst>
              <a:gd name="adj" fmla="val 5389"/>
            </a:avLst>
          </a:prstGeom>
          <a:solidFill>
            <a:srgbClr val="0B5A64"/>
          </a:solidFill>
          <a:ln/>
        </p:spPr>
      </p:sp>
      <p:sp>
        <p:nvSpPr>
          <p:cNvPr id="8" name="Text 6"/>
          <p:cNvSpPr/>
          <p:nvPr/>
        </p:nvSpPr>
        <p:spPr>
          <a:xfrm>
            <a:off x="4614307" y="2101298"/>
            <a:ext cx="30522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EE3E7"/>
                </a:solidFill>
                <a:latin typeface="IBM Plex Sans" pitchFamily="34" charset="0"/>
                <a:ea typeface="IBM Plex Sans" pitchFamily="34" charset="-122"/>
                <a:cs typeface="IBM Plex Sans" pitchFamily="34" charset="-120"/>
              </a:rPr>
              <a:t>2</a:t>
            </a:r>
            <a:endParaRPr lang="en-US" sz="2800" dirty="0"/>
          </a:p>
        </p:txBody>
      </p:sp>
      <p:sp>
        <p:nvSpPr>
          <p:cNvPr id="9" name="Text 7"/>
          <p:cNvSpPr/>
          <p:nvPr/>
        </p:nvSpPr>
        <p:spPr>
          <a:xfrm>
            <a:off x="4614307" y="2545798"/>
            <a:ext cx="3052288" cy="79883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FAF8F4"/>
                </a:solidFill>
                <a:latin typeface="IBM Plex Sans" pitchFamily="34" charset="0"/>
                <a:ea typeface="IBM Plex Sans" pitchFamily="34" charset="-122"/>
                <a:cs typeface="IBM Plex Sans" pitchFamily="34" charset="-120"/>
              </a:rPr>
              <a:t>Authority to pivot</a:t>
            </a:r>
            <a:r>
              <a:rPr lang="en-US" sz="1450" dirty="0">
                <a:solidFill>
                  <a:srgbClr val="FAF8F4"/>
                </a:solidFill>
                <a:latin typeface="IBM Plex Sans" pitchFamily="34" charset="0"/>
                <a:ea typeface="IBM Plex Sans" pitchFamily="34" charset="-122"/>
                <a:cs typeface="IBM Plex Sans" pitchFamily="34" charset="-120"/>
              </a:rPr>
              <a:t> on gate evidence, without renegotiating scope.</a:t>
            </a:r>
            <a:endParaRPr lang="en-US" sz="1450" dirty="0"/>
          </a:p>
        </p:txBody>
      </p:sp>
      <p:sp>
        <p:nvSpPr>
          <p:cNvPr id="10" name="Shape 8"/>
          <p:cNvSpPr/>
          <p:nvPr/>
        </p:nvSpPr>
        <p:spPr>
          <a:xfrm>
            <a:off x="7984093" y="1885398"/>
            <a:ext cx="3395107" cy="1649730"/>
          </a:xfrm>
          <a:prstGeom prst="roundRect">
            <a:avLst>
              <a:gd name="adj" fmla="val 5389"/>
            </a:avLst>
          </a:prstGeom>
          <a:solidFill>
            <a:srgbClr val="0B5A64"/>
          </a:solidFill>
          <a:ln/>
        </p:spPr>
      </p:sp>
      <p:sp>
        <p:nvSpPr>
          <p:cNvPr id="11" name="Text 9"/>
          <p:cNvSpPr/>
          <p:nvPr/>
        </p:nvSpPr>
        <p:spPr>
          <a:xfrm>
            <a:off x="8199993" y="2101298"/>
            <a:ext cx="305220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EE3E7"/>
                </a:solidFill>
                <a:latin typeface="IBM Plex Sans" pitchFamily="34" charset="0"/>
                <a:ea typeface="IBM Plex Sans" pitchFamily="34" charset="-122"/>
                <a:cs typeface="IBM Plex Sans" pitchFamily="34" charset="-120"/>
              </a:rPr>
              <a:t>3</a:t>
            </a:r>
            <a:endParaRPr lang="en-US" sz="2800" dirty="0"/>
          </a:p>
        </p:txBody>
      </p:sp>
      <p:sp>
        <p:nvSpPr>
          <p:cNvPr id="12" name="Text 10"/>
          <p:cNvSpPr/>
          <p:nvPr/>
        </p:nvSpPr>
        <p:spPr>
          <a:xfrm>
            <a:off x="8199993" y="2545798"/>
            <a:ext cx="3052206" cy="79883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FAF8F4"/>
                </a:solidFill>
                <a:latin typeface="IBM Plex Sans" pitchFamily="34" charset="0"/>
                <a:ea typeface="IBM Plex Sans" pitchFamily="34" charset="-122"/>
                <a:cs typeface="IBM Plex Sans" pitchFamily="34" charset="-120"/>
              </a:rPr>
              <a:t>~40 A100-hours</a:t>
            </a:r>
            <a:r>
              <a:rPr lang="en-US" sz="1450" dirty="0">
                <a:solidFill>
                  <a:srgbClr val="FAF8F4"/>
                </a:solidFill>
                <a:latin typeface="IBM Plex Sans" pitchFamily="34" charset="0"/>
                <a:ea typeface="IBM Plex Sans" pitchFamily="34" charset="-122"/>
                <a:cs typeface="IBM Plex Sans" pitchFamily="34" charset="-120"/>
              </a:rPr>
              <a:t> for the one optional training phase, and ~300 GB of storage.</a:t>
            </a:r>
            <a:endParaRPr lang="en-US" sz="1450" dirty="0"/>
          </a:p>
        </p:txBody>
      </p:sp>
      <p:sp>
        <p:nvSpPr>
          <p:cNvPr id="13" name="Shape 11"/>
          <p:cNvSpPr/>
          <p:nvPr/>
        </p:nvSpPr>
        <p:spPr>
          <a:xfrm>
            <a:off x="812800" y="3636727"/>
            <a:ext cx="5187950" cy="1391920"/>
          </a:xfrm>
          <a:prstGeom prst="roundRect">
            <a:avLst>
              <a:gd name="adj" fmla="val 6387"/>
            </a:avLst>
          </a:prstGeom>
          <a:solidFill>
            <a:srgbClr val="0B5A64"/>
          </a:solidFill>
          <a:ln/>
        </p:spPr>
      </p:sp>
      <p:sp>
        <p:nvSpPr>
          <p:cNvPr id="14" name="Text 12"/>
          <p:cNvSpPr/>
          <p:nvPr/>
        </p:nvSpPr>
        <p:spPr>
          <a:xfrm>
            <a:off x="1028700" y="3852627"/>
            <a:ext cx="489883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EE3E7"/>
                </a:solidFill>
                <a:latin typeface="IBM Plex Sans" pitchFamily="34" charset="0"/>
                <a:ea typeface="IBM Plex Sans" pitchFamily="34" charset="-122"/>
                <a:cs typeface="IBM Plex Sans" pitchFamily="34" charset="-120"/>
              </a:rPr>
              <a:t>4</a:t>
            </a:r>
            <a:endParaRPr lang="en-US" sz="2800" dirty="0"/>
          </a:p>
        </p:txBody>
      </p:sp>
      <p:sp>
        <p:nvSpPr>
          <p:cNvPr id="15" name="Text 13"/>
          <p:cNvSpPr/>
          <p:nvPr/>
        </p:nvSpPr>
        <p:spPr>
          <a:xfrm>
            <a:off x="1028700" y="4297127"/>
            <a:ext cx="4898835" cy="54102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FAF8F4"/>
                </a:solidFill>
                <a:latin typeface="IBM Plex Sans" pitchFamily="34" charset="0"/>
                <a:ea typeface="IBM Plex Sans" pitchFamily="34" charset="-122"/>
                <a:cs typeface="IBM Plex Sans" pitchFamily="34" charset="-120"/>
              </a:rPr>
              <a:t>A venue decision:</a:t>
            </a:r>
            <a:r>
              <a:rPr lang="en-US" sz="1450" dirty="0">
                <a:solidFill>
                  <a:srgbClr val="FAF8F4"/>
                </a:solidFill>
                <a:latin typeface="IBM Plex Sans" pitchFamily="34" charset="0"/>
                <a:ea typeface="IBM Plex Sans" pitchFamily="34" charset="-122"/>
                <a:cs typeface="IBM Plex Sans" pitchFamily="34" charset="-120"/>
              </a:rPr>
              <a:t> the A* mechanism paper, or the safer Interspeech census. They are different papers.</a:t>
            </a:r>
            <a:endParaRPr lang="en-US" sz="1450" dirty="0"/>
          </a:p>
        </p:txBody>
      </p:sp>
      <p:sp>
        <p:nvSpPr>
          <p:cNvPr id="16" name="Shape 14"/>
          <p:cNvSpPr/>
          <p:nvPr/>
        </p:nvSpPr>
        <p:spPr>
          <a:xfrm>
            <a:off x="6191250" y="3636727"/>
            <a:ext cx="5187950" cy="1391920"/>
          </a:xfrm>
          <a:prstGeom prst="roundRect">
            <a:avLst>
              <a:gd name="adj" fmla="val 6387"/>
            </a:avLst>
          </a:prstGeom>
          <a:solidFill>
            <a:srgbClr val="0B5A64"/>
          </a:solidFill>
          <a:ln/>
        </p:spPr>
      </p:sp>
      <p:sp>
        <p:nvSpPr>
          <p:cNvPr id="17" name="Text 15"/>
          <p:cNvSpPr/>
          <p:nvPr/>
        </p:nvSpPr>
        <p:spPr>
          <a:xfrm>
            <a:off x="6407150" y="3852627"/>
            <a:ext cx="489883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EE3E7"/>
                </a:solidFill>
                <a:latin typeface="IBM Plex Sans" pitchFamily="34" charset="0"/>
                <a:ea typeface="IBM Plex Sans" pitchFamily="34" charset="-122"/>
                <a:cs typeface="IBM Plex Sans" pitchFamily="34" charset="-120"/>
              </a:rPr>
              <a:t>5</a:t>
            </a:r>
            <a:endParaRPr lang="en-US" sz="2800" dirty="0"/>
          </a:p>
        </p:txBody>
      </p:sp>
      <p:sp>
        <p:nvSpPr>
          <p:cNvPr id="18" name="Text 16"/>
          <p:cNvSpPr/>
          <p:nvPr/>
        </p:nvSpPr>
        <p:spPr>
          <a:xfrm>
            <a:off x="6407150" y="4297127"/>
            <a:ext cx="4898835" cy="54102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FAF8F4"/>
                </a:solidFill>
                <a:latin typeface="IBM Plex Sans" pitchFamily="34" charset="0"/>
                <a:ea typeface="IBM Plex Sans" pitchFamily="34" charset="-122"/>
                <a:cs typeface="IBM Plex Sans" pitchFamily="34" charset="-120"/>
              </a:rPr>
              <a:t>Weekly 30 minutes.</a:t>
            </a:r>
            <a:r>
              <a:rPr lang="en-US" sz="1450" dirty="0">
                <a:solidFill>
                  <a:srgbClr val="FAF8F4"/>
                </a:solidFill>
                <a:latin typeface="IBM Plex Sans" pitchFamily="34" charset="0"/>
                <a:ea typeface="IBM Plex Sans" pitchFamily="34" charset="-122"/>
                <a:cs typeface="IBM Plex Sans" pitchFamily="34" charset="-120"/>
              </a:rPr>
              <a:t> The gate result is go/no-go one; the adjudication matrix is go/no-go two.</a:t>
            </a:r>
            <a:endParaRPr lang="en-US" sz="1450" dirty="0"/>
          </a:p>
        </p:txBody>
      </p:sp>
      <p:sp>
        <p:nvSpPr>
          <p:cNvPr id="19" name="Shape 17"/>
          <p:cNvSpPr/>
          <p:nvPr/>
        </p:nvSpPr>
        <p:spPr>
          <a:xfrm>
            <a:off x="812800" y="5280664"/>
            <a:ext cx="10566400" cy="0"/>
          </a:xfrm>
          <a:prstGeom prst="line">
            <a:avLst/>
          </a:prstGeom>
          <a:noFill/>
          <a:ln w="12700">
            <a:solidFill>
              <a:srgbClr val="3F929B"/>
            </a:solidFill>
            <a:prstDash val="solid"/>
          </a:ln>
        </p:spPr>
      </p:sp>
      <p:sp>
        <p:nvSpPr>
          <p:cNvPr id="20" name="Text 18"/>
          <p:cNvSpPr/>
          <p:nvPr/>
        </p:nvSpPr>
        <p:spPr>
          <a:xfrm>
            <a:off x="812800" y="5462271"/>
            <a:ext cx="7717790" cy="60833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AF8F4"/>
                </a:solidFill>
                <a:latin typeface="IBM Plex Sans" pitchFamily="34" charset="0"/>
                <a:ea typeface="IBM Plex Sans" pitchFamily="34" charset="-122"/>
                <a:cs typeface="IBM Plex Sans" pitchFamily="34" charset="-120"/>
              </a:rPr>
              <a:t>Everything else is inference on a frozen encoder: </a:t>
            </a:r>
            <a:r>
              <a:rPr lang="en-US" sz="1700" b="1" dirty="0">
                <a:solidFill>
                  <a:srgbClr val="FAF8F4"/>
                </a:solidFill>
                <a:latin typeface="IBM Plex Sans" pitchFamily="34" charset="0"/>
                <a:ea typeface="IBM Plex Sans" pitchFamily="34" charset="-122"/>
                <a:cs typeface="IBM Plex Sans" pitchFamily="34" charset="-120"/>
              </a:rPr>
              <a:t>90–150 free Kaggle GPU-hours</a:t>
            </a:r>
            <a:r>
              <a:rPr lang="en-US" sz="1700" dirty="0">
                <a:solidFill>
                  <a:srgbClr val="FAF8F4"/>
                </a:solidFill>
                <a:latin typeface="IBM Plex Sans" pitchFamily="34" charset="0"/>
                <a:ea typeface="IBM Plex Sans" pitchFamily="34" charset="-122"/>
                <a:cs typeface="IBM Plex Sans" pitchFamily="34" charset="-120"/>
              </a:rPr>
              <a:t> across the whole project.</a:t>
            </a:r>
            <a:endParaRPr lang="en-US" sz="1700" dirty="0"/>
          </a:p>
        </p:txBody>
      </p:sp>
      <p:sp>
        <p:nvSpPr>
          <p:cNvPr id="21" name="Text 19"/>
          <p:cNvSpPr/>
          <p:nvPr/>
        </p:nvSpPr>
        <p:spPr>
          <a:xfrm>
            <a:off x="9220835" y="5497829"/>
            <a:ext cx="2158365" cy="522605"/>
          </a:xfrm>
          <a:prstGeom prst="rect">
            <a:avLst/>
          </a:prstGeom>
          <a:noFill/>
          <a:ln/>
        </p:spPr>
        <p:txBody>
          <a:bodyPr wrap="square" lIns="0" tIns="0" rIns="0" bIns="0" rtlCol="0" anchor="t">
            <a:normAutofit/>
          </a:bodyPr>
          <a:lstStyle/>
          <a:p>
            <a:pPr algn="r" indent="0" marL="0">
              <a:lnSpc>
                <a:spcPts val="1958"/>
              </a:lnSpc>
              <a:buNone/>
            </a:pPr>
            <a:r>
              <a:rPr lang="en-US" sz="1450" dirty="0">
                <a:solidFill>
                  <a:srgbClr val="BEE3E7"/>
                </a:solidFill>
                <a:latin typeface="IBM Plex Sans" pitchFamily="34" charset="0"/>
                <a:ea typeface="IBM Plex Sans" pitchFamily="34" charset="-122"/>
                <a:cs typeface="IBM Plex Sans" pitchFamily="34" charset="-120"/>
              </a:rPr>
              <a:t>No deadline pressure.</a:t>
            </a:r>
            <a:endParaRPr lang="en-US" sz="1450" dirty="0"/>
          </a:p>
          <a:p>
            <a:pPr algn="r" indent="0" marL="0">
              <a:lnSpc>
                <a:spcPts val="1958"/>
              </a:lnSpc>
              <a:buNone/>
            </a:pPr>
            <a:r>
              <a:rPr lang="en-US" sz="1450" dirty="0">
                <a:solidFill>
                  <a:srgbClr val="BEE3E7"/>
                </a:solidFill>
                <a:latin typeface="IBM Plex Sans" pitchFamily="34" charset="0"/>
                <a:ea typeface="IBM Plex Sans" pitchFamily="34" charset="-122"/>
                <a:cs typeface="IBM Plex Sans" pitchFamily="34" charset="-120"/>
              </a:rPr>
              <a:t>Phases gated by results.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609600"/>
            <a:ext cx="10883392"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2232B"/>
                </a:solidFill>
                <a:latin typeface="Source Serif 4" pitchFamily="34" charset="0"/>
                <a:ea typeface="Source Serif 4" pitchFamily="34" charset="-122"/>
                <a:cs typeface="Source Serif 4" pitchFamily="34" charset="-120"/>
              </a:rPr>
              <a:t>Sources</a:t>
            </a:r>
            <a:endParaRPr lang="en-US" sz="2600" dirty="0"/>
          </a:p>
        </p:txBody>
      </p:sp>
      <p:sp>
        <p:nvSpPr>
          <p:cNvPr id="3" name="Text 1"/>
          <p:cNvSpPr/>
          <p:nvPr/>
        </p:nvSpPr>
        <p:spPr>
          <a:xfrm>
            <a:off x="812800" y="1163321"/>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7A"/>
                </a:solidFill>
                <a:latin typeface="IBM Plex Sans" pitchFamily="34" charset="0"/>
                <a:ea typeface="IBM Plex Sans" pitchFamily="34" charset="-122"/>
                <a:cs typeface="IBM Plex Sans" pitchFamily="34" charset="-120"/>
              </a:rPr>
              <a:t>THE PHENOMENON</a:t>
            </a:r>
            <a:endParaRPr lang="en-US" sz="1200" dirty="0"/>
          </a:p>
        </p:txBody>
      </p:sp>
      <p:sp>
        <p:nvSpPr>
          <p:cNvPr id="4" name="Text 2"/>
          <p:cNvSpPr/>
          <p:nvPr/>
        </p:nvSpPr>
        <p:spPr>
          <a:xfrm>
            <a:off x="812800" y="1465579"/>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Darcet, Oquab, Mairal &amp; Bojanowski. Vision Transformers Need Registers. </a:t>
            </a:r>
            <a:r>
              <a:rPr lang="en-US" sz="1200" b="1" dirty="0">
                <a:solidFill>
                  <a:srgbClr val="3C4855"/>
                </a:solidFill>
                <a:latin typeface="IBM Plex Sans" pitchFamily="34" charset="0"/>
                <a:ea typeface="IBM Plex Sans" pitchFamily="34" charset="-122"/>
                <a:cs typeface="IBM Plex Sans" pitchFamily="34" charset="-120"/>
              </a:rPr>
              <a:t>ICLR 2024</a:t>
            </a:r>
            <a:r>
              <a:rPr lang="en-US" sz="1200" dirty="0">
                <a:solidFill>
                  <a:srgbClr val="3C4855"/>
                </a:solidFill>
                <a:latin typeface="IBM Plex Sans" pitchFamily="34" charset="0"/>
                <a:ea typeface="IBM Plex Sans" pitchFamily="34" charset="-122"/>
                <a:cs typeface="IBM Plex Sans" pitchFamily="34" charset="-120"/>
              </a:rPr>
              <a:t> (oral). </a:t>
            </a:r>
            <a:r>
              <a:rPr lang="en-US" sz="1200" u="sng" dirty="0">
                <a:solidFill>
                  <a:srgbClr val="3C4855"/>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arXiv:2309.16588</a:t>
            </a:r>
            <a:endParaRPr lang="en-US" sz="1200" dirty="0"/>
          </a:p>
        </p:txBody>
      </p:sp>
      <p:sp>
        <p:nvSpPr>
          <p:cNvPr id="5" name="Text 3"/>
          <p:cNvSpPr/>
          <p:nvPr/>
        </p:nvSpPr>
        <p:spPr>
          <a:xfrm>
            <a:off x="812800" y="1965964"/>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Jiang, Dravid, Efros &amp; Gandelsman. Vision Transformers Don't Need Trained Registers. </a:t>
            </a:r>
            <a:r>
              <a:rPr lang="en-US" sz="1200" b="1" dirty="0">
                <a:solidFill>
                  <a:srgbClr val="3C4855"/>
                </a:solidFill>
                <a:latin typeface="IBM Plex Sans" pitchFamily="34" charset="0"/>
                <a:ea typeface="IBM Plex Sans" pitchFamily="34" charset="-122"/>
                <a:cs typeface="IBM Plex Sans" pitchFamily="34" charset="-120"/>
              </a:rPr>
              <a:t>NeurIPS 2025</a:t>
            </a:r>
            <a:r>
              <a:rPr lang="en-US" sz="1200" dirty="0">
                <a:solidFill>
                  <a:srgbClr val="3C4855"/>
                </a:solidFill>
                <a:latin typeface="IBM Plex Sans" pitchFamily="34" charset="0"/>
                <a:ea typeface="IBM Plex Sans" pitchFamily="34" charset="-122"/>
                <a:cs typeface="IBM Plex Sans" pitchFamily="34" charset="-120"/>
              </a:rPr>
              <a:t> (spotlight). </a:t>
            </a:r>
            <a:r>
              <a:rPr lang="en-US" sz="1200" u="sng" dirty="0">
                <a:solidFill>
                  <a:srgbClr val="3C4855"/>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arXiv:2506.08010</a:t>
            </a:r>
            <a:endParaRPr lang="en-US" sz="1200" dirty="0"/>
          </a:p>
        </p:txBody>
      </p:sp>
      <p:sp>
        <p:nvSpPr>
          <p:cNvPr id="6" name="Text 4"/>
          <p:cNvSpPr/>
          <p:nvPr/>
        </p:nvSpPr>
        <p:spPr>
          <a:xfrm>
            <a:off x="812800" y="2466342"/>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Vision Transformers with Self-Distilled Registers. </a:t>
            </a:r>
            <a:r>
              <a:rPr lang="en-US" sz="1200" b="1" dirty="0">
                <a:solidFill>
                  <a:srgbClr val="3C4855"/>
                </a:solidFill>
                <a:latin typeface="IBM Plex Sans" pitchFamily="34" charset="0"/>
                <a:ea typeface="IBM Plex Sans" pitchFamily="34" charset="-122"/>
                <a:cs typeface="IBM Plex Sans" pitchFamily="34" charset="-120"/>
              </a:rPr>
              <a:t>NeurIPS 2025</a:t>
            </a:r>
            <a:r>
              <a:rPr lang="en-US" sz="1200" dirty="0">
                <a:solidFill>
                  <a:srgbClr val="3C4855"/>
                </a:solidFill>
                <a:latin typeface="IBM Plex Sans" pitchFamily="34" charset="0"/>
                <a:ea typeface="IBM Plex Sans" pitchFamily="34" charset="-122"/>
                <a:cs typeface="IBM Plex Sans" pitchFamily="34" charset="-120"/>
              </a:rPr>
              <a:t>. </a:t>
            </a:r>
            <a:r>
              <a:rPr lang="en-US" sz="1200" u="sng" dirty="0">
                <a:solidFill>
                  <a:srgbClr val="3C4855"/>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arXiv:2505.21501</a:t>
            </a:r>
            <a:endParaRPr lang="en-US" sz="1200" dirty="0"/>
          </a:p>
        </p:txBody>
      </p:sp>
      <p:sp>
        <p:nvSpPr>
          <p:cNvPr id="7" name="Text 5"/>
          <p:cNvSpPr/>
          <p:nvPr/>
        </p:nvSpPr>
        <p:spPr>
          <a:xfrm>
            <a:off x="812800" y="2966721"/>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Do All Vision Transformers Need Registers? A Cross-Architectural Reassessment. </a:t>
            </a:r>
            <a:r>
              <a:rPr lang="en-US" sz="1200" u="sng" dirty="0">
                <a:solidFill>
                  <a:srgbClr val="3C4855"/>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arXiv:2603.25803</a:t>
            </a:r>
            <a:endParaRPr lang="en-US" sz="1200" dirty="0"/>
          </a:p>
        </p:txBody>
      </p:sp>
      <p:sp>
        <p:nvSpPr>
          <p:cNvPr id="8" name="Text 6"/>
          <p:cNvSpPr/>
          <p:nvPr/>
        </p:nvSpPr>
        <p:spPr>
          <a:xfrm>
            <a:off x="812800" y="3467100"/>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Vision Transformers Need More Than Registers. </a:t>
            </a:r>
            <a:r>
              <a:rPr lang="en-US" sz="1200" u="sng" dirty="0">
                <a:solidFill>
                  <a:srgbClr val="3C4855"/>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arXiv:2602.22394</a:t>
            </a:r>
            <a:endParaRPr lang="en-US" sz="1200" dirty="0"/>
          </a:p>
        </p:txBody>
      </p:sp>
      <p:sp>
        <p:nvSpPr>
          <p:cNvPr id="9" name="Text 7"/>
          <p:cNvSpPr/>
          <p:nvPr/>
        </p:nvSpPr>
        <p:spPr>
          <a:xfrm>
            <a:off x="812800" y="3761742"/>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Xiao et al. Efficient Streaming Language Models with Attention Sinks. </a:t>
            </a:r>
            <a:r>
              <a:rPr lang="en-US" sz="1200" b="1" dirty="0">
                <a:solidFill>
                  <a:srgbClr val="3C4855"/>
                </a:solidFill>
                <a:latin typeface="IBM Plex Sans" pitchFamily="34" charset="0"/>
                <a:ea typeface="IBM Plex Sans" pitchFamily="34" charset="-122"/>
                <a:cs typeface="IBM Plex Sans" pitchFamily="34" charset="-120"/>
              </a:rPr>
              <a:t>ICLR 2024</a:t>
            </a:r>
            <a:r>
              <a:rPr lang="en-US" sz="1200" dirty="0">
                <a:solidFill>
                  <a:srgbClr val="3C4855"/>
                </a:solidFill>
                <a:latin typeface="IBM Plex Sans" pitchFamily="34" charset="0"/>
                <a:ea typeface="IBM Plex Sans" pitchFamily="34" charset="-122"/>
                <a:cs typeface="IBM Plex Sans" pitchFamily="34" charset="-120"/>
              </a:rPr>
              <a:t>. </a:t>
            </a:r>
            <a:r>
              <a:rPr lang="en-US" sz="1200" u="sng" dirty="0">
                <a:solidFill>
                  <a:srgbClr val="3C4855"/>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arXiv:2309.17453</a:t>
            </a:r>
            <a:endParaRPr lang="en-US" sz="1200" dirty="0"/>
          </a:p>
        </p:txBody>
      </p:sp>
      <p:sp>
        <p:nvSpPr>
          <p:cNvPr id="10" name="Text 8"/>
          <p:cNvSpPr/>
          <p:nvPr/>
        </p:nvSpPr>
        <p:spPr>
          <a:xfrm>
            <a:off x="812800" y="4262121"/>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Gu et al. When Attention Sink Emerges in Language Models. </a:t>
            </a:r>
            <a:r>
              <a:rPr lang="en-US" sz="1200" b="1" dirty="0">
                <a:solidFill>
                  <a:srgbClr val="3C4855"/>
                </a:solidFill>
                <a:latin typeface="IBM Plex Sans" pitchFamily="34" charset="0"/>
                <a:ea typeface="IBM Plex Sans" pitchFamily="34" charset="-122"/>
                <a:cs typeface="IBM Plex Sans" pitchFamily="34" charset="-120"/>
              </a:rPr>
              <a:t>ICLR 2025</a:t>
            </a:r>
            <a:r>
              <a:rPr lang="en-US" sz="1200" dirty="0">
                <a:solidFill>
                  <a:srgbClr val="3C4855"/>
                </a:solidFill>
                <a:latin typeface="IBM Plex Sans" pitchFamily="34" charset="0"/>
                <a:ea typeface="IBM Plex Sans" pitchFamily="34" charset="-122"/>
                <a:cs typeface="IBM Plex Sans" pitchFamily="34" charset="-120"/>
              </a:rPr>
              <a:t> (spotlight). </a:t>
            </a:r>
            <a:r>
              <a:rPr lang="en-US" sz="1200" u="sng" dirty="0">
                <a:solidFill>
                  <a:srgbClr val="3C4855"/>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arXiv:2410.10781</a:t>
            </a:r>
            <a:endParaRPr lang="en-US" sz="1200" dirty="0"/>
          </a:p>
        </p:txBody>
      </p:sp>
      <p:sp>
        <p:nvSpPr>
          <p:cNvPr id="11" name="Text 9"/>
          <p:cNvSpPr/>
          <p:nvPr/>
        </p:nvSpPr>
        <p:spPr>
          <a:xfrm>
            <a:off x="812800" y="4762500"/>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Sun et al. Massive Activations in Large Language Models. </a:t>
            </a:r>
            <a:r>
              <a:rPr lang="en-US" sz="1200" b="1" dirty="0">
                <a:solidFill>
                  <a:srgbClr val="3C4855"/>
                </a:solidFill>
                <a:latin typeface="IBM Plex Sans" pitchFamily="34" charset="0"/>
                <a:ea typeface="IBM Plex Sans" pitchFamily="34" charset="-122"/>
                <a:cs typeface="IBM Plex Sans" pitchFamily="34" charset="-120"/>
              </a:rPr>
              <a:t>COLM 2024</a:t>
            </a:r>
            <a:r>
              <a:rPr lang="en-US" sz="1200" dirty="0">
                <a:solidFill>
                  <a:srgbClr val="3C4855"/>
                </a:solidFill>
                <a:latin typeface="IBM Plex Sans" pitchFamily="34" charset="0"/>
                <a:ea typeface="IBM Plex Sans" pitchFamily="34" charset="-122"/>
                <a:cs typeface="IBM Plex Sans" pitchFamily="34" charset="-120"/>
              </a:rPr>
              <a:t>. </a:t>
            </a:r>
            <a:r>
              <a:rPr lang="en-US" sz="1200" u="sng" dirty="0">
                <a:solidFill>
                  <a:srgbClr val="3C4855"/>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arXiv:2402.17762</a:t>
            </a:r>
            <a:endParaRPr lang="en-US" sz="1200" dirty="0"/>
          </a:p>
        </p:txBody>
      </p:sp>
      <p:sp>
        <p:nvSpPr>
          <p:cNvPr id="12" name="Text 10"/>
          <p:cNvSpPr/>
          <p:nvPr/>
        </p:nvSpPr>
        <p:spPr>
          <a:xfrm>
            <a:off x="812800" y="5262879"/>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Wang, Zhang &amp; Salzmann. Demystifying Singular Defects in LLMs. </a:t>
            </a:r>
            <a:r>
              <a:rPr lang="en-US" sz="1200" b="1" dirty="0">
                <a:solidFill>
                  <a:srgbClr val="3C4855"/>
                </a:solidFill>
                <a:latin typeface="IBM Plex Sans" pitchFamily="34" charset="0"/>
                <a:ea typeface="IBM Plex Sans" pitchFamily="34" charset="-122"/>
                <a:cs typeface="IBM Plex Sans" pitchFamily="34" charset="-120"/>
              </a:rPr>
              <a:t>ICML 2025</a:t>
            </a:r>
            <a:r>
              <a:rPr lang="en-US" sz="1200" dirty="0">
                <a:solidFill>
                  <a:srgbClr val="3C4855"/>
                </a:solidFill>
                <a:latin typeface="IBM Plex Sans" pitchFamily="34" charset="0"/>
                <a:ea typeface="IBM Plex Sans" pitchFamily="34" charset="-122"/>
                <a:cs typeface="IBM Plex Sans" pitchFamily="34" charset="-120"/>
              </a:rPr>
              <a:t>. </a:t>
            </a:r>
            <a:r>
              <a:rPr lang="en-US" sz="1200" u="sng" dirty="0">
                <a:solidFill>
                  <a:srgbClr val="3C4855"/>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arXiv:2502.07004</a:t>
            </a:r>
            <a:endParaRPr lang="en-US" sz="1200" dirty="0"/>
          </a:p>
        </p:txBody>
      </p:sp>
      <p:sp>
        <p:nvSpPr>
          <p:cNvPr id="13" name="Text 11"/>
          <p:cNvSpPr/>
          <p:nvPr/>
        </p:nvSpPr>
        <p:spPr>
          <a:xfrm>
            <a:off x="812800" y="5763264"/>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Attention Sinks Induce Gradient Sinks. </a:t>
            </a:r>
            <a:r>
              <a:rPr lang="en-US" sz="1200" u="sng" dirty="0">
                <a:solidFill>
                  <a:srgbClr val="3C4855"/>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arXiv:2603.17771</a:t>
            </a:r>
            <a:endParaRPr lang="en-US" sz="1200" dirty="0"/>
          </a:p>
        </p:txBody>
      </p:sp>
      <p:sp>
        <p:nvSpPr>
          <p:cNvPr id="14" name="Text 12"/>
          <p:cNvSpPr/>
          <p:nvPr/>
        </p:nvSpPr>
        <p:spPr>
          <a:xfrm>
            <a:off x="6299200" y="1163321"/>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601C"/>
                </a:solidFill>
                <a:latin typeface="IBM Plex Sans" pitchFamily="34" charset="0"/>
                <a:ea typeface="IBM Plex Sans" pitchFamily="34" charset="-122"/>
                <a:cs typeface="IBM Plex Sans" pitchFamily="34" charset="-120"/>
              </a:rPr>
              <a:t>AUDIO AND SPEECH</a:t>
            </a:r>
            <a:endParaRPr lang="en-US" sz="1200" dirty="0"/>
          </a:p>
        </p:txBody>
      </p:sp>
      <p:sp>
        <p:nvSpPr>
          <p:cNvPr id="15" name="Text 13"/>
          <p:cNvSpPr/>
          <p:nvPr/>
        </p:nvSpPr>
        <p:spPr>
          <a:xfrm>
            <a:off x="6299200" y="1465579"/>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Gong, Chung &amp; Glass. AST: Audio Spectrogram Transformer. </a:t>
            </a:r>
            <a:r>
              <a:rPr lang="en-US" sz="1200" b="1" dirty="0">
                <a:solidFill>
                  <a:srgbClr val="3C4855"/>
                </a:solidFill>
                <a:latin typeface="IBM Plex Sans" pitchFamily="34" charset="0"/>
                <a:ea typeface="IBM Plex Sans" pitchFamily="34" charset="-122"/>
                <a:cs typeface="IBM Plex Sans" pitchFamily="34" charset="-120"/>
              </a:rPr>
              <a:t>Interspeech 2021</a:t>
            </a:r>
            <a:r>
              <a:rPr lang="en-US" sz="1200" dirty="0">
                <a:solidFill>
                  <a:srgbClr val="3C4855"/>
                </a:solidFill>
                <a:latin typeface="IBM Plex Sans" pitchFamily="34" charset="0"/>
                <a:ea typeface="IBM Plex Sans" pitchFamily="34" charset="-122"/>
                <a:cs typeface="IBM Plex Sans" pitchFamily="34" charset="-120"/>
              </a:rPr>
              <a:t>. </a:t>
            </a:r>
            <a:r>
              <a:rPr lang="en-US" sz="1200" u="sng" dirty="0">
                <a:solidFill>
                  <a:srgbClr val="3C4855"/>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arXiv:2104.01778</a:t>
            </a:r>
            <a:endParaRPr lang="en-US" sz="1200" dirty="0"/>
          </a:p>
        </p:txBody>
      </p:sp>
      <p:sp>
        <p:nvSpPr>
          <p:cNvPr id="16" name="Text 14"/>
          <p:cNvSpPr/>
          <p:nvPr/>
        </p:nvSpPr>
        <p:spPr>
          <a:xfrm>
            <a:off x="6299200" y="1965964"/>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Radford et al. Robust Speech Recognition via Large-Scale Weak Supervision (Whisper). </a:t>
            </a:r>
            <a:r>
              <a:rPr lang="en-US" sz="1200" u="sng" dirty="0">
                <a:solidFill>
                  <a:srgbClr val="3C4855"/>
                </a:solidFill>
                <a:latin typeface="IBM Plex Sans" pitchFamily="34" charset="0"/>
                <a:ea typeface="IBM Plex Sans" pitchFamily="34" charset="-122"/>
                <a:cs typeface="IBM Plex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arXiv:2212.04356</a:t>
            </a:r>
            <a:endParaRPr lang="en-US" sz="1200" dirty="0"/>
          </a:p>
        </p:txBody>
      </p:sp>
      <p:sp>
        <p:nvSpPr>
          <p:cNvPr id="17" name="Text 15"/>
          <p:cNvSpPr/>
          <p:nvPr/>
        </p:nvSpPr>
        <p:spPr>
          <a:xfrm>
            <a:off x="6299200" y="2466342"/>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Imdad. Silence in the Noise. Zenodo preprint, 16 June 2026. </a:t>
            </a:r>
            <a:r>
              <a:rPr lang="en-US" sz="1200" u="sng" dirty="0">
                <a:solidFill>
                  <a:srgbClr val="3C4855"/>
                </a:solidFill>
                <a:latin typeface="IBM Plex Sans" pitchFamily="34" charset="0"/>
                <a:ea typeface="IBM Plex Sans" pitchFamily="34" charset="-122"/>
                <a:cs typeface="IBM Plex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doi:10.5281/zenodo.20710635</a:t>
            </a:r>
            <a:endParaRPr lang="en-US" sz="1200" dirty="0"/>
          </a:p>
        </p:txBody>
      </p:sp>
      <p:sp>
        <p:nvSpPr>
          <p:cNvPr id="18" name="Text 16"/>
          <p:cNvSpPr/>
          <p:nvPr/>
        </p:nvSpPr>
        <p:spPr>
          <a:xfrm>
            <a:off x="6299200" y="2966721"/>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Lee, Lee &amp; Lee. Token Pruning in Audio Transformers. </a:t>
            </a:r>
            <a:r>
              <a:rPr lang="en-US" sz="1200" b="1" dirty="0">
                <a:solidFill>
                  <a:srgbClr val="3C4855"/>
                </a:solidFill>
                <a:latin typeface="IBM Plex Sans" pitchFamily="34" charset="0"/>
                <a:ea typeface="IBM Plex Sans" pitchFamily="34" charset="-122"/>
                <a:cs typeface="IBM Plex Sans" pitchFamily="34" charset="-120"/>
              </a:rPr>
              <a:t>IEEE OJSP 2025</a:t>
            </a:r>
            <a:r>
              <a:rPr lang="en-US" sz="1200" dirty="0">
                <a:solidFill>
                  <a:srgbClr val="3C4855"/>
                </a:solidFill>
                <a:latin typeface="IBM Plex Sans" pitchFamily="34" charset="0"/>
                <a:ea typeface="IBM Plex Sans" pitchFamily="34" charset="-122"/>
                <a:cs typeface="IBM Plex Sans" pitchFamily="34" charset="-120"/>
              </a:rPr>
              <a:t>. </a:t>
            </a:r>
            <a:r>
              <a:rPr lang="en-US" sz="1200" u="sng" dirty="0">
                <a:solidFill>
                  <a:srgbClr val="3C4855"/>
                </a:solidFill>
                <a:latin typeface="IBM Plex Sans" pitchFamily="34" charset="0"/>
                <a:ea typeface="IBM Plex Sans" pitchFamily="34" charset="-122"/>
                <a:cs typeface="IBM Plex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arXiv:2504.01690</a:t>
            </a:r>
            <a:endParaRPr lang="en-US" sz="1200" dirty="0"/>
          </a:p>
        </p:txBody>
      </p:sp>
      <p:sp>
        <p:nvSpPr>
          <p:cNvPr id="19" name="Text 17"/>
          <p:cNvSpPr/>
          <p:nvPr/>
        </p:nvSpPr>
        <p:spPr>
          <a:xfrm>
            <a:off x="6299200" y="3467100"/>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ASDA: Audio Spectrogram Differential Attention. </a:t>
            </a:r>
            <a:r>
              <a:rPr lang="en-US" sz="1200" u="sng" dirty="0">
                <a:solidFill>
                  <a:srgbClr val="3C4855"/>
                </a:solidFill>
                <a:latin typeface="IBM Plex Sans" pitchFamily="34" charset="0"/>
                <a:ea typeface="IBM Plex Sans" pitchFamily="34" charset="-122"/>
                <a:cs typeface="IBM Plex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arXiv:2507.02666</a:t>
            </a:r>
            <a:endParaRPr lang="en-US" sz="1200" dirty="0"/>
          </a:p>
        </p:txBody>
      </p:sp>
      <p:sp>
        <p:nvSpPr>
          <p:cNvPr id="20" name="Text 18"/>
          <p:cNvSpPr/>
          <p:nvPr/>
        </p:nvSpPr>
        <p:spPr>
          <a:xfrm>
            <a:off x="6299200" y="3761742"/>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Cappellazzo et al. Mitigating Attention Sinks and Massive Activations in AVSR with LLMs. </a:t>
            </a:r>
            <a:r>
              <a:rPr lang="en-US" sz="1200" u="sng" dirty="0">
                <a:solidFill>
                  <a:srgbClr val="3C4855"/>
                </a:solidFill>
                <a:latin typeface="IBM Plex Sans" pitchFamily="34" charset="0"/>
                <a:ea typeface="IBM Plex Sans" pitchFamily="34" charset="-122"/>
                <a:cs typeface="IBM Plex Sans" pitchFamily="34" charset="-120"/>
                <a:hlinkClick r:id="rId16" invalidUrl="" action="" tgtFrame="" tooltip="" history="1" highlightClick="0" endSnd="0">
                  <a:extLst>
                    <a:ext uri="{A12FA001-AC4F-418D-AE19-62706E023703}">
                      <ahyp:hlinkClr xmlns:ahyp="http://schemas.microsoft.com/office/drawing/2018/hyperlinkcolor" val="tx"/>
                    </a:ext>
                  </a:extLst>
                </a:hlinkClick>
              </a:rPr>
              <a:t>arXiv:2510.22603</a:t>
            </a:r>
            <a:endParaRPr lang="en-US" sz="1200" dirty="0"/>
          </a:p>
        </p:txBody>
      </p:sp>
      <p:sp>
        <p:nvSpPr>
          <p:cNvPr id="21" name="Text 19"/>
          <p:cNvSpPr/>
          <p:nvPr/>
        </p:nvSpPr>
        <p:spPr>
          <a:xfrm>
            <a:off x="6299200" y="4262121"/>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How to Reduce Whisper Hallucination. </a:t>
            </a:r>
            <a:r>
              <a:rPr lang="en-US" sz="1200" u="sng" dirty="0">
                <a:solidFill>
                  <a:srgbClr val="3C4855"/>
                </a:solidFill>
                <a:latin typeface="IBM Plex Sans" pitchFamily="34" charset="0"/>
                <a:ea typeface="IBM Plex Sans" pitchFamily="34" charset="-122"/>
                <a:cs typeface="IBM Plex Sa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arXiv:2609.32560</a:t>
            </a:r>
            <a:endParaRPr lang="en-US" sz="1200" dirty="0"/>
          </a:p>
        </p:txBody>
      </p:sp>
      <p:sp>
        <p:nvSpPr>
          <p:cNvPr id="22" name="Text 20"/>
          <p:cNvSpPr/>
          <p:nvPr/>
        </p:nvSpPr>
        <p:spPr>
          <a:xfrm>
            <a:off x="6299200" y="4556764"/>
            <a:ext cx="5232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The Null Token Knows. </a:t>
            </a:r>
            <a:r>
              <a:rPr lang="en-US" sz="1200" u="sng" dirty="0">
                <a:solidFill>
                  <a:srgbClr val="3C4855"/>
                </a:solidFill>
                <a:latin typeface="IBM Plex Sans" pitchFamily="34" charset="0"/>
                <a:ea typeface="IBM Plex Sans" pitchFamily="34" charset="-122"/>
                <a:cs typeface="IBM Plex Sans" pitchFamily="34" charset="-120"/>
                <a:hlinkClick r:id="rId18" invalidUrl="" action="" tgtFrame="" tooltip="" history="1" highlightClick="0" endSnd="0">
                  <a:extLst>
                    <a:ext uri="{A12FA001-AC4F-418D-AE19-62706E023703}">
                      <ahyp:hlinkClr xmlns:ahyp="http://schemas.microsoft.com/office/drawing/2018/hyperlinkcolor" val="tx"/>
                    </a:ext>
                  </a:extLst>
                </a:hlinkClick>
              </a:rPr>
              <a:t>arXiv:2608.15940</a:t>
            </a:r>
            <a:endParaRPr lang="en-US" sz="1200" dirty="0"/>
          </a:p>
        </p:txBody>
      </p:sp>
      <p:sp>
        <p:nvSpPr>
          <p:cNvPr id="23" name="Text 21"/>
          <p:cNvSpPr/>
          <p:nvPr/>
        </p:nvSpPr>
        <p:spPr>
          <a:xfrm>
            <a:off x="6299200" y="4851400"/>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Reducing Hallucinated Transcripts in Whisper via Hallucination Space Projection. </a:t>
            </a:r>
            <a:r>
              <a:rPr lang="en-US" sz="1200" u="sng" dirty="0">
                <a:solidFill>
                  <a:srgbClr val="3C4855"/>
                </a:solidFill>
                <a:latin typeface="IBM Plex Sans" pitchFamily="34" charset="0"/>
                <a:ea typeface="IBM Plex Sans" pitchFamily="34" charset="-122"/>
                <a:cs typeface="IBM Plex Sans" pitchFamily="34" charset="-120"/>
                <a:hlinkClick r:id="rId19" invalidUrl="" action="" tgtFrame="" tooltip="" history="1" highlightClick="0" endSnd="0">
                  <a:extLst>
                    <a:ext uri="{A12FA001-AC4F-418D-AE19-62706E023703}">
                      <ahyp:hlinkClr xmlns:ahyp="http://schemas.microsoft.com/office/drawing/2018/hyperlinkcolor" val="tx"/>
                    </a:ext>
                  </a:extLst>
                </a:hlinkClick>
              </a:rPr>
              <a:t>arXiv:2609.04561</a:t>
            </a:r>
            <a:endParaRPr lang="en-US" sz="1200" dirty="0"/>
          </a:p>
        </p:txBody>
      </p:sp>
      <p:sp>
        <p:nvSpPr>
          <p:cNvPr id="24" name="Text 22"/>
          <p:cNvSpPr/>
          <p:nvPr/>
        </p:nvSpPr>
        <p:spPr>
          <a:xfrm>
            <a:off x="6299200" y="5351779"/>
            <a:ext cx="52324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C4855"/>
                </a:solidFill>
                <a:latin typeface="IBM Plex Sans" pitchFamily="34" charset="0"/>
                <a:ea typeface="IBM Plex Sans" pitchFamily="34" charset="-122"/>
                <a:cs typeface="IBM Plex Sans" pitchFamily="34" charset="-120"/>
              </a:rPr>
              <a:t>Outlier Reduction with Gated Attention for PTQ in Speech Foundation Models. </a:t>
            </a:r>
            <a:r>
              <a:rPr lang="en-US" sz="1200" u="sng" dirty="0">
                <a:solidFill>
                  <a:srgbClr val="3C4855"/>
                </a:solidFill>
                <a:latin typeface="IBM Plex Sans" pitchFamily="34" charset="0"/>
                <a:ea typeface="IBM Plex Sans" pitchFamily="34" charset="-122"/>
                <a:cs typeface="IBM Plex Sans" pitchFamily="34" charset="-120"/>
                <a:hlinkClick r:id="rId20" invalidUrl="" action="" tgtFrame="" tooltip="" history="1" highlightClick="0" endSnd="0">
                  <a:extLst>
                    <a:ext uri="{A12FA001-AC4F-418D-AE19-62706E023703}">
                      <ahyp:hlinkClr xmlns:ahyp="http://schemas.microsoft.com/office/drawing/2018/hyperlinkcolor" val="tx"/>
                    </a:ext>
                  </a:extLst>
                </a:hlinkClick>
              </a:rPr>
              <a:t>arXiv:2406.11022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Audio Transformers Need Registers?</dc:title>
  <dc:subject>PptxGenJS Presentation</dc:subject>
  <dc:creator>PptxGenJS</dc:creator>
  <cp:lastModifiedBy>PptxGenJS</cp:lastModifiedBy>
  <cp:revision>1</cp:revision>
  <dcterms:created xsi:type="dcterms:W3CDTF">2026-09-30T11:15:02Z</dcterms:created>
  <dcterms:modified xsi:type="dcterms:W3CDTF">2026-09-30T11:15:02Z</dcterms:modified>
</cp:coreProperties>
</file>